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</p:sldIdLst>
  <p:notesMasterIdLst>
    <p:notesMasterId r:id="rId6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notesMaster" Target="notesMasters/notesMaster1.xml"/><Relationship Id="rId67" Type="http://schemas.openxmlformats.org/officeDocument/2006/relationships/presProps" Target="presProps.xml"/><Relationship Id="rId68" Type="http://schemas.openxmlformats.org/officeDocument/2006/relationships/viewProps" Target="viewProps.xml"/><Relationship Id="rId69" Type="http://schemas.openxmlformats.org/officeDocument/2006/relationships/theme" Target="theme/theme1.xml"/><Relationship Id="rId7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開場 2 分鐘。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站在 x 往外看：很多路線經過這裡，把它們在這裡的速度按後驄權重平均，就是邊際速度。u_t(x)=E[u_t(x_t|z) | x_t=x]。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正解：B、B、C、C（位置輪換請在上課版調整）。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image" Target="../media/image-17-3.png"/><Relationship Id="rId4" Type="http://schemas.openxmlformats.org/officeDocument/2006/relationships/image" Target="../media/image-1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image" Target="../media/image-2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3" Type="http://schemas.openxmlformats.org/officeDocument/2006/relationships/image" Target="../media/image-2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1-1.png"/><Relationship Id="rId2" Type="http://schemas.openxmlformats.org/officeDocument/2006/relationships/image" Target="../media/image-31-2.png"/><Relationship Id="rId3" Type="http://schemas.openxmlformats.org/officeDocument/2006/relationships/image" Target="../media/image-3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2-1.png"/><Relationship Id="rId2" Type="http://schemas.openxmlformats.org/officeDocument/2006/relationships/image" Target="../media/image-32-2.png"/><Relationship Id="rId3" Type="http://schemas.openxmlformats.org/officeDocument/2006/relationships/image" Target="../media/image-3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7-1.png"/><Relationship Id="rId2" Type="http://schemas.openxmlformats.org/officeDocument/2006/relationships/image" Target="../media/image-3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8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9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0-1.png"/><Relationship Id="rId2" Type="http://schemas.openxmlformats.org/officeDocument/2006/relationships/image" Target="../media/image-40-2.png"/><Relationship Id="rId3" Type="http://schemas.openxmlformats.org/officeDocument/2006/relationships/image" Target="../media/image-4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0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2-1.png"/><Relationship Id="rId2" Type="http://schemas.openxmlformats.org/officeDocument/2006/relationships/image" Target="../media/image-4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3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4-1.png"/><Relationship Id="rId2" Type="http://schemas.openxmlformats.org/officeDocument/2006/relationships/image" Target="../media/image-44-2.png"/><Relationship Id="rId3" Type="http://schemas.openxmlformats.org/officeDocument/2006/relationships/image" Target="../media/image-4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7-1.png"/><Relationship Id="rId2" Type="http://schemas.openxmlformats.org/officeDocument/2006/relationships/image" Target="../media/image-47-2.png"/><Relationship Id="rId3" Type="http://schemas.openxmlformats.org/officeDocument/2006/relationships/image" Target="../media/image-47-3.png"/><Relationship Id="rId4" Type="http://schemas.openxmlformats.org/officeDocument/2006/relationships/image" Target="../media/image-4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8-1.png"/><Relationship Id="rId2" Type="http://schemas.openxmlformats.org/officeDocument/2006/relationships/image" Target="../media/image-48-2.png"/><Relationship Id="rId3" Type="http://schemas.openxmlformats.org/officeDocument/2006/relationships/image" Target="../media/image-48-3.png"/><Relationship Id="rId4" Type="http://schemas.openxmlformats.org/officeDocument/2006/relationships/image" Target="../media/image-4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8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9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0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2-1.png"/><Relationship Id="rId2" Type="http://schemas.openxmlformats.org/officeDocument/2006/relationships/image" Target="../media/image-5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4-1.png"/><Relationship Id="rId2" Type="http://schemas.openxmlformats.org/officeDocument/2006/relationships/image" Target="../media/image-5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4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8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0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1097280" y="1325880"/>
            <a:ext cx="9997135" cy="3200400"/>
          </a:xfrm>
          <a:prstGeom prst="roundRect">
            <a:avLst>
              <a:gd name="adj" fmla="val 5714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1"/>
          <p:cNvSpPr txBox="1"/>
          <p:nvPr/>
        </p:nvSpPr>
        <p:spPr>
          <a:xfrm>
            <a:off x="1371600" y="1554480"/>
            <a:ext cx="9448495" cy="1554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4000" b="1" dirty="0">
                <a:solidFill>
                  <a:srgbClr val="00166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 Flow Matching：先配對，再平均</a:t>
            </a:r>
            <a:endParaRPr lang="en-US" sz="4000" dirty="0"/>
          </a:p>
        </p:txBody>
      </p:sp>
      <p:sp>
        <p:nvSpPr>
          <p:cNvPr id="5" name="Text 2"/>
          <p:cNvSpPr txBox="1"/>
          <p:nvPr/>
        </p:nvSpPr>
        <p:spPr>
          <a:xfrm>
            <a:off x="1371600" y="3154680"/>
            <a:ext cx="9448495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20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Diffusion Models and Their Applications · Week 4</a:t>
            </a:r>
            <a:endParaRPr lang="en-US" sz="2000" dirty="0"/>
          </a:p>
        </p:txBody>
      </p:sp>
      <p:sp>
        <p:nvSpPr>
          <p:cNvPr id="6" name="Text 3"/>
          <p:cNvSpPr txBox="1"/>
          <p:nvPr/>
        </p:nvSpPr>
        <p:spPr>
          <a:xfrm>
            <a:off x="1371600" y="3794760"/>
            <a:ext cx="944849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三個旋鈕 · 把平均交給 loss · 彎來自交叉，交叉來自隨機配對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上個單元留下兩個問題，這個單元從第一個開始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3413760"/>
          </a:xfrm>
          <a:prstGeom prst="roundRect">
            <a:avLst>
              <a:gd name="adj" fmla="val 3750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 留下的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process 一定要是 Gaussian 嗎？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DDIM 的軌跡為什麼是彎的？</a:t>
            </a:r>
            <a:endParaRPr lang="en-US" sz="1900" dirty="0"/>
          </a:p>
        </p:txBody>
      </p:sp>
      <p:pic>
        <p:nvPicPr>
          <p:cNvPr id="6" name="Image 0" descr="/tmp/claude-0/-home-claude/c4ae4d00-ecec-599d-99af-5b416eb8503d/scratchpad/build/w2media/bo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9948" y="2554224"/>
            <a:ext cx="4175991" cy="164592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6233008" y="1234440"/>
            <a:ext cx="5501488" cy="3413760"/>
          </a:xfrm>
          <a:prstGeom prst="roundRect">
            <a:avLst>
              <a:gd name="adj" fmla="val 3750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這個單元的六篇</a:t>
            </a:r>
            <a:endParaRPr lang="en-US" sz="1600" dirty="0"/>
          </a:p>
        </p:txBody>
      </p:sp>
      <p:sp>
        <p:nvSpPr>
          <p:cNvPr id="9" name="Text 6"/>
          <p:cNvSpPr txBox="1"/>
          <p:nvPr/>
        </p:nvSpPr>
        <p:spPr>
          <a:xfrm>
            <a:off x="6379312" y="1752600"/>
            <a:ext cx="5208880" cy="2621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Forward Process 是必要的嗎？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速度場怎麼推動一整個分布？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先配對，再平均：Conditional Flow Matching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代入最簡單的一條路：直線插值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把 Flow Matching 和 Diffusion 放在一起看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U2.5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實作：同一個 toy，只換訓練目標</a:t>
            </a:r>
            <a:endParaRPr lang="en-US" sz="1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這個單元換一套慣例——本單元最重要的一張</a:t>
            </a:r>
            <a:endParaRPr lang="en-US" sz="32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690872"/>
              </a:tblGrid>
              <a:tr h="5943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1（DDPM）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2（Flow Matching）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資料在哪一端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x₀，t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x₁，t =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時間方向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增加 → 往噪聲走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增加 → 往資料走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中間點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√ᾱₜ x₀ + σₜ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αₜ x₁ + σₜ x₀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ᾱ₀ = 1，ᾱ_T ≈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α₀ = 0, α₁ = 1；σ₀ = 1, σ₁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網路學什麼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ε_θ ≈ 𝔼[ε | xₜ]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速度場 u_θ(x, 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 x_T 往 t = 0 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 x₀（噪聲）往 t = 1 解 ODE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兩個最容易錯的地方：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 的 x₀ 是噪聲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(αₜ, σₜ) 不必滿足 αₜ² + σₜ² = 1</a:t>
            </a:r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（最常用的 αₜ = t、σₜ = 1 − t 就不滿足）。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U2.0 〈這個單元換一套慣例〉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這個單元的三句口號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三個旋鈕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起點分布／路徑／配對——diffusion 把它們綑在「加 Gaussian noise」一個動作裡。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把平均交給 loss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算不出來的邊際量，換成好算的條件量；平均那一步交給 L₂ 回歸自己做。（U1.2 的 conditional trick，換到速度場上）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彎來自交叉，交叉來自隨機配對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回答 U1 留下的第二個問題：DDIM 的軌跡為什麼是彎的。</a:t>
            </a:r>
            <a:endParaRPr lang="en-US" sz="1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如果我只想換掉套餐裡的其中一樣，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剩下的還能不能用？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U2.0 Forward Process 是必要的嗎？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上一個單元買的是一個套餐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418402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 的推導鏈：五環相扣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6125794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 Gaussian noise → closed form 一步抽 xₜ → denoising 回歸 → Tweedie（denoiser 就是 score）→ reverse SDE／PF-ODE。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每一環都扣著上一環——它們是一起來的。</a:t>
            </a:r>
            <a:endParaRPr lang="en-US" sz="19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3191256"/>
            <a:ext cx="6125794" cy="3042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【待生圖】五個相扣的環／齒輪，各標一環；無文字。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149922" y="1234440"/>
            <a:ext cx="4584573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314514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點餐只能點套餐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7296226" y="1752600"/>
            <a:ext cx="4291965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主餐、配菜、飲料綁著賣，價格漂亮——但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不能只換飲料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7314514" y="2554224"/>
            <a:ext cx="4255389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7387666" y="2572512"/>
            <a:ext cx="4109085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主餐 ＝ 起點分布　配菜 ＝ 路徑　飲料 ＝ 配對方式</a:t>
            </a:r>
            <a:endParaRPr lang="en-US" sz="15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U2.0 〈上一個單元買的是一個套餐〉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草圖 → 照片（兩邊都不是 Gaussian）；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球面上的資料（噪聲會把點推離球面）。</a:t>
            </a:r>
            <a:endParaRPr lang="en-US" sz="26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U1 的框架做這兩件事，會卡在哪裡？</a:t>
            </a:r>
            <a:endParaRPr lang="en-US" sz="2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Q1：卡在三個旋鈕，不只是「起點必須是 Gaussian」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458212"/>
          </a:xfrm>
          <a:prstGeom prst="roundRect">
            <a:avLst>
              <a:gd name="adj" fmla="val 5208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旋鈕一：起點分布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forward SDE 停在它的平穩分布 N(0, I)，我們才有地方出發往回走。草圖 → 照片的起點是 p_A，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平穩分布定不出來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458212"/>
          </a:xfrm>
          <a:prstGeom prst="roundRect">
            <a:avLst>
              <a:gd name="adj" fmla="val 5208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旋鈕二：路徑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中間分布的形狀完全由 ᾱₜ 決定；Gaussian noise 會把球面上的點推出球面——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路徑被鎖死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458212"/>
          </a:xfrm>
          <a:prstGeom prst="roundRect">
            <a:avLst>
              <a:gd name="adj" fmla="val 5208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旋鈕三：配對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x₀ 與噪聲是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抽的，所以 𝔼[x₀ | xₜ] 要平均很多候選——這就是 U1 那個「模糊」的來源。配對是一個選擇，只是 diffusion 沒讓我們選。</a:t>
            </a:r>
            <a:endParaRPr lang="en-US" sz="1900" dirty="0"/>
          </a:p>
        </p:txBody>
      </p:sp>
      <p:sp>
        <p:nvSpPr>
          <p:cNvPr id="12" name="Shape 10"/>
          <p:cNvSpPr/>
          <p:nvPr/>
        </p:nvSpPr>
        <p:spPr>
          <a:xfrm>
            <a:off x="457200" y="3921252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85800" y="4081272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85800" y="4081272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2331720" y="4058412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2514600" y="3966972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flow matching 的動機就是把它們拆開，一個一個拿回設計權。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U2.0 Q1 · imgs/w4-0-1.png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diffusion 做不到的任務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4/imgs/w4-0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80972"/>
            <a:ext cx="6547104" cy="43647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讀圖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左：固定 Gaussian 起點卡住成對轉換。右：Gaussian 加噪路徑把資料推出它本來住的幾何空間。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接著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三個旋鈕能不能一個一個轉？demo 試試看。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imgs/w4-0-1.png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三個旋鈕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4-0-three-knob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332" y="1389888"/>
            <a:ext cx="3856295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三個下拉分別是起點分布、路徑、配對；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都轉到最上面那一組（Gaussian 起點、加噪路徑、隨機配對）就是 diffusion 能做的唯一一種組合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試試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 t 看中間分布怎麼變——特別試「環形起點」與「配對：依位置排過」。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w4-0-three-knobs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換一個問法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401190" cy="2941320"/>
          </a:xfrm>
          <a:prstGeom prst="roundRect">
            <a:avLst>
              <a:gd name="adj" fmla="val 435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07200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原本的順序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4108582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先決定「怎麼加噪」，然後推出中間分布、推出要學什麼。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132710" y="1234440"/>
            <a:ext cx="6601785" cy="2941320"/>
          </a:xfrm>
          <a:prstGeom prst="roundRect">
            <a:avLst>
              <a:gd name="adj" fmla="val 4352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297302" y="1362456"/>
            <a:ext cx="6272601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反過來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5279014" y="1752600"/>
            <a:ext cx="6309177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先決定我們想要的中間分布長什麼樣，再問要用什麼速度場，把粒子從起點推到終點。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5279014" y="2554224"/>
            <a:ext cx="6309177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好處：起點任意、路徑自訂、不需要 SDE／score／Tweedie。</a:t>
            </a: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代價：「條件好算、邊際難算」會以新的面貌回來（U2.2）。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U2.0 〈換一個問法〉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換慣例，這次逐格講</a:t>
            </a:r>
            <a:endParaRPr lang="en-US" sz="32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194560"/>
                <a:gridCol w="4389120"/>
                <a:gridCol w="4690872"/>
              </a:tblGrid>
              <a:tr h="59436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1（DDPM）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Unit 2（Flow Matching）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資料在哪一端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x₀，t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x₁，t = 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時間方向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增加 → 往噪聲走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增加 → 往資料走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中間點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√ᾱₜ x₀ + σₜ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xₜ = αₜ x₁ + σₜ x₀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ᾱ₀ = 1，ᾱ_T ≈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α₀ = 0, α₁ = 1；σ₀ = 1, σ₁ = 0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網路學什麼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ε_θ ≈ 𝔼[ε | xₜ]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速度場 u_θ(x, t)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取樣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 x_T 往 t = 0 走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從 x₀（噪聲）往 t = 1 解 ODE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本單元先只鬆開「路徑」與「配對」兩個旋鈕；起點暫時仍是 N(0, I)。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U2.0 §3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先把三個容易混在一起的東西分開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4/imgs/w4-1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6132" y="1389888"/>
            <a:ext cx="5568696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874520"/>
          </a:xfrm>
          <a:prstGeom prst="roundRect">
            <a:avLst>
              <a:gd name="adj" fmla="val 58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開車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7635240" y="1712976"/>
            <a:ext cx="3962095" cy="363188"/>
          </a:xfrm>
          <a:prstGeom prst="roundRect">
            <a:avLst>
              <a:gd name="adj" fmla="val 1510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08392" y="1731264"/>
            <a:ext cx="3815791" cy="3266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265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每個路口的指示牌 ＝ 速度場 uₜ(x)</a:t>
            </a:r>
            <a:endParaRPr lang="en-US" sz="1265" dirty="0"/>
          </a:p>
        </p:txBody>
      </p:sp>
      <p:sp>
        <p:nvSpPr>
          <p:cNvPr id="9" name="Shape 6"/>
          <p:cNvSpPr/>
          <p:nvPr/>
        </p:nvSpPr>
        <p:spPr>
          <a:xfrm>
            <a:off x="7635240" y="2167604"/>
            <a:ext cx="3962095" cy="363188"/>
          </a:xfrm>
          <a:prstGeom prst="roundRect">
            <a:avLst>
              <a:gd name="adj" fmla="val 1510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0" name="Text 7"/>
          <p:cNvSpPr txBox="1"/>
          <p:nvPr/>
        </p:nvSpPr>
        <p:spPr>
          <a:xfrm>
            <a:off x="7708392" y="2185892"/>
            <a:ext cx="3815791" cy="3266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265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一台車走出來的路線 ＝ ODE 軌跡 t ↦ xₜ</a:t>
            </a:r>
            <a:endParaRPr lang="en-US" sz="1265" dirty="0"/>
          </a:p>
        </p:txBody>
      </p:sp>
      <p:sp>
        <p:nvSpPr>
          <p:cNvPr id="11" name="Shape 8"/>
          <p:cNvSpPr/>
          <p:nvPr/>
        </p:nvSpPr>
        <p:spPr>
          <a:xfrm>
            <a:off x="7635240" y="2622233"/>
            <a:ext cx="3962095" cy="363188"/>
          </a:xfrm>
          <a:prstGeom prst="roundRect">
            <a:avLst>
              <a:gd name="adj" fmla="val 15106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708392" y="2640521"/>
            <a:ext cx="3815791" cy="3266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265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所有車的位置對照表 ＝ flow map ψₜ</a:t>
            </a:r>
            <a:endParaRPr lang="en-US" sz="1265" dirty="0"/>
          </a:p>
        </p:txBody>
      </p:sp>
      <p:sp>
        <p:nvSpPr>
          <p:cNvPr id="13" name="Shape 10"/>
          <p:cNvSpPr/>
          <p:nvPr/>
        </p:nvSpPr>
        <p:spPr>
          <a:xfrm>
            <a:off x="7498080" y="3337560"/>
            <a:ext cx="4236415" cy="1874520"/>
          </a:xfrm>
          <a:prstGeom prst="roundRect">
            <a:avLst>
              <a:gd name="adj" fmla="val 58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7635240" y="34472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匾額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7616952" y="377037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三個物件裡只有速度場是被參數化的；軌跡與 flow map 都是它的後果。</a:t>
            </a:r>
            <a:endParaRPr lang="en-US" sz="1900" dirty="0"/>
          </a:p>
        </p:txBody>
      </p:sp>
      <p:sp>
        <p:nvSpPr>
          <p:cNvPr id="16" name="Shape 13"/>
          <p:cNvSpPr/>
          <p:nvPr/>
        </p:nvSpPr>
        <p:spPr>
          <a:xfrm>
            <a:off x="457200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594360" y="5404104"/>
            <a:ext cx="52500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ODE</a:t>
            </a:r>
            <a:endParaRPr lang="en-US" sz="1200" dirty="0"/>
          </a:p>
        </p:txBody>
      </p:sp>
      <p:pic>
        <p:nvPicPr>
          <p:cNvPr id="18" name="Image 1" descr="/tmp/claude-0/-home-claude/c4ae4d00-ecec-599d-99af-5b416eb8503d/scratchpad/build/math/9ccedf46537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4034" y="5762526"/>
            <a:ext cx="2970680" cy="481020"/>
          </a:xfrm>
          <a:prstGeom prst="rect">
            <a:avLst/>
          </a:prstGeom>
        </p:spPr>
      </p:pic>
      <p:sp>
        <p:nvSpPr>
          <p:cNvPr id="19" name="Shape 15"/>
          <p:cNvSpPr/>
          <p:nvPr/>
        </p:nvSpPr>
        <p:spPr>
          <a:xfrm>
            <a:off x="6210148" y="5349240"/>
            <a:ext cx="5524348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20" name="Text 16"/>
          <p:cNvSpPr txBox="1"/>
          <p:nvPr/>
        </p:nvSpPr>
        <p:spPr>
          <a:xfrm>
            <a:off x="6347308" y="5404104"/>
            <a:ext cx="5250028" cy="2926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軌跡不會交叉；生成器就是 ψ₁</a:t>
            </a:r>
            <a:endParaRPr lang="en-US" sz="1200" dirty="0"/>
          </a:p>
        </p:txBody>
      </p:sp>
      <p:sp>
        <p:nvSpPr>
          <p:cNvPr id="21" name="Text 17"/>
          <p:cNvSpPr txBox="1"/>
          <p:nvPr/>
        </p:nvSpPr>
        <p:spPr>
          <a:xfrm>
            <a:off x="6347308" y="5696712"/>
            <a:ext cx="5250028" cy="6400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Lipschitz 下 ODE 解唯一——兩條軌跡不可能相交（U2.3 會用到這件事）。噴聲 x₀ 沿速度場走到 t = 1，就是 G = ψ₁。</a:t>
            </a:r>
            <a:endParaRPr lang="en-US" sz="1250" dirty="0"/>
          </a:p>
        </p:txBody>
      </p:sp>
      <p:sp>
        <p:nvSpPr>
          <p:cNvPr id="22" name="Text 1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imgs/w4-1-1.png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既然生成器就是 ψ₁，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為什麼不乾脆直接學 ψ₁，一次算完就好？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 速度場怎麼推動一整個分布？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我們寫不出 ψ₁ 的訓練目標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941320"/>
          </a:xfrm>
          <a:prstGeom prst="roundRect">
            <a:avLst>
              <a:gd name="adj" fmla="val 435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直接學 ψ₁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U1.0 算過：沒有配對，「ψ₁(x₀) 該等於哪張圖」沒有答案，L₂ 塌成平均圖。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941320"/>
          </a:xfrm>
          <a:prstGeom prst="roundRect">
            <a:avLst>
              <a:gd name="adj" fmla="val 4352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學速度場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一旦路徑被指定下來，中間每一個點「該往哪走」就是已知的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——速度場有一個現成的回歸目標。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4454042" y="3191256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代價：取樣要解 ODE、走很多步。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58277" y="1234440"/>
            <a:ext cx="3576218" cy="2941320"/>
          </a:xfrm>
          <a:prstGeom prst="roundRect">
            <a:avLst>
              <a:gd name="adj" fmla="val 435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伏筆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04581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要直接學 ψ，得先有一個寫得出來的監督訊號——速度場只是最早、最現成的那一個。U6–U7 會回頭直接學 ψ。</a:t>
            </a:r>
            <a:endParaRPr lang="en-US" sz="19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 §1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從推動一顆點，到推動一整個分布</a:t>
            </a:r>
            <a:endParaRPr lang="en-US" sz="36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pₜ = [ψₜ]# p₀：p₀ 被 flow map 推過去，就是 pₜ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自己導一次：一維的小盒子，兩行就出來了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東西不會憑空出現或消失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盒子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cc1f052eb33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4826043" cy="3490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3814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3814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局部近似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32702"/>
            <a:ext cx="960120" cy="126239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流量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b38b195fe7c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58109"/>
            <a:ext cx="7391095" cy="101158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9016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9016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流量＝密度×速度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577396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577396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除以 Δx、讓 Δx → 0，右邊變成誰？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222048"/>
            <a:ext cx="960120" cy="6015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極限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0050e000b9a4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313488"/>
            <a:ext cx="4093249" cy="41862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34906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34906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差商 → 偏導</a:t>
            </a:r>
            <a:endParaRPr lang="en-US" sz="1050" dirty="0"/>
          </a:p>
        </p:txBody>
      </p:sp>
      <p:sp>
        <p:nvSpPr>
          <p:cNvPr id="18" name="Text 13"/>
          <p:cNvSpPr txBox="1"/>
          <p:nvPr/>
        </p:nvSpPr>
        <p:spPr>
          <a:xfrm>
            <a:off x="548640" y="4878421"/>
            <a:ext cx="11094415" cy="397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高維把 ∂ₓ 換成散度 ∇·（兩端 → 封閉曲面）。整段沒有用到任何機率性質。</a:t>
            </a:r>
            <a:endParaRPr lang="en-US" sz="1890" dirty="0"/>
          </a:p>
        </p:txBody>
      </p:sp>
      <p:sp>
        <p:nvSpPr>
          <p:cNvPr id="19" name="Shape 14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20" name="Image 3" descr="/tmp/claude-0/-home-claude/c4ae4d00-ecec-599d-99af-5b416eb8503d/scratchpad/build/math/b4141baae16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65686"/>
            <a:ext cx="4050769" cy="492987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continuity equation：pₜuₜ 是流量，它的散度是淨流出。這就是「質量守恆」。</a:t>
            </a:r>
            <a:endParaRPr lang="en-US" sz="1350" dirty="0"/>
          </a:p>
        </p:txBody>
      </p:sp>
      <p:sp>
        <p:nvSpPr>
          <p:cNvPr id="22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 Try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這條方程是雙向的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u，算 p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知道速度場，就知道分布怎麼隨時間變。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給 p，驗 u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要驗證一個速度場對不對，不必解 ODE——代進 continuity equation 就好。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而且滿足它的 u 不唯一。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一個名字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8322869" y="1752600"/>
            <a:ext cx="3247034" cy="660654"/>
          </a:xfrm>
          <a:prstGeom prst="roundRect">
            <a:avLst>
              <a:gd name="adj" fmla="val 830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396021" y="1770888"/>
            <a:ext cx="3100730" cy="62407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1500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「uₜ 生成 pₜ」：uₜ 與 pₜ 一起滿足 continuity equation</a:t>
            </a:r>
            <a:endParaRPr lang="en-US" sz="1500" dirty="0"/>
          </a:p>
        </p:txBody>
      </p:sp>
      <p:sp>
        <p:nvSpPr>
          <p:cNvPr id="13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 §2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速度場遊樂場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4-1-field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49318" y="1389888"/>
            <a:ext cx="4182323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先試「旋轉」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軌跡一圈一圈繞，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整團 Gaussian 雲卻不變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（旋轉對稱）——粒子動了，分布沒動。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再試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收縮、鞍點、推到雙月。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w4-1-fields</a:t>
            </a:r>
            <a:endParaRPr lang="en-US" sz="9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同一對端點，無限多條路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4783902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第一層：分布路徑的選擇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4491294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從 p₀ 到 p₁ 的中間分布可以有很多條（VP 是其中一條）。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5515422" y="1234440"/>
            <a:ext cx="6219073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680014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第二層：同一條路徑，無限多個速度場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680014" y="1752600"/>
            <a:ext cx="5889889" cy="472642"/>
          </a:xfrm>
          <a:prstGeom prst="roundRect">
            <a:avLst>
              <a:gd name="adj" fmla="val 1547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14c238f1b8e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40491" y="1853184"/>
            <a:ext cx="5568936" cy="271474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5661726" y="2316682"/>
            <a:ext cx="5926465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代進 continuity equation，多出來的項為零。w 是沿等密度面「繞圈」的分量。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 §3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Q1：這兩層自由度不用付代價嗎？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隨便挑一個滿足式子的速度場，生出來的樣本分布都一樣——這樣想哪裡不對？</a:t>
            </a:r>
            <a:endParaRPr lang="en-US" sz="1600" dirty="0"/>
          </a:p>
        </p:txBody>
      </p:sp>
      <p:sp>
        <p:nvSpPr>
          <p:cNvPr id="4" name="Shape 2"/>
          <p:cNvSpPr/>
          <p:nvPr/>
        </p:nvSpPr>
        <p:spPr>
          <a:xfrm>
            <a:off x="457200" y="1600200"/>
            <a:ext cx="3576218" cy="2087118"/>
          </a:xfrm>
          <a:prstGeom prst="roundRect">
            <a:avLst>
              <a:gd name="adj" fmla="val 613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21792" y="172821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分布層面：完全沒錯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603504" y="211836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任何滿足 continuity equation 的 uₜ 都生成同一條 pₜ，p₁ 也一樣。</a:t>
            </a:r>
            <a:endParaRPr lang="en-US" sz="1900" dirty="0"/>
          </a:p>
        </p:txBody>
      </p:sp>
      <p:sp>
        <p:nvSpPr>
          <p:cNvPr id="7" name="Shape 5"/>
          <p:cNvSpPr/>
          <p:nvPr/>
        </p:nvSpPr>
        <p:spPr>
          <a:xfrm>
            <a:off x="4307738" y="1600200"/>
            <a:ext cx="3576218" cy="2087118"/>
          </a:xfrm>
          <a:prstGeom prst="roundRect">
            <a:avLst>
              <a:gd name="adj" fmla="val 6134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472330" y="1728216"/>
            <a:ext cx="3247034" cy="5608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卡在：我們不是把 ψ₁ 算出來，是數值解 ODE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4454042" y="23622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步數取決於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軌跡形狀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。旋轉 demo 那個 w 滿足 ∇·(pw)=0，但軌跡繞很長，要很多步。</a:t>
            </a:r>
            <a:endParaRPr lang="en-US" sz="1900" dirty="0"/>
          </a:p>
        </p:txBody>
      </p:sp>
      <p:sp>
        <p:nvSpPr>
          <p:cNvPr id="10" name="Shape 8"/>
          <p:cNvSpPr/>
          <p:nvPr/>
        </p:nvSpPr>
        <p:spPr>
          <a:xfrm>
            <a:off x="8158277" y="1600200"/>
            <a:ext cx="3576218" cy="2087118"/>
          </a:xfrm>
          <a:prstGeom prst="roundRect">
            <a:avLst>
              <a:gd name="adj" fmla="val 613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2869" y="172821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出路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8304581" y="211836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挑速度場的標準是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代價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——U2.3、U3.2 會把它量出來。</a:t>
            </a:r>
            <a:endParaRPr lang="en-US" sz="1900" dirty="0"/>
          </a:p>
        </p:txBody>
      </p:sp>
      <p:sp>
        <p:nvSpPr>
          <p:cNvPr id="13" name="Shape 11"/>
          <p:cNvSpPr/>
          <p:nvPr/>
        </p:nvSpPr>
        <p:spPr>
          <a:xfrm>
            <a:off x="457200" y="3915918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85800" y="4075938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85800" y="4075938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2331720" y="4053078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514600" y="3961638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兩層自由度不影響「走到哪裡」，只影響「要走幾步才走得到」。</a:t>
            </a:r>
            <a:endParaRPr lang="en-US" sz="1500" dirty="0"/>
          </a:p>
        </p:txBody>
      </p:sp>
      <p:sp>
        <p:nvSpPr>
          <p:cNvPr id="18" name="Text 16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U2.1 Q1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目標寫得出來，可是算不出來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418402" cy="2353513"/>
          </a:xfrm>
          <a:prstGeom prst="roundRect">
            <a:avLst>
              <a:gd name="adj" fmla="val 5439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想最小化的東西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6089218" cy="759409"/>
          </a:xfrm>
          <a:prstGeom prst="roundRect">
            <a:avLst>
              <a:gd name="adj" fmla="val 963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ac06a24089a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9165" y="1853184"/>
            <a:ext cx="5154473" cy="55824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03449"/>
            <a:ext cx="6125794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抽一個時刻、抽一個那個時刻會出現的位置，要求網路輸出的速度跟正確答案一樣。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149922" y="1234440"/>
            <a:ext cx="4584573" cy="2353513"/>
          </a:xfrm>
          <a:prstGeom prst="roundRect">
            <a:avLst>
              <a:gd name="adj" fmla="val 5439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4514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麻煩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96226" y="1752600"/>
            <a:ext cx="4291965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uₜ(x) 需要整條 pₜ 與整個 p_data——手上只有五萬個點。回指 U1：Bayes 的分母、L₂ 的塌陷，都是同樣的困境。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457200" y="3816553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85800" y="3976573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685800" y="3976573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4" name="Shape 11"/>
          <p:cNvSpPr/>
          <p:nvPr/>
        </p:nvSpPr>
        <p:spPr>
          <a:xfrm>
            <a:off x="2331720" y="3953713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2514600" y="3862273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要學的目標本身，是一個我們算不出來的量。</a:t>
            </a:r>
            <a:endParaRPr lang="en-US" sz="150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§1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一個算不出來的東西，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還能拿它當回歸目標嗎？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先配對，再平均：Conditional Flow Matching</a:t>
            </a:r>
            <a:endParaRPr lang="en-US" sz="15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把一個整體問題切成一堆小任務——倉庫搬貨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934625"/>
          </a:xfrm>
          <a:prstGeom prst="roundRect">
            <a:avLst>
              <a:gd name="adj" fmla="val 4362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 抽一組端點對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3247034" cy="393729"/>
          </a:xfrm>
          <a:prstGeom prst="roundRect">
            <a:avLst>
              <a:gd name="adj" fmla="val 18579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c779211d7e75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5974"/>
            <a:ext cx="3064154" cy="1869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237769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各自獨立抽——這是一個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選擇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（U3 會鬆開它）。一組配對只描述一箱貨。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4307738" y="1234440"/>
            <a:ext cx="3576218" cy="2934625"/>
          </a:xfrm>
          <a:prstGeom prst="roundRect">
            <a:avLst>
              <a:gd name="adj" fmla="val 4362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2. 把路線寫死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4472330" y="1752600"/>
            <a:ext cx="3247034" cy="433517"/>
          </a:xfrm>
          <a:prstGeom prst="roundRect">
            <a:avLst>
              <a:gd name="adj" fmla="val 1687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64ef85888a4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361" y="1853184"/>
            <a:ext cx="2390973" cy="232349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4472330" y="2277557"/>
            <a:ext cx="3247034" cy="497048"/>
          </a:xfrm>
          <a:prstGeom prst="roundRect">
            <a:avLst>
              <a:gd name="adj" fmla="val 14717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3" name="Image 2" descr="/tmp/claude-0/-home-claude/c4ae4d00-ecec-599d-99af-5b416eb8503d/scratchpad/build/math/aa06570f2cb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89831" y="2378141"/>
            <a:ext cx="3012034" cy="29588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4454042" y="2866045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條件速度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好算到不需要網路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：兩個純量乘兩個向量。每箱該往哪走只是查表。</a:t>
            </a:r>
            <a:endParaRPr lang="en-US" sz="1900" dirty="0"/>
          </a:p>
        </p:txBody>
      </p:sp>
      <p:sp>
        <p:nvSpPr>
          <p:cNvPr id="15" name="Shape 10"/>
          <p:cNvSpPr/>
          <p:nvPr/>
        </p:nvSpPr>
        <p:spPr>
          <a:xfrm>
            <a:off x="8158277" y="1234440"/>
            <a:ext cx="3576218" cy="2934625"/>
          </a:xfrm>
          <a:prstGeom prst="roundRect">
            <a:avLst>
              <a:gd name="adj" fmla="val 4362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3. 對 z 積分，得到邊際</a:t>
            </a:r>
            <a:endParaRPr lang="en-US" sz="1600" dirty="0"/>
          </a:p>
        </p:txBody>
      </p:sp>
      <p:sp>
        <p:nvSpPr>
          <p:cNvPr id="17" name="Shape 12"/>
          <p:cNvSpPr/>
          <p:nvPr/>
        </p:nvSpPr>
        <p:spPr>
          <a:xfrm>
            <a:off x="8322869" y="1752600"/>
            <a:ext cx="3247034" cy="804483"/>
          </a:xfrm>
          <a:prstGeom prst="roundRect">
            <a:avLst>
              <a:gd name="adj" fmla="val 909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8" name="Image 3" descr="/tmp/claude-0/-home-claude/c4ae4d00-ecec-599d-99af-5b416eb8503d/scratchpad/build/math/7435bc1389e5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427176" y="1853184"/>
            <a:ext cx="3038420" cy="603315"/>
          </a:xfrm>
          <a:prstGeom prst="rect">
            <a:avLst/>
          </a:prstGeom>
        </p:spPr>
      </p:pic>
      <p:sp>
        <p:nvSpPr>
          <p:cNvPr id="19" name="Text 13"/>
          <p:cNvSpPr txBox="1"/>
          <p:nvPr/>
        </p:nvSpPr>
        <p:spPr>
          <a:xfrm>
            <a:off x="8304581" y="2648523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每一箱各自守恆、加起來就是整批守恆。</a:t>
            </a:r>
            <a:endParaRPr lang="en-US" sz="1900" dirty="0"/>
          </a:p>
        </p:txBody>
      </p:sp>
      <p:sp>
        <p:nvSpPr>
          <p:cNvPr id="20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§2 · imgs/w4-2-1.png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符號：(αₜ, σₜ) 只要求四個邊界值</a:t>
            </a:r>
            <a:endParaRPr lang="en-US" sz="32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981151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要求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內容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α₀ = 0，α₁ = 1；σ₀ = 1，σ₁ = 0——t = 0 全是噪聲、t = 1 全是資料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可微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α̇ₜ、σ̇ₜ 存在（條件速度要用）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不需要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αₜ² + σₜ² = 1。那是 DDPM 的 VP 路徑才有的關係；最常用的 αₜ = t、σₜ = 1 − t 就不滿足它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時間方向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t：0 → 1，噴聲 → 資料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Remark「符號」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pages/p-20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39010" y="0"/>
            <a:ext cx="11513675" cy="6473952"/>
          </a:xfrm>
          <a:prstGeom prst="rect">
            <a:avLst/>
          </a:prstGeom>
        </p:spPr>
      </p:pic>
      <p:sp>
        <p:nvSpPr>
          <p:cNvPr id="3" name="Text 0"/>
          <p:cNvSpPr txBox="1"/>
          <p:nvPr/>
        </p:nvSpPr>
        <p:spPr>
          <a:xfrm>
            <a:off x="365760" y="6492240"/>
            <a:ext cx="11460175" cy="329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沿用 Week 2 #20 · 邊際速度是條件速度的後驴平均</a:t>
            </a:r>
            <a:endParaRPr lang="en-US" sz="10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站在 x 往外看：很多條路線經過這裡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601785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272601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邊際速度的定義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6272601" cy="774632"/>
          </a:xfrm>
          <a:prstGeom prst="roundRect">
            <a:avLst>
              <a:gd name="adj" fmla="val 9443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3ee5381e8c1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7426"/>
            <a:ext cx="6089721" cy="564981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18672"/>
            <a:ext cx="6309177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權重是後驟 p(z | xₜ = x)：「這條路線有多可能經過這裡」；離很遠的路線權重接近零。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333305" y="1234440"/>
            <a:ext cx="4401190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497897" y="1362456"/>
            <a:ext cx="4072006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人潮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479609" y="1752600"/>
            <a:ext cx="4108582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不知道終點是哪一個時，就看「在這個位置附近的人平均往哪裡走」——不知道該跟哪一個人，但可以跟著附近人群的平均方向前進。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§2 · Week 2 #20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2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既然邊際速度是一個加權平均，那先把這個平均估出來：</a:t>
            </a:r>
            <a:endParaRPr lang="en-US" sz="24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對每個 (x, t) 抽很多組配對、算權重、加權平均，當回歸目標。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Q1：這樣做會遇到什麼？</a:t>
            </a:r>
            <a:endParaRPr lang="en-US" sz="15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有效樣本數崩潰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self-normalized importance sampling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114585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估計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f8154ca576f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012323" cy="96297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204511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204511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抽 M 組配對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846642"/>
            <a:ext cx="960120" cy="97297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權重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b617b469dbf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938082"/>
            <a:ext cx="5477399" cy="790099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315939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315939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由距離平方決定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874484"/>
            <a:ext cx="11094415" cy="37319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75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距離平方在 d 個維度上累加——d 越大，權重越集中到個位數的樣本上。</a:t>
            </a:r>
            <a:endParaRPr lang="en-US" sz="17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4302538"/>
            <a:ext cx="960120" cy="9676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有效樣本數</a:t>
            </a:r>
            <a:endParaRPr lang="en-US" sz="1500" dirty="0"/>
          </a:p>
        </p:txBody>
      </p:sp>
      <p:pic>
        <p:nvPicPr>
          <p:cNvPr id="14" name="Image 2" descr="/tmp/claude-0/-home-claude/c4ae4d00-ecec-599d-99af-5b416eb8503d/scratchpad/build/math/a84ba42f2d51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393978"/>
            <a:ext cx="4740021" cy="784812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74175" y="461264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265615" y="461264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維度災難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這個平均我們根本不需要自己算：L₂ 最佳解就是條件期望（U1.3）。不要估平均，把平均交給 loss。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Q1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731520" y="1005840"/>
            <a:ext cx="10728655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中心式</a:t>
            </a:r>
            <a:endParaRPr lang="en-US" sz="1600" dirty="0"/>
          </a:p>
        </p:txBody>
      </p:sp>
      <p:sp>
        <p:nvSpPr>
          <p:cNvPr id="3" name="Shape 1"/>
          <p:cNvSpPr/>
          <p:nvPr/>
        </p:nvSpPr>
        <p:spPr>
          <a:xfrm>
            <a:off x="2011680" y="2148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914400" y="2286000"/>
            <a:ext cx="10362895" cy="160934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難算的邊際量 ＋ 好算的條件量 ＋ 一個算得出來的 loss：</a:t>
            </a:r>
            <a:endParaRPr lang="en-US" sz="2600" dirty="0"/>
          </a:p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2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平均那一步交給 loss 自己做。</a:t>
            </a:r>
            <a:endParaRPr lang="en-US" sz="2600" dirty="0"/>
          </a:p>
        </p:txBody>
      </p:sp>
      <p:pic>
        <p:nvPicPr>
          <p:cNvPr id="5" name="Image 0" descr="/tmp/claude-0/-home-claude/c4ae4d00-ecec-599d-99af-5b416eb8503d/scratchpad/build/math/f045a33d904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50863" y="4132459"/>
            <a:ext cx="6889970" cy="604761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2011680" y="516636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拿條件速度當目標。目標的噪聲很大，但平均是對的——回歸會把它平掉。最小值正好是 𝔼[uₜ(xₜ|z) | xₜ = x] = uₜ(x)。</a:t>
            </a:r>
            <a:endParaRPr lang="en-US" sz="14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 1：uₜ 生成 pₜ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continuity equation 是線性的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705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每個 z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6972ffe9a96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5222938" cy="3876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5743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5743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條件路徑各自守恆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71284"/>
            <a:ext cx="960120" cy="90111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乘 p(z) 積分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c13dc6c3ba5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62724"/>
            <a:ext cx="5856875" cy="718233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54810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54810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線性、交換 ∂ₜ 與 ∫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254692"/>
            <a:ext cx="5943600" cy="516636"/>
          </a:xfrm>
          <a:prstGeom prst="roundRect">
            <a:avLst>
              <a:gd name="adj" fmla="val 14159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254692"/>
            <a:ext cx="5760720" cy="5166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2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積分裡那個東西，除以 pₜ(x) 再乘回去，是誰的定義？</a:t>
            </a:r>
            <a:endParaRPr lang="en-US" sz="162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3853625"/>
            <a:ext cx="960120" cy="141057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認出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d13d1729fc6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015637"/>
            <a:ext cx="7391095" cy="1086549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38517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38517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uₜ 的定義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每一箱貨各自守恆，加起來就是整批守恆。（嚴格說要 pₜ(·|z) 是真密度——用 z = x₁ 的版本 pₜ(x|x₁) = N(αₜx₁, σₜ²I)，(x₀,x₁) 版本由 tower property 推得。）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定理 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 2：兩個 loss 的梯度一模一樣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展開平方，只有交叉項要處理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8715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展開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d0adc016062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5191900" cy="404279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65764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65764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 loss 各三項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87943"/>
            <a:ext cx="11094415" cy="397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第一項兩邊相同（x 的邊際正是 pₜ）；第三項不含 θ，對梯度無貢獻。剩下交叉項。</a:t>
            </a:r>
            <a:endParaRPr lang="en-US" sz="189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2740000"/>
            <a:ext cx="960120" cy="117339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交叉項</a:t>
            </a:r>
            <a:endParaRPr lang="en-US" sz="1500" dirty="0"/>
          </a:p>
        </p:txBody>
      </p:sp>
      <p:pic>
        <p:nvPicPr>
          <p:cNvPr id="10" name="Image 1" descr="/tmp/claude-0/-home-claude/c4ae4d00-ecec-599d-99af-5b416eb8503d/scratchpad/build/math/6369424a07d7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835717"/>
            <a:ext cx="7391095" cy="981960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174175" y="315296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65615" y="315296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uₜ 定義 ＋ tower property</a:t>
            </a:r>
            <a:endParaRPr lang="en-US" sz="1050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968258"/>
            <a:ext cx="960120" cy="60150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差的常數</a:t>
            </a:r>
            <a:endParaRPr lang="en-US" sz="1500" dirty="0"/>
          </a:p>
        </p:txBody>
      </p:sp>
      <p:pic>
        <p:nvPicPr>
          <p:cNvPr id="14" name="Image 2" descr="/tmp/claude-0/-home-claude/c4ae4d00-ecec-599d-99af-5b416eb8503d/scratchpad/build/math/5796677877fb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059698"/>
            <a:ext cx="7134292" cy="41862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74175" y="4095277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265615" y="4095277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條件速度的變異數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連訓練每一步走的方向都一樣，不是近似問題。差的常數不含 θ，但讓 loss 不會收到 0。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定理 2</a:t>
            </a:r>
            <a:endParaRPr lang="en-US" sz="90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這是 conditional trick 的速度版本</a:t>
            </a:r>
            <a:endParaRPr lang="en-US" sz="3200" dirty="0"/>
          </a:p>
        </p:txBody>
      </p:sp>
      <p:graphicFrame>
        <p:nvGraphicFramePr>
          <p:cNvPr id="3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3108960"/>
                <a:gridCol w="3108960"/>
                <a:gridCol w="2679192"/>
              </a:tblGrid>
              <a:tr h="6934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KL 版（U1.2）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MSE 版（U1.3）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速度版（U2.2）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想要的邊際量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q(xₜ₋₁ | xₜ)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score ∇log pₜ(x)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邊際速度 uₜ(x)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好算的條件量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q(xₜ₋₁ | xₜ, x₀)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−ε/σₜ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α̇ₜx₁ + σ̇ₜx₀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放進條件的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(x₀, ε)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z = (x₀, x₁)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誰取平均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KL 的交叉熵項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L₂ 回歸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L₂ 回歸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差的常數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條件互資訊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Var(ε | xₜ)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tr Var(uₜ(xₜ|z) | xₜ)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它們不是三個各自獨立的技巧，是同一個策略在三種 objective 上的樣子。全課還會再回來四次。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§4</a:t>
            </a:r>
            <a:endParaRPr lang="en-US" sz="9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訓練只換掉目標那一行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2377440"/>
          </a:xfrm>
          <a:prstGeom prst="roundRect">
            <a:avLst>
              <a:gd name="adj" fmla="val 4615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= torch.randn(B, d)              # 噪聲（FM 慣例：x0 是噪聲）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= sample_data(B)                 # 資料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= torch.rand(B, 1)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xt = alpha(t) * x1 + sigma(t) * x0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alpha_dot(t) * x1 + sigma_dot(t) * x0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 = ((model(xt, t) - target) ** 2).mean()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2377440"/>
          </a:xfrm>
          <a:prstGeom prst="roundRect">
            <a:avLst>
              <a:gd name="adj" fmla="val 4615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和 U1 的五行比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差在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target 那一行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：U1 是 ε，這裡是條件速度。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542032"/>
            <a:ext cx="381579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沒有 SDE、沒有 score、沒有 Tweedie，也沒有任何積分要估。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§5</a:t>
            </a:r>
            <a:endParaRPr lang="en-US" sz="9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Q2：x₀、x₁ 獨立抽、路線交錯成一團，學出來還對嗎？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分布層面：對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定理 1、2 都沒有用到「不交叉」或「配對有結構」。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卡在：一個位置只能有一個速度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交錯處輸出的是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——粗箭頭變短。軌跡因此是彎的，步數少時離散化誤差就跑出來。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出路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能不能挑「不交錯」的配對？→ U3.3 reflow、U3.4 minibatch OT。下一篇先把「彎」看清楚。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U2.2 Q2</a:t>
            </a:r>
            <a:endParaRPr lang="en-US" sz="9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條件速度疊成邊際速度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4-2-conditional-averag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93359" y="1389888"/>
            <a:ext cx="3894242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拖 x 看哪幾條配對路線經過它、各自的速度指向哪。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細箭頭是條件速度、粗箭頭是加權平均的邊際速度。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粗箭頭比細箭頭短：交叉方向互相抵消。用 αₜ = t、σₜ = 1 − t。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w4-2-conditional-average · imgs/w4-2-1.png</a:t>
            </a:r>
            <a:endParaRPr lang="en-US" sz="9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最沒有花招的選法：直線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219073" cy="3602736"/>
          </a:xfrm>
          <a:prstGeom prst="roundRect">
            <a:avLst>
              <a:gd name="adj" fmla="val 3553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αₜ = t，σₜ = 1 − t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5889889" cy="469396"/>
          </a:xfrm>
          <a:prstGeom prst="roundRect">
            <a:avLst>
              <a:gd name="adj" fmla="val 1558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e6c2908c4114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" y="1855299"/>
            <a:ext cx="5707009" cy="263998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313436"/>
            <a:ext cx="5926465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條件速度是一個常數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——不隨 t 變、也不隨位置變。網路的工作：看到 xₜ 和 t，猜出「終點減起點」。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621792" y="3433576"/>
            <a:ext cx="5889889" cy="384048"/>
          </a:xfrm>
          <a:prstGeom prst="roundRect">
            <a:avLst>
              <a:gd name="adj" fmla="val 14286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13232" y="3488440"/>
            <a:ext cx="570700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target = x1 - x0   # 只改這一行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6950593" y="1234440"/>
            <a:ext cx="4783902" cy="3602736"/>
          </a:xfrm>
          <a:prstGeom prst="roundRect">
            <a:avLst>
              <a:gd name="adj" fmla="val 3553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1" name="Text 8"/>
          <p:cNvSpPr txBox="1"/>
          <p:nvPr/>
        </p:nvSpPr>
        <p:spPr>
          <a:xfrm>
            <a:off x="7115185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同一條路，三個名字</a:t>
            </a:r>
            <a:endParaRPr lang="en-US" sz="1600" dirty="0"/>
          </a:p>
        </p:txBody>
      </p:sp>
      <p:sp>
        <p:nvSpPr>
          <p:cNvPr id="12" name="Text 9"/>
          <p:cNvSpPr txBox="1"/>
          <p:nvPr/>
        </p:nvSpPr>
        <p:spPr>
          <a:xfrm>
            <a:off x="7096897" y="1752600"/>
            <a:ext cx="4491294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rectified flow（把軌跡拉直）／stochastic interpolants（(αₜ,σₜ) 當設計變數）／Lipman 的「OT path」。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它們寫下來的訓練目標是同一個。</a:t>
            </a:r>
            <a:endParaRPr lang="en-US" sz="1900" dirty="0"/>
          </a:p>
        </p:txBody>
      </p:sp>
      <p:pic>
        <p:nvPicPr>
          <p:cNvPr id="13" name="Image 1" descr="/tmp/claude-0/-home-claude/c4ae4d00-ecec-599d-99af-5b416eb8503d/scratchpad/build/w2media/slide19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23992" y="3191256"/>
            <a:ext cx="2437104" cy="13716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 §1 · Week 2 #19</a:t>
            </a:r>
            <a:endParaRPr lang="en-US" sz="90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條件路徑每一條都是直線。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那訓好之後，粒子會走直線嗎？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 代入最簡單的一條路：直線插值</a:t>
            </a:r>
            <a:endParaRPr lang="en-US" sz="150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每一條條件路徑都是直的，而邊際速度是這些條件速度的平均。</a:t>
            </a:r>
            <a:endParaRPr lang="en-US" sz="22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一堆直線方向平均起來還是一個方向，所以邊際軌跡當然也是直的。</a:t>
            </a:r>
            <a:endParaRPr lang="en-US" sz="22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Q1：這個推理錯在哪？</a:t>
            </a:r>
            <a:endParaRPr lang="en-US" sz="150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用兩組配對就能算出來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960120" cy="5044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500" dirty="0"/>
          </a:p>
        </p:txBody>
      </p:sp>
      <p:pic>
        <p:nvPicPr>
          <p:cNvPr id="4" name="Image 0" descr="/tmp/claude-0/-home-claude/c4ae4d00-ecec-599d-99af-5b416eb8503d/scratchpad/build/math/3df282254ea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90087"/>
            <a:ext cx="7391095" cy="284633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74175" y="135866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65615" y="135866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建構反例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39511"/>
            <a:ext cx="960120" cy="528587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½</a:t>
            </a:r>
            <a:endParaRPr lang="en-US" sz="1500" dirty="0"/>
          </a:p>
        </p:txBody>
      </p:sp>
      <p:pic>
        <p:nvPicPr>
          <p:cNvPr id="8" name="Image 1" descr="/tmp/claude-0/-home-claude/c4ae4d00-ecec-599d-99af-5b416eb8503d/scratchpad/build/math/7ff9fe543b36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50824"/>
            <a:ext cx="7391095" cy="305962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74175" y="193006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65615" y="193006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代入 x₁ − x₀</a:t>
            </a:r>
            <a:endParaRPr lang="en-US" sz="1050" dirty="0"/>
          </a:p>
        </p:txBody>
      </p:sp>
      <p:sp>
        <p:nvSpPr>
          <p:cNvPr id="11" name="Shape 7"/>
          <p:cNvSpPr/>
          <p:nvPr/>
        </p:nvSpPr>
        <p:spPr>
          <a:xfrm>
            <a:off x="1554480" y="2450394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1664208" y="2450394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在原點，邊際速度是什麼？</a:t>
            </a:r>
            <a:endParaRPr lang="en-US" sz="1755" dirty="0"/>
          </a:p>
        </p:txBody>
      </p:sp>
      <p:sp>
        <p:nvSpPr>
          <p:cNvPr id="13" name="Text 9"/>
          <p:cNvSpPr txBox="1"/>
          <p:nvPr/>
        </p:nvSpPr>
        <p:spPr>
          <a:xfrm>
            <a:off x="548640" y="3095046"/>
            <a:ext cx="960120" cy="608299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平均</a:t>
            </a:r>
            <a:endParaRPr lang="en-US" sz="1500" dirty="0"/>
          </a:p>
        </p:txBody>
      </p:sp>
      <p:pic>
        <p:nvPicPr>
          <p:cNvPr id="14" name="Image 2" descr="/tmp/claude-0/-home-claude/c4ae4d00-ecec-599d-99af-5b416eb8503d/scratchpad/build/math/bd9009a8f38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186486"/>
            <a:ext cx="6205993" cy="425419"/>
          </a:xfrm>
          <a:prstGeom prst="rect">
            <a:avLst/>
          </a:prstGeom>
        </p:spPr>
      </p:pic>
      <p:sp>
        <p:nvSpPr>
          <p:cNvPr id="15" name="Shape 10"/>
          <p:cNvSpPr/>
          <p:nvPr/>
        </p:nvSpPr>
        <p:spPr>
          <a:xfrm>
            <a:off x="9174175" y="322545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9265615" y="322545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後驟平均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8" name="Text 13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正上方。這個方向沒有任何一條條件直線在走——水平分量互相抵消。加一層硬理由：ODE 軌跡不能交叉，所以邊際軌跡只能是「先聚再分」的不交叉曲線族。</a:t>
            </a:r>
            <a:endParaRPr lang="en-US" sz="1350" dirty="0"/>
          </a:p>
        </p:txBody>
      </p:sp>
      <p:sp>
        <p:nvSpPr>
          <p:cNvPr id="19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 Q1 · imgs/w4-3-1.png</a:t>
            </a:r>
            <a:endParaRPr lang="en-US" sz="90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2011680" y="2148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914400" y="2286000"/>
            <a:ext cx="10362895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「彎」來自「交叉」，「交叉」來自「隨機配對」。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2011680" y="4434840"/>
            <a:ext cx="8168335" cy="0"/>
          </a:xfrm>
          <a:prstGeom prst="line">
            <a:avLst/>
          </a:prstGeom>
          <a:noFill/>
          <a:ln w="15875">
            <a:solidFill>
              <a:srgbClr val="D9E0EA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97280" y="5486400"/>
            <a:ext cx="9997135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三個詞各自長成 U3 的三篇：怎麼量「彎」（U3.2）、reflow（U3.3）、minibatch OT（U3.4）。</a:t>
            </a:r>
            <a:endParaRPr lang="en-US" sz="14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交叉點上的平均：一張圖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4/imgs/w4-3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680972"/>
            <a:ext cx="6547104" cy="436473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讀圖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隨機配對在交叉處抵消、先聚再分；依位置配對留下平行直線。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直不直，決定要走幾步</a:t>
            </a:r>
            <a:endParaRPr lang="en-US" sz="1400" dirty="0"/>
          </a:p>
        </p:txBody>
      </p:sp>
      <p:sp>
        <p:nvSpPr>
          <p:cNvPr id="10" name="Shape 7"/>
          <p:cNvSpPr/>
          <p:nvPr/>
        </p:nvSpPr>
        <p:spPr>
          <a:xfrm>
            <a:off x="7635240" y="4387596"/>
            <a:ext cx="3962095" cy="436445"/>
          </a:xfrm>
          <a:prstGeom prst="roundRect">
            <a:avLst>
              <a:gd name="adj" fmla="val 1676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675db052a5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91751" y="4488180"/>
            <a:ext cx="2249073" cy="235277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616952" y="4915481"/>
            <a:ext cx="3998671" cy="129357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Euler 假設這段時間速度不變——拿一條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割線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2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代替真正的軌跡；軌跡越彎差越多。DDIM 少步掉品質也是同一個原因。</a:t>
            </a:r>
            <a:endParaRPr lang="en-US" sz="1820" dirty="0"/>
          </a:p>
        </p:txBody>
      </p:sp>
      <p:sp>
        <p:nvSpPr>
          <p:cNvPr id="13" name="Text 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imgs/w4-3-1.png</a:t>
            </a:r>
            <a:endParaRPr lang="en-US" sz="9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交叉、彎曲，與要走幾步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4-3-cross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912332" y="1389888"/>
            <a:ext cx="3856295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起點與資料各兩團，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只有配對不同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；兩種配對的 p₀、p₁ 相同。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06324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317296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實測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3496056"/>
            <a:ext cx="3998671" cy="1244651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彎曲度（軌跡長 ÷ 直線距離）：隨機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1.59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、依位置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1.00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Euler 終點誤差：隨機 4 步 </a:t>
            </a:r>
            <a:endParaRPr lang="en-US" sz="140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1.49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／20 步 0.26／200 步 0.01；依位置 4 步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0.03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——差近五十倍。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498080" y="4846320"/>
            <a:ext cx="4236415" cy="1600200"/>
          </a:xfrm>
          <a:prstGeom prst="roundRect">
            <a:avLst>
              <a:gd name="adj" fmla="val 6857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7635240" y="495604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提醒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7616952" y="5279136"/>
            <a:ext cx="399867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四團 toy 的數字不要和 U2.4 雙月的數字直接對比。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w4-3-crossing</a:t>
            </a:r>
            <a:endParaRPr lang="en-US" sz="90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換到 ε 座標看，其實不是同一個 loss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 x₀ 改名為 ε（FM 慣例下起點就是噪聲）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93588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反解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673c58707c08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7324241" cy="75300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940128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940128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代數消元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636672"/>
            <a:ext cx="960120" cy="865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代回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fe9a2deb0f6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728112"/>
            <a:ext cx="6211085" cy="682800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895776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895776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把速度網路當噴聲網路看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1554480" y="3584648"/>
            <a:ext cx="5943600" cy="562356"/>
          </a:xfrm>
          <a:prstGeom prst="roundRect">
            <a:avLst>
              <a:gd name="adj" fmla="val 13008"/>
            </a:avLst>
          </a:prstGeom>
          <a:solidFill>
            <a:srgbClr val="FEF6E9"/>
          </a:solidFill>
          <a:ln w="12700">
            <a:solidFill>
              <a:srgbClr val="FEF6E9"/>
            </a:solidFill>
            <a:prstDash val="solid"/>
          </a:ln>
        </p:spPr>
      </p:sp>
      <p:sp>
        <p:nvSpPr>
          <p:cNvPr id="13" name="Text 9"/>
          <p:cNvSpPr txBox="1"/>
          <p:nvPr/>
        </p:nvSpPr>
        <p:spPr>
          <a:xfrm>
            <a:off x="1664208" y="3584648"/>
            <a:ext cx="5760720" cy="5623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755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兩個相減，xₜ/t 消掉了——剩下什麼？</a:t>
            </a:r>
            <a:endParaRPr lang="en-US" sz="1755" dirty="0"/>
          </a:p>
        </p:txBody>
      </p:sp>
      <p:sp>
        <p:nvSpPr>
          <p:cNvPr id="14" name="Text 10"/>
          <p:cNvSpPr txBox="1"/>
          <p:nvPr/>
        </p:nvSpPr>
        <p:spPr>
          <a:xfrm>
            <a:off x="548640" y="4229300"/>
            <a:ext cx="960120" cy="90657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相減</a:t>
            </a:r>
            <a:endParaRPr lang="en-US" sz="1500" dirty="0"/>
          </a:p>
        </p:txBody>
      </p:sp>
      <p:pic>
        <p:nvPicPr>
          <p:cNvPr id="15" name="Image 2" descr="/tmp/claude-0/-home-claude/c4ae4d00-ecec-599d-99af-5b416eb8503d/scratchpad/build/math/57ec34e5cad0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4320740"/>
            <a:ext cx="3902836" cy="72369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174175" y="4508849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7" name="Text 12"/>
          <p:cNvSpPr txBox="1"/>
          <p:nvPr/>
        </p:nvSpPr>
        <p:spPr>
          <a:xfrm>
            <a:off x="9265615" y="4508849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平方範數</a:t>
            </a:r>
            <a:endParaRPr lang="en-US" sz="1050" dirty="0"/>
          </a:p>
        </p:txBody>
      </p:sp>
      <p:sp>
        <p:nvSpPr>
          <p:cNvPr id="18" name="Shape 13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學速度和學噴聲仍然是同一件事（affine）；但均勻抽 t 的 FM 在 ε 座標帶一個 1/t² 的權重——噪聲端（t 小）被看得重很多。</a:t>
            </a:r>
            <a:endParaRPr lang="en-US" sz="1350" dirty="0"/>
          </a:p>
        </p:txBody>
      </p:sp>
      <p:sp>
        <p:nvSpPr>
          <p:cNvPr id="20" name="Text 15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 §3</a:t>
            </a:r>
            <a:endParaRPr lang="en-US" sz="90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兩邊都是 ε-MSE，差的就是這個權重</a:t>
            </a:r>
            <a:endParaRPr lang="en-US" sz="3200" dirty="0"/>
          </a:p>
        </p:txBody>
      </p:sp>
      <p:graphicFrame>
        <p:nvGraphicFramePr>
          <p:cNvPr id="4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4690872"/>
              </a:tblGrid>
              <a:tr h="731520">
                <a:tc>
                  <a:txBody>
                    <a:bodyPr/>
                    <a:lstStyle/>
                    <a:p>
                      <a:endParaRPr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DDPM L_simple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線性 FM（均勻抽 t）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 座標下的權重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均勻（刻意丟掉 w(t)）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1/t²：噪聲端加重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網路預測什麼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x₁ − x₀（速度）＝ affine 換算的 ε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術語陷阱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x₀-prediction ＝ 預測資料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這裡叫 x₁-prediction——最容易讀錯的術語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457200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 與 DDPM 的差別不只在路徑（線性 vs VP），還在那個沒有人明說的加權。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U2.3 §3</a:t>
            </a:r>
            <a:endParaRPr lang="en-US" sz="90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09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如果中間分布是同一族，</a:t>
            </a:r>
            <a:endParaRPr lang="en-US" sz="30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30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那兩邊學的東西是不是同一個？</a:t>
            </a:r>
            <a:endParaRPr lang="en-US" sz="30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把 Flow Matching 和 Diffusion 放在一起看</a:t>
            </a:r>
            <a:endParaRPr lang="en-US" sz="1500" dirty="0"/>
          </a:p>
        </p:txBody>
      </p:sp>
      <p:sp>
        <p:nvSpPr>
          <p:cNvPr id="7" name="Shape 4"/>
          <p:cNvSpPr/>
          <p:nvPr/>
        </p:nvSpPr>
        <p:spPr>
          <a:xfrm>
            <a:off x="7619695" y="5623560"/>
            <a:ext cx="4206240" cy="914400"/>
          </a:xfrm>
          <a:prstGeom prst="roundRect">
            <a:avLst>
              <a:gd name="adj" fmla="val 10000"/>
            </a:avLst>
          </a:prstGeom>
          <a:solidFill>
            <a:srgbClr val="FFFFFF">
              <a:alpha val="88000"/>
            </a:srgbClr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7711135" y="5650992"/>
            <a:ext cx="402336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0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左邊：SDE／score／Tweedie。右邊：ODE／速度場／回歸。看起來差很多，但 Gaussian 路徑上中間分布是同一族。</a:t>
            </a:r>
            <a:endParaRPr lang="en-US" sz="1200" dirty="0"/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把兩邊的速度場寫進同一個座標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280160"/>
            <a:ext cx="960120" cy="53793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邊際速度</a:t>
            </a:r>
            <a:endParaRPr lang="en-US" sz="1500" dirty="0"/>
          </a:p>
        </p:txBody>
      </p:sp>
      <p:pic>
        <p:nvPicPr>
          <p:cNvPr id="4" name="Image 0" descr="/tmp/claude-0/-home-claude/c4ae4d00-ecec-599d-99af-5b416eb8503d/scratchpad/build/math/d23d83a93b6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371600"/>
            <a:ext cx="6352737" cy="355056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9174175" y="1375392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9265615" y="1375392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條件期望線性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1872960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約束</a:t>
            </a:r>
            <a:endParaRPr lang="en-US" sz="1500" dirty="0"/>
          </a:p>
        </p:txBody>
      </p:sp>
      <p:pic>
        <p:nvPicPr>
          <p:cNvPr id="8" name="Image 1" descr="/tmp/claude-0/-home-claude/c4ae4d00-ecec-599d-99af-5b416eb8503d/scratchpad/build/math/69cfb053acea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1964400"/>
            <a:ext cx="4196633" cy="349038"/>
          </a:xfrm>
          <a:prstGeom prst="rect">
            <a:avLst/>
          </a:prstGeom>
        </p:spPr>
      </p:pic>
      <p:sp>
        <p:nvSpPr>
          <p:cNvPr id="9" name="Shape 5"/>
          <p:cNvSpPr/>
          <p:nvPr/>
        </p:nvSpPr>
        <p:spPr>
          <a:xfrm>
            <a:off x="9174175" y="196518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0" name="Text 6"/>
          <p:cNvSpPr txBox="1"/>
          <p:nvPr/>
        </p:nvSpPr>
        <p:spPr>
          <a:xfrm>
            <a:off x="9265615" y="196518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對 xₜ = αₜx₁ + σₜε 取條件期望</a:t>
            </a:r>
            <a:endParaRPr lang="en-US" sz="1050" dirty="0"/>
          </a:p>
        </p:txBody>
      </p:sp>
      <p:sp>
        <p:nvSpPr>
          <p:cNvPr id="11" name="Text 7"/>
          <p:cNvSpPr txBox="1"/>
          <p:nvPr/>
        </p:nvSpPr>
        <p:spPr>
          <a:xfrm>
            <a:off x="548640" y="2459742"/>
            <a:ext cx="11094415" cy="3971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兩個條件期望不是獨立的未知數——知道一個就知道另一個。用約束消掉 𝔼[x₁|x]。</a:t>
            </a:r>
            <a:endParaRPr lang="en-US" sz="189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2911798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Tweedie</a:t>
            </a:r>
            <a:endParaRPr lang="en-US" sz="1500" dirty="0"/>
          </a:p>
        </p:txBody>
      </p:sp>
      <p:pic>
        <p:nvPicPr>
          <p:cNvPr id="13" name="Image 2" descr="/tmp/claude-0/-home-claude/c4ae4d00-ecec-599d-99af-5b416eb8503d/scratchpad/build/math/167a730605c2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003238"/>
            <a:ext cx="3790657" cy="34903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74175" y="300402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265615" y="300402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U1.3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3" descr="/tmp/claude-0/-home-claude/c4ae4d00-ecec-599d-99af-5b416eb8503d/scratchpad/build/math/f252968c1e08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610976"/>
            <a:ext cx="5463220" cy="802409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速度場就是「位置」和「score」的線性組合；兩個係數只跟 t 有關，跟資料無關。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§2 · imgs/w4-4-1.png</a:t>
            </a:r>
            <a:endParaRPr lang="en-US" sz="900" dirty="0"/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代 VP 進去：兩個係數各化簡一次，就是 PF-ODE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Try · 用 DDPM 的時間 τ（方向和 FM 的 t 相反）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60355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0c74b1385c9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61542"/>
            <a:ext cx="7391095" cy="37231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7396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7396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304338"/>
            <a:ext cx="960120" cy="103263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係數一</a:t>
            </a:r>
            <a:endParaRPr lang="en-US" sz="1500" dirty="0"/>
          </a:p>
        </p:txBody>
      </p:sp>
      <p:pic>
        <p:nvPicPr>
          <p:cNvPr id="9" name="Image 1" descr="/tmp/claude-0/-home-claude/c4ae4d00-ecec-599d-99af-5b416eb8503d/scratchpad/build/math/52c54fc4e474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95778"/>
            <a:ext cx="2795698" cy="84975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9174175" y="2646921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1" name="Text 7"/>
          <p:cNvSpPr txBox="1"/>
          <p:nvPr/>
        </p:nvSpPr>
        <p:spPr>
          <a:xfrm>
            <a:off x="9265615" y="2646921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鏈式微分</a:t>
            </a:r>
            <a:endParaRPr lang="en-US" sz="1050" dirty="0"/>
          </a:p>
        </p:txBody>
      </p:sp>
      <p:sp>
        <p:nvSpPr>
          <p:cNvPr id="12" name="Text 8"/>
          <p:cNvSpPr txBox="1"/>
          <p:nvPr/>
        </p:nvSpPr>
        <p:spPr>
          <a:xfrm>
            <a:off x="548640" y="3391840"/>
            <a:ext cx="960120" cy="86704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係數二</a:t>
            </a:r>
            <a:endParaRPr lang="en-US" sz="1500" dirty="0"/>
          </a:p>
        </p:txBody>
      </p:sp>
      <p:pic>
        <p:nvPicPr>
          <p:cNvPr id="13" name="Image 2" descr="/tmp/claude-0/-home-claude/c4ae4d00-ecec-599d-99af-5b416eb8503d/scratchpad/build/math/e5cd0eda7d3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54480" y="3522608"/>
            <a:ext cx="7391095" cy="605505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174175" y="365162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5" name="Text 10"/>
          <p:cNvSpPr txBox="1"/>
          <p:nvPr/>
        </p:nvSpPr>
        <p:spPr>
          <a:xfrm>
            <a:off x="9265615" y="365162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用 ᾱ + σ² = 1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548640" y="5532120"/>
            <a:ext cx="11094415" cy="960120"/>
          </a:xfrm>
          <a:prstGeom prst="roundRect">
            <a:avLst>
              <a:gd name="adj" fmla="val 9524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pic>
        <p:nvPicPr>
          <p:cNvPr id="17" name="Image 3" descr="/tmp/claude-0/-home-claude/c4ae4d00-ecec-599d-99af-5b416eb8503d/scratchpad/build/math/63dfed175e79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5717909"/>
            <a:ext cx="4502140" cy="588542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6949440" y="5577840"/>
            <a:ext cx="460217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一字不差就是 U1.4 的 probability-flow ODE（生成時 τ 從 1 積到 0）。交集上兩邊是同一條 ODE。</a:t>
            </a:r>
            <a:endParaRPr lang="en-US" sz="1350" dirty="0"/>
          </a:p>
        </p:txBody>
      </p:sp>
      <p:sp>
        <p:nvSpPr>
          <p:cNvPr id="19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Try</a:t>
            </a:r>
            <a:endParaRPr lang="en-US" sz="900" dirty="0"/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同一個訓好的 ε_θ，不用重訓就能當速度場用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418402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轉換式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6089218" cy="866480"/>
          </a:xfrm>
          <a:prstGeom prst="roundRect">
            <a:avLst>
              <a:gd name="adj" fmla="val 844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476f19dfceab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8004" y="1853184"/>
            <a:ext cx="5216795" cy="665312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710520"/>
            <a:ext cx="6125794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丟給任何 FM 的 ODE 取樣器。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149922" y="1234440"/>
            <a:ext cx="4584573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4514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但要注意一個很容易踩的坑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7296226" y="1752600"/>
            <a:ext cx="4291965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轉換式裡的 (αₜ, σₜ)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必須是訓練時的那條路徑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。拿 VP 訓的 ε_θ 配線性路徑的係數，等於要求網路在沒看過的 xₜ 分布上答題。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7296226" y="3191256"/>
            <a:ext cx="4291965" cy="3916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換的是座標，不是路徑。</a:t>
            </a:r>
            <a:endParaRPr lang="en-US" sz="1900" dirty="0"/>
          </a:p>
        </p:txBody>
      </p:sp>
      <p:sp>
        <p:nvSpPr>
          <p:cNvPr id="12" name="Text 9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§2</a:t>
            </a:r>
            <a:endParaRPr lang="en-US" sz="900" dirty="0"/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兩套座標、兩條路徑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766560" cy="5166360"/>
          </a:xfrm>
          <a:prstGeom prst="roundRect">
            <a:avLst>
              <a:gd name="adj" fmla="val 2124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tmp/claude-0/-home-claude/c4ae4d00-ecec-599d-99af-5b416eb8503d/scratchpad/build/shots/w4-4-two-path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12525" y="1389888"/>
            <a:ext cx="3655911" cy="494690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498080" y="128016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7635240" y="138988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當場驗 boxed 式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7616952" y="171297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「兩套座標的差」：左式（兩個條件期望）與右式（位置＋score）差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10⁻¹⁵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 量級。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498080" y="3954780"/>
            <a:ext cx="4236415" cy="2491740"/>
          </a:xfrm>
          <a:prstGeom prst="roundRect">
            <a:avLst>
              <a:gd name="adj" fmla="val 440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635240" y="4064508"/>
            <a:ext cx="396209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切換路徑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7616952" y="4387596"/>
            <a:ext cx="399867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軌跡形狀立刻不同，彎曲度與 8 步 Euler 終點誤差跟著變。速度場用資料精確算。</a:t>
            </a:r>
            <a:endParaRPr lang="en-US" sz="1900" dirty="0"/>
          </a:p>
        </p:txBody>
      </p:sp>
      <p:sp>
        <p:nvSpPr>
          <p:cNvPr id="11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w4-4-two-paths</a:t>
            </a:r>
            <a:endParaRPr lang="en-US" sz="900" dirty="0"/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交集之外，兩邊各能動什麼</a:t>
            </a:r>
            <a:endParaRPr lang="en-US" sz="3200" dirty="0"/>
          </a:p>
        </p:txBody>
      </p:sp>
      <p:graphicFrame>
        <p:nvGraphicFramePr>
          <p:cNvPr id="5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4572000"/>
                <a:gridCol w="4690872"/>
              </a:tblGrid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層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項目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是旋鈕還是後果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forward 旋鈕一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起點分布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旋鈕（FM 可任意）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forward 旋鈕二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路徑 (αₜ, σₜ)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旋鈕（線性、VP、…）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forward 旋鈕三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配對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旋鈕（獨立是選擇）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訓練端旋鈕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加權 w(t)／t 的分布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旋鈕（U2.3 的 1/t²）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6934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後果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likelihood、取樣器、訓練目標的語意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4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不是旋鈕，是旋鈕決定的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457200" y="5669280"/>
            <a:ext cx="11277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likelihood 與取樣器不是旋鈕，是後果。</a:t>
            </a:r>
            <a:endParaRPr lang="en-US" sz="1350" dirty="0"/>
          </a:p>
        </p:txBody>
      </p:sp>
      <p:sp>
        <p:nvSpPr>
          <p:cNvPr id="5" name="Text 2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§3</a:t>
            </a:r>
            <a:endParaRPr lang="en-US" sz="900" dirty="0"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Likelihood：沿路累加「體積被壓縮了多少」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418402" cy="2436632"/>
          </a:xfrm>
          <a:prstGeom prst="roundRect">
            <a:avLst>
              <a:gd name="adj" fmla="val 5254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60892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瞬時 change of variables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621792" y="1752600"/>
            <a:ext cx="6089218" cy="842528"/>
          </a:xfrm>
          <a:prstGeom prst="roundRect">
            <a:avLst>
              <a:gd name="adj" fmla="val 868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6" name="Image 0" descr="/tmp/claude-0/-home-claude/c4ae4d00-ecec-599d-99af-5b416eb8503d/scratchpad/build/math/2473ff89e54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72691" y="1853184"/>
            <a:ext cx="3587420" cy="64136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603504" y="2686568"/>
            <a:ext cx="6125794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沿軌跡把散度積起來，就是 log p₁。U1.0 那個 log-det 的代價變成一個一維積分。</a:t>
            </a:r>
            <a:endParaRPr lang="en-US" sz="1900" dirty="0"/>
          </a:p>
        </p:txBody>
      </p:sp>
      <p:sp>
        <p:nvSpPr>
          <p:cNvPr id="8" name="Shape 5"/>
          <p:cNvSpPr/>
          <p:nvPr/>
        </p:nvSpPr>
        <p:spPr>
          <a:xfrm>
            <a:off x="7149922" y="1234440"/>
            <a:ext cx="4584573" cy="2436632"/>
          </a:xfrm>
          <a:prstGeom prst="roundRect">
            <a:avLst>
              <a:gd name="adj" fmla="val 5254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7314514" y="1362456"/>
            <a:ext cx="42553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Hutchinson</a:t>
            </a:r>
            <a:endParaRPr lang="en-US" sz="1600" dirty="0"/>
          </a:p>
        </p:txBody>
      </p:sp>
      <p:sp>
        <p:nvSpPr>
          <p:cNvPr id="10" name="Shape 7"/>
          <p:cNvSpPr/>
          <p:nvPr/>
        </p:nvSpPr>
        <p:spPr>
          <a:xfrm>
            <a:off x="7314514" y="1752600"/>
            <a:ext cx="4255389" cy="478058"/>
          </a:xfrm>
          <a:prstGeom prst="roundRect">
            <a:avLst>
              <a:gd name="adj" fmla="val 15302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11" name="Image 1" descr="/tmp/claude-0/-home-claude/c4ae4d00-ecec-599d-99af-5b416eb8503d/scratchpad/build/math/f0ce83986240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5954" y="1856224"/>
            <a:ext cx="4072509" cy="270809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7296226" y="2322098"/>
            <a:ext cx="4291965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一次 vector-Jacobian product 得無偏散度估計（附錄）。</a:t>
            </a:r>
            <a:endParaRPr lang="en-US" sz="1900" dirty="0"/>
          </a:p>
        </p:txBody>
      </p:sp>
      <p:sp>
        <p:nvSpPr>
          <p:cNvPr id="13" name="Shape 9"/>
          <p:cNvSpPr/>
          <p:nvPr/>
        </p:nvSpPr>
        <p:spPr>
          <a:xfrm>
            <a:off x="457200" y="3899672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685800" y="4059692"/>
            <a:ext cx="1417320" cy="548640"/>
          </a:xfrm>
          <a:prstGeom prst="roundRect">
            <a:avLst>
              <a:gd name="adj" fmla="val 20000"/>
            </a:avLst>
          </a:prstGeom>
          <a:solidFill>
            <a:srgbClr val="0E2F74"/>
          </a:solidFill>
          <a:ln w="12700">
            <a:solidFill>
              <a:srgbClr val="0E2F74"/>
            </a:solidFill>
            <a:prstDash val="solid"/>
          </a:ln>
        </p:spPr>
      </p:sp>
      <p:sp>
        <p:nvSpPr>
          <p:cNvPr id="15" name="Text 11"/>
          <p:cNvSpPr txBox="1"/>
          <p:nvPr/>
        </p:nvSpPr>
        <p:spPr>
          <a:xfrm>
            <a:off x="685800" y="4059692"/>
            <a:ext cx="141732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FFFFF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重點結論</a:t>
            </a:r>
            <a:endParaRPr lang="en-US" sz="1500" dirty="0"/>
          </a:p>
        </p:txBody>
      </p:sp>
      <p:sp>
        <p:nvSpPr>
          <p:cNvPr id="16" name="Shape 12"/>
          <p:cNvSpPr/>
          <p:nvPr/>
        </p:nvSpPr>
        <p:spPr>
          <a:xfrm>
            <a:off x="2331720" y="4036832"/>
            <a:ext cx="0" cy="594360"/>
          </a:xfrm>
          <a:prstGeom prst="line">
            <a:avLst/>
          </a:prstGeom>
          <a:noFill/>
          <a:ln w="12700">
            <a:solidFill>
              <a:srgbClr val="D9E0EA"/>
            </a:solidFill>
            <a:prstDash val="solid"/>
          </a:ln>
        </p:spPr>
      </p:sp>
      <p:sp>
        <p:nvSpPr>
          <p:cNvPr id="17" name="Text 13"/>
          <p:cNvSpPr txBox="1"/>
          <p:nvPr/>
        </p:nvSpPr>
        <p:spPr>
          <a:xfrm>
            <a:off x="2514600" y="3945392"/>
            <a:ext cx="8991295" cy="7772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沿路把「體積被壓縮了多少」累加起來，就是 likelihood。</a:t>
            </a:r>
            <a:endParaRPr lang="en-US" sz="1500" dirty="0"/>
          </a:p>
        </p:txBody>
      </p:sp>
      <p:sp>
        <p:nvSpPr>
          <p:cNvPr id="18" name="Text 14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§3</a:t>
            </a:r>
            <a:endParaRPr lang="en-US" sz="900" dirty="0"/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tmp/claude-0/-home-claude/c4ae4d00-ecec-599d-99af-5b416eb8503d/scratchpad/build/w2media/slide1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1874520"/>
          </a:xfrm>
          <a:prstGeom prst="rect">
            <a:avLst/>
          </a:prstGeom>
          <a:solidFill>
            <a:srgbClr val="FBFCFE"/>
          </a:solidFill>
          <a:ln w="12700">
            <a:solidFill>
              <a:srgbClr val="FBFCFE"/>
            </a:solidFill>
            <a:prstDash val="solid"/>
          </a:ln>
        </p:spPr>
      </p:sp>
      <p:sp>
        <p:nvSpPr>
          <p:cNvPr id="4" name="Shape 1"/>
          <p:cNvSpPr/>
          <p:nvPr/>
        </p:nvSpPr>
        <p:spPr>
          <a:xfrm>
            <a:off x="0" y="1874520"/>
            <a:ext cx="12191695" cy="274320"/>
          </a:xfrm>
          <a:prstGeom prst="rect">
            <a:avLst/>
          </a:prstGeom>
          <a:solidFill>
            <a:srgbClr val="FBFCFE">
              <a:alpha val="55000"/>
            </a:srgbClr>
          </a:solidFill>
          <a:ln w="12700">
            <a:solidFill>
              <a:srgbClr val="FBFCFE">
                <a:alpha val="0"/>
              </a:srgbClr>
            </a:solidFill>
            <a:prstDash val="solid"/>
          </a:ln>
        </p:spPr>
      </p:sp>
      <p:sp>
        <p:nvSpPr>
          <p:cNvPr id="5" name="Text 2"/>
          <p:cNvSpPr txBox="1"/>
          <p:nvPr/>
        </p:nvSpPr>
        <p:spPr>
          <a:xfrm>
            <a:off x="548640" y="182880"/>
            <a:ext cx="11094415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常聽到：「線性路徑的軌跡比較直，所以少步數就能取樣。」</a:t>
            </a:r>
            <a:endParaRPr lang="en-US" sz="2400" dirty="0"/>
          </a:p>
          <a:p>
            <a:pPr algn="ctr" indent="0" marL="0">
              <a:lnSpc>
                <a:spcPct val="120000"/>
              </a:lnSpc>
              <a:spcAft>
                <a:spcPts val="200"/>
              </a:spcAft>
              <a:buNone/>
            </a:pPr>
            <a:r>
              <a:rPr lang="en-US" sz="2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 可以直接量彎曲度——這個說法在什麼意義下成立？</a:t>
            </a:r>
            <a:endParaRPr lang="en-US" sz="2400" dirty="0"/>
          </a:p>
        </p:txBody>
      </p:sp>
      <p:sp>
        <p:nvSpPr>
          <p:cNvPr id="6" name="Text 3"/>
          <p:cNvSpPr txBox="1"/>
          <p:nvPr/>
        </p:nvSpPr>
        <p:spPr>
          <a:xfrm>
            <a:off x="914400" y="1417320"/>
            <a:ext cx="103628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</a:t>
            </a:r>
            <a:endParaRPr lang="en-US" sz="1500" dirty="0"/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先量，再算：在這裡，線性路徑反而比較彎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1078992"/>
            <a:ext cx="11277295" cy="4114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F59E0B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雙月 toy：彎曲度 線性 2.1 vs VP 1.5；8 步 Euler 線性誤差較大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645920"/>
            <a:ext cx="960120" cy="53191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t = 0</a:t>
            </a:r>
            <a:endParaRPr lang="en-US" sz="1500" dirty="0"/>
          </a:p>
        </p:txBody>
      </p:sp>
      <p:pic>
        <p:nvPicPr>
          <p:cNvPr id="5" name="Image 0" descr="/tmp/claude-0/-home-claude/c4ae4d00-ecec-599d-99af-5b416eb8503d/scratchpad/build/math/b25e4a439886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54480" y="1737360"/>
            <a:ext cx="6026227" cy="34903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174175" y="1738143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7" name="Text 4"/>
          <p:cNvSpPr txBox="1"/>
          <p:nvPr/>
        </p:nvSpPr>
        <p:spPr>
          <a:xfrm>
            <a:off x="9265615" y="1738143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獨立配對：x₁ 與起點無關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2232702"/>
            <a:ext cx="11094415" cy="72123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每顆粒子一開始都朝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資料的平均位置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89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衝，之後才分岔到各個 mode——一去一回，當然彎。VP 的 σ̇₀ = 0，起步是整片平移，沒有那個 −x。</a:t>
            </a:r>
            <a:endParaRPr lang="en-US" sz="1890" dirty="0"/>
          </a:p>
        </p:txBody>
      </p:sp>
      <p:sp>
        <p:nvSpPr>
          <p:cNvPr id="9" name="Text 6"/>
          <p:cNvSpPr txBox="1"/>
          <p:nvPr/>
        </p:nvSpPr>
        <p:spPr>
          <a:xfrm>
            <a:off x="548640" y="3008799"/>
            <a:ext cx="960120" cy="1045445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5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可量的</a:t>
            </a:r>
            <a:endParaRPr lang="en-US" sz="1500" dirty="0"/>
          </a:p>
        </p:txBody>
      </p:sp>
      <p:pic>
        <p:nvPicPr>
          <p:cNvPr id="10" name="Image 1" descr="/tmp/claude-0/-home-claude/c4ae4d00-ecec-599d-99af-5b416eb8503d/scratchpad/build/math/b2f653419201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3140343"/>
            <a:ext cx="7391095" cy="78235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9174175" y="3357785"/>
            <a:ext cx="2651760" cy="347472"/>
          </a:xfrm>
          <a:prstGeom prst="roundRect">
            <a:avLst>
              <a:gd name="adj" fmla="val 50000"/>
            </a:avLst>
          </a:prstGeom>
          <a:solidFill>
            <a:srgbClr val="F1F3F6"/>
          </a:solidFill>
          <a:ln w="12700">
            <a:solidFill>
              <a:srgbClr val="F1F3F6"/>
            </a:solidFill>
            <a:prstDash val="solid"/>
          </a:ln>
        </p:spPr>
      </p:sp>
      <p:sp>
        <p:nvSpPr>
          <p:cNvPr id="12" name="Text 8"/>
          <p:cNvSpPr txBox="1"/>
          <p:nvPr/>
        </p:nvSpPr>
        <p:spPr>
          <a:xfrm>
            <a:off x="9265615" y="3357785"/>
            <a:ext cx="2468880" cy="34747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050" dirty="0">
                <a:solidFill>
                  <a:srgbClr val="5E5E5E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U3.2 會證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48640" y="5715000"/>
            <a:ext cx="11094415" cy="777240"/>
          </a:xfrm>
          <a:prstGeom prst="roundRect">
            <a:avLst>
              <a:gd name="adj" fmla="val 11765"/>
            </a:avLst>
          </a:prstGeom>
          <a:solidFill>
            <a:srgbClr val="FAF5FF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4" name="Text 10"/>
          <p:cNvSpPr txBox="1"/>
          <p:nvPr/>
        </p:nvSpPr>
        <p:spPr>
          <a:xfrm>
            <a:off x="731520" y="5760720"/>
            <a:ext cx="10728655" cy="6858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「線性比較直」成立於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條件路徑</a:t>
            </a:r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350" b="1" dirty="0">
                <a:solidFill>
                  <a:srgbClr val="7C3AE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；條件直 ≠ 邊際直（平均把交叉方向抵消了）。相信可量的那個積分，不要用框架的名字推論。</a:t>
            </a:r>
            <a:endParaRPr lang="en-US" sz="1350" dirty="0"/>
          </a:p>
        </p:txBody>
      </p:sp>
      <p:sp>
        <p:nvSpPr>
          <p:cNvPr id="15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Q1</a:t>
            </a:r>
            <a:endParaRPr lang="en-US" sz="900" dirty="0"/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這件事不能用框架的名字來推論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歸因要控制住其他三個旋鈕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「FM 的 FID 更低」——路徑、配對、加權、起點是哪一個換了？很容易把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加權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的效果誤記在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路徑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頭上。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那為什麼文獻說線性路徑少步更好？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79312" y="1752600"/>
            <a:ext cx="520888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高維、訓練出來的網路、加權混在一起（附錄 Details）。在 2D 精確場上量到的是相反的方向——照實測寫，並說明差異來自哪個設定。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U2.4 Q1 ＋ Details</a:t>
            </a:r>
            <a:endParaRPr lang="en-US" sz="90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U2.5 實作：同一個 toy，只動兩行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3291840"/>
          </a:xfrm>
          <a:prstGeom prst="roundRect">
            <a:avLst>
              <a:gd name="adj" fmla="val 3333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x0 = torch.randn(B, 2)          # 噪聲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x1 = sample_moons(B)            # 資料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 = torch.rand(B, 1)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xt = t * x1 + (1 - t) * x0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loss = ((model(xt, t) - (x1 - x0)) ** 2).mean()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loss.backward(); opt.step(); opt.zero_grad()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euler_sample(x, n):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 = 1.0 / n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k in range(n):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 = x + h * model(x, torch.full((B,1), k*h))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x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3291840"/>
          </a:xfrm>
          <a:prstGeom prst="roundRect">
            <a:avLst>
              <a:gd name="adj" fmla="val 3333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會看到的事情是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loss 停在 &gt;0 而且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比上單元大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——L_CFM 多一個條件變異數常數。看它停住後是否還慢慢下降。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860548"/>
            <a:ext cx="3815791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換框架在程式裡只是換兩行；換掉的是那兩行背後的設計自由度。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U2.5 步驟 1–2</a:t>
            </a:r>
            <a:endParaRPr lang="en-US" sz="90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a：DDIM 與 FM 的軌跡並排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設定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20888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固定 32 個起點、步數 {10, 50, 1000}；左 DDIM（U1 模型）、右 FM。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233008" y="1234440"/>
            <a:ext cx="550148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397600" y="1362456"/>
            <a:ext cx="517230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會看到的事情是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6379312" y="1752600"/>
            <a:ext cx="520888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兩個月牙中間那一塊特別彎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——條件直線交叉最密的地方。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6379312" y="2554224"/>
            <a:ext cx="520888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那到底哪一條路徑比較好走？能不能量出來，而不是看圖猜？</a:t>
            </a:r>
            <a:endParaRPr lang="en-US" sz="1900" dirty="0"/>
          </a:p>
        </p:txBody>
      </p:sp>
      <p:sp>
        <p:nvSpPr>
          <p:cNvPr id="10" name="Text 8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U2.5 步驟 2</a:t>
            </a:r>
            <a:endParaRPr lang="en-US" sz="900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b：從 log-log 圖上分開讀「斜率」與「高度」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035040" cy="39319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4" name="Image 0" descr="/mnt/user-data/uploads/site/src/content/notes/research-areas/diffusion-models-and-their-applications/week-4/imgs/w4-5-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" y="1389888"/>
            <a:ext cx="5568696" cy="3712464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66560" y="1280160"/>
            <a:ext cx="4967935" cy="1188720"/>
          </a:xfrm>
          <a:prstGeom prst="roundRect">
            <a:avLst>
              <a:gd name="adj" fmla="val 923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6903720" y="13898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斜率 ＝ 取樣器的階數</a:t>
            </a:r>
            <a:endParaRPr lang="en-US" sz="1400" dirty="0"/>
          </a:p>
        </p:txBody>
      </p:sp>
      <p:sp>
        <p:nvSpPr>
          <p:cNvPr id="7" name="Text 4"/>
          <p:cNvSpPr txBox="1"/>
          <p:nvPr/>
        </p:nvSpPr>
        <p:spPr>
          <a:xfrm>
            <a:off x="6885432" y="1712976"/>
            <a:ext cx="4730191" cy="5894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demo（精確速度場）：Euler ≈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−1.05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、Heun ≈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−2.05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540" dirty="0"/>
          </a:p>
        </p:txBody>
      </p:sp>
      <p:sp>
        <p:nvSpPr>
          <p:cNvPr id="8" name="Shape 5"/>
          <p:cNvSpPr/>
          <p:nvPr/>
        </p:nvSpPr>
        <p:spPr>
          <a:xfrm>
            <a:off x="6766560" y="2651760"/>
            <a:ext cx="4967935" cy="1188720"/>
          </a:xfrm>
          <a:prstGeom prst="roundRect">
            <a:avLst>
              <a:gd name="adj" fmla="val 9231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903720" y="27614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高度 ＝ 路徑的彎曲程度</a:t>
            </a:r>
            <a:endParaRPr lang="en-US" sz="1400" dirty="0"/>
          </a:p>
        </p:txBody>
      </p:sp>
      <p:sp>
        <p:nvSpPr>
          <p:cNvPr id="10" name="Text 7"/>
          <p:cNvSpPr txBox="1"/>
          <p:nvPr/>
        </p:nvSpPr>
        <p:spPr>
          <a:xfrm>
            <a:off x="6885432" y="3084576"/>
            <a:ext cx="4730191" cy="58948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斜率同、線性高出 VP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兩到三倍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54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。不要拿單一步數下的數字比較。</a:t>
            </a:r>
            <a:endParaRPr lang="en-US" sz="1540" dirty="0"/>
          </a:p>
        </p:txBody>
      </p:sp>
      <p:sp>
        <p:nvSpPr>
          <p:cNvPr id="11" name="Shape 8"/>
          <p:cNvSpPr/>
          <p:nvPr/>
        </p:nvSpPr>
        <p:spPr>
          <a:xfrm>
            <a:off x="6766560" y="4023360"/>
            <a:ext cx="4967935" cy="1188720"/>
          </a:xfrm>
          <a:prstGeom prst="roundRect">
            <a:avLst>
              <a:gd name="adj" fmla="val 9231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6903720" y="4133088"/>
            <a:ext cx="46936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兩個技術細節</a:t>
            </a:r>
            <a:endParaRPr lang="en-US" sz="1400" dirty="0"/>
          </a:p>
        </p:txBody>
      </p:sp>
      <p:sp>
        <p:nvSpPr>
          <p:cNvPr id="13" name="Text 10"/>
          <p:cNvSpPr txBox="1"/>
          <p:nvPr/>
        </p:nvSpPr>
        <p:spPr>
          <a:xfrm>
            <a:off x="6885432" y="4456176"/>
            <a:ext cx="4730191" cy="76276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只積到 t = 0.9（σₜ → 0 太陡蓋掉階數訊號）；誤差用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中位數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4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——分岔選錯邊的樣本有 O(1) 誤差，那不是離散化。</a:t>
            </a:r>
            <a:endParaRPr lang="en-US" sz="1400" dirty="0"/>
          </a:p>
        </p:txBody>
      </p:sp>
      <p:sp>
        <p:nvSpPr>
          <p:cNvPr id="14" name="Shape 11"/>
          <p:cNvSpPr/>
          <p:nvPr/>
        </p:nvSpPr>
        <p:spPr>
          <a:xfrm>
            <a:off x="457200" y="5349240"/>
            <a:ext cx="11277295" cy="1051560"/>
          </a:xfrm>
          <a:prstGeom prst="roundRect">
            <a:avLst>
              <a:gd name="adj" fmla="val 8696"/>
            </a:avLst>
          </a:prstGeom>
          <a:solidFill>
            <a:srgbClr val="EAF4FD"/>
          </a:solidFill>
          <a:ln w="12700">
            <a:solidFill>
              <a:srgbClr val="D9E0EA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594360" y="5422392"/>
            <a:ext cx="11002975" cy="90525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25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量收斂階數之前，先確認你量的是離散化誤差，不是分岔選錯邊。</a:t>
            </a:r>
            <a:endParaRPr lang="en-US" sz="1250" dirty="0"/>
          </a:p>
        </p:txBody>
      </p:sp>
      <p:sp>
        <p:nvSpPr>
          <p:cNvPr id="16" name="Text 13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imgs/w4-5-1.png · demo w4-5-steps</a:t>
            </a:r>
            <a:endParaRPr lang="en-US" sz="900" dirty="0"/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圖 c：不重訓的轉換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80160"/>
            <a:ext cx="6949440" cy="2606040"/>
          </a:xfrm>
          <a:prstGeom prst="roundRect">
            <a:avLst>
              <a:gd name="adj" fmla="val 4211"/>
            </a:avLst>
          </a:prstGeom>
          <a:solidFill>
            <a:srgbClr val="161F28"/>
          </a:solidFill>
          <a:ln w="12700">
            <a:solidFill>
              <a:srgbClr val="161F28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40080" y="1417320"/>
            <a:ext cx="658368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to_ddpm_step(t):            # FM t∈[0,1] → DDPM 步數 s（反向！）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round((1 - t) * (T - 1))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eps_to_velocity(x, t, eps_model):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 = to_ddpm_step(t)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a, sg = vp_alpha(s), vp_sigma(s)        # (√ᾱ_s, √(1−ᾱ_s))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da, ds = vp_alpha_dot(s), vp_sigma_dot(s)
</a:t>
            </a:r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E6EDF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eps = eps_model(x, s)
</a:t>
            </a:r>
            <a:pPr indent="0" marL="0">
              <a:lnSpc>
                <a:spcPct val="120000"/>
              </a:lnSpc>
              <a:buNone/>
            </a:pPr>
            <a:r>
              <a:rPr lang="en-US" sz="1200" b="1" dirty="0">
                <a:solidFill>
                  <a:srgbClr val="FFD28A"/>
                </a:solidFill>
                <a:highlight>
                  <a:srgbClr val="3A2E14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(da / a) * (x - sg * eps) + ds * eps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7680960" y="1280160"/>
            <a:ext cx="4053535" cy="2606040"/>
          </a:xfrm>
          <a:prstGeom prst="roundRect">
            <a:avLst>
              <a:gd name="adj" fmla="val 4211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7818120" y="1408176"/>
            <a:ext cx="3779215" cy="28651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14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注意它是反向的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99832" y="1740408"/>
            <a:ext cx="3815791" cy="63642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 t = 1 對到 s = 0（ᾱ₀ = 1）；FM t = 0 對到 s = T。</a:t>
            </a:r>
            <a:endParaRPr lang="en-US" sz="1680" dirty="0"/>
          </a:p>
        </p:txBody>
      </p:sp>
      <p:sp>
        <p:nvSpPr>
          <p:cNvPr id="8" name="Text 6"/>
          <p:cNvSpPr txBox="1"/>
          <p:nvPr/>
        </p:nvSpPr>
        <p:spPr>
          <a:xfrm>
            <a:off x="7799832" y="2468270"/>
            <a:ext cx="3815791" cy="1199693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最後一行就是 U2.4 的轉換式。載入 U1 的 ε_θ、用 VP 的 (αₜ, σₜ)，跑 FM 的 ODE 取樣器——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與 DDIM 50 步幾乎重合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68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。</a:t>
            </a:r>
            <a:endParaRPr lang="en-US" sz="168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U2.5 步驟 4</a:t>
            </a:r>
            <a:endParaRPr lang="en-US" sz="900" dirty="0"/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28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Q1：U1 的模型是不是也能直接拿去用線性路徑的 FM 取樣器？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3013275"/>
          </a:xfrm>
          <a:prstGeom prst="roundRect">
            <a:avLst>
              <a:gd name="adj" fmla="val 4248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不行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0287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ε_θ 學的是 𝔼[ε | xₜ]，只在 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VP 族的 pₜ 上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見過資料。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3013275"/>
          </a:xfrm>
          <a:prstGeom prst="roundRect">
            <a:avLst>
              <a:gd name="adj" fmla="val 4248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算給你看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4472330" y="1752600"/>
            <a:ext cx="3247034" cy="463623"/>
          </a:xfrm>
          <a:prstGeom prst="roundRect">
            <a:avLst>
              <a:gd name="adj" fmla="val 15778"/>
            </a:avLst>
          </a:prstGeom>
          <a:solidFill>
            <a:srgbClr val="FFFFFF"/>
          </a:solidFill>
          <a:ln w="12700">
            <a:solidFill>
              <a:srgbClr val="D9E0EA"/>
            </a:solidFill>
            <a:prstDash val="solid"/>
          </a:ln>
        </p:spPr>
      </p:sp>
      <p:pic>
        <p:nvPicPr>
          <p:cNvPr id="9" name="Image 0" descr="/tmp/claude-0/-home-claude/c4ae4d00-ecec-599d-99af-5b416eb8503d/scratchpad/build/math/4d4cb1f6d5d2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3770" y="1856987"/>
            <a:ext cx="3064154" cy="254849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4454042" y="2307663"/>
            <a:ext cx="3283610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線性路徑中間 ‖xₜ‖ 明顯縮小；VP 在 α² + σ² = 1 上大致固定。同一個 t，訊噪比與點的分布都不一樣——餵進去等於問一個沒見過的分布。</a:t>
            </a:r>
            <a:endParaRPr lang="en-US" sz="1900" dirty="0"/>
          </a:p>
        </p:txBody>
      </p:sp>
      <p:sp>
        <p:nvSpPr>
          <p:cNvPr id="11" name="Shape 8"/>
          <p:cNvSpPr/>
          <p:nvPr/>
        </p:nvSpPr>
        <p:spPr>
          <a:xfrm>
            <a:off x="8158277" y="1234440"/>
            <a:ext cx="3576218" cy="3013275"/>
          </a:xfrm>
          <a:prstGeom prst="roundRect">
            <a:avLst>
              <a:gd name="adj" fmla="val 4248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2" name="Text 9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所以 U2.4 為什麼分四個旋鈕</a:t>
            </a:r>
            <a:endParaRPr lang="en-US" sz="1600" dirty="0"/>
          </a:p>
        </p:txBody>
      </p:sp>
      <p:sp>
        <p:nvSpPr>
          <p:cNvPr id="13" name="Text 10"/>
          <p:cNvSpPr txBox="1"/>
          <p:nvPr/>
        </p:nvSpPr>
        <p:spPr>
          <a:xfrm>
            <a:off x="8304581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能事後換的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：取樣器、座標。
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不能事後換的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：起點、路徑、配對、加權——路徑是訓練時就寫進模型裡的東西。</a:t>
            </a:r>
            <a:endParaRPr lang="en-US" sz="1900" dirty="0"/>
          </a:p>
        </p:txBody>
      </p:sp>
      <p:sp>
        <p:nvSpPr>
          <p:cNvPr id="14" name="Text 1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U2.5 Q1</a:t>
            </a:r>
            <a:endParaRPr lang="en-US" sz="900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作業（U2）與 U1–U2 作業候選</a:t>
            </a:r>
            <a:endParaRPr lang="en-US" sz="3200" dirty="0"/>
          </a:p>
        </p:txBody>
      </p:sp>
      <p:graphicFrame>
        <p:nvGraphicFramePr>
          <p:cNvPr id="6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6400800"/>
                <a:gridCol w="4325112"/>
              </a:tblGrid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#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要看什麼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非 Gaussian 起點：[−2, 2]² 均勻 → 月牙（diffusion 那一側做不到）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只改一行能不能跑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 ~ logit-normal(0, 1)（SD3）重訓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分箱 loss、圖 b 高度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3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VP 路徑寫成 (αₜ, σₜ) = (sin πt/2, cos πt/2) 重跑圖 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斜率不變、高度變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4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Heun 取樣器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斜率 −2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5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Hutchinson 估 log p₁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與精確值比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192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候選 A／B／C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有限步急救室／幫生成模型鋪路／短訓練預算分診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Week 5（10/08）前擇一交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U2.5 作業 · dma-u1-u2-homework-a/b/c</a:t>
            </a:r>
            <a:endParaRPr lang="en-US" sz="900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消化一下</a:t>
            </a:r>
            <a:endParaRPr lang="en-US" sz="3200" dirty="0"/>
          </a:p>
        </p:txBody>
      </p:sp>
      <p:graphicFrame>
        <p:nvGraphicFramePr>
          <p:cNvPr id="6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325880"/>
          <a:ext cx="11277295" cy="914400"/>
        </p:xfrm>
        <a:graphic>
          <a:graphicData uri="http://schemas.openxmlformats.org/drawingml/2006/table">
            <a:tbl>
              <a:tblPr/>
              <a:tblGrid>
                <a:gridCol w="3291840"/>
                <a:gridCol w="1920240"/>
                <a:gridCol w="2377440"/>
                <a:gridCol w="2377440"/>
                <a:gridCol w="1307592"/>
              </a:tblGrid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題目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A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B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C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D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2F7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FM 慣例下，t = 0.9 的 xₜ 比較接近？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噪聲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資料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兩者中間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無法判斷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L_FM 與 L_CFM 的關係？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loss 值相等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梯度相同、loss 差一個常數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只有最小值相同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無關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線性 FM 均勻抽 t，換到 ε 座標的權重是？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均勻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t²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1/t²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1/t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0E2F74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「線性路徑的邊際軌跡是直的」？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對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只在高維成立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不對：獨立配對下一般是彎的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F2733"/>
                          </a:solidFill>
                          <a:latin typeface="Microsoft JhengHei" pitchFamily="34" charset="0"/>
                          <a:ea typeface="Microsoft JhengHei" pitchFamily="34" charset="-122"/>
                          <a:cs typeface="Microsoft JhengHei" pitchFamily="34" charset="-120"/>
                        </a:rPr>
                        <a:t>取決於網路</a:t>
                      </a:r>
                      <a:endParaRPr lang="en-US" sz="1200" dirty="0"/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9E0E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4FD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FM 建起來了；剩下的問題全部指向同一個地方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6219073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5889889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這個單元做了什麼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5926465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先設計中間分布再找速度場；用 conditional trick 證明條件目標可以訓（梯度相同）；代入直線得到 target = x₁ − x₀；證明 Gaussian 路徑上 FM 與 diffusion 是同一條 ODE；把差異分到四個旋鈕。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6950593" y="1234440"/>
            <a:ext cx="4783902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7115185" y="1362456"/>
            <a:ext cx="4454718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留下的問題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7096897" y="1752600"/>
            <a:ext cx="4491294" cy="166573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軌跡為什麼彎、彎多少、怎麼拉直、噪聲該不該加回去。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endParaRPr lang="en-US" sz="1900" dirty="0"/>
          </a:p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下一個單元從一個把兩個框架都裝得進去的式子開始：xₜ = αₜx₀ + βₜx₁ + γₜz。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365760" y="6528816"/>
            <a:ext cx="11460175" cy="274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r" indent="0" marL="0">
              <a:lnSpc>
                <a:spcPct val="125000"/>
              </a:lnSpc>
              <a:spcAft>
                <a:spcPts val="200"/>
              </a:spcAft>
              <a:buNone/>
            </a:pPr>
            <a:r>
              <a:rPr lang="en-US" sz="900" dirty="0">
                <a:solidFill>
                  <a:srgbClr val="9AA3AD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Bridge → U3</a:t>
            </a:r>
            <a:endParaRPr lang="en-US" sz="900" dirty="0"/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11277295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32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課程叮嚀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457200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EAF4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621792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下次上課前</a:t>
            </a:r>
            <a:endParaRPr lang="en-US" sz="1600" dirty="0"/>
          </a:p>
        </p:txBody>
      </p:sp>
      <p:sp>
        <p:nvSpPr>
          <p:cNvPr id="5" name="Text 3"/>
          <p:cNvSpPr txBox="1"/>
          <p:nvPr/>
        </p:nvSpPr>
        <p:spPr>
          <a:xfrm>
            <a:off x="603504" y="1752600"/>
            <a:ext cx="3283610" cy="1347216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先讀 U3 七篇；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注意 U3 的 α、β 記號和本單元不同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（U2 的 (α, σ) ＝ U3 的 (β, α)）。</a:t>
            </a:r>
            <a:endParaRPr lang="en-US" sz="1900" dirty="0"/>
          </a:p>
        </p:txBody>
      </p:sp>
      <p:sp>
        <p:nvSpPr>
          <p:cNvPr id="6" name="Shape 4"/>
          <p:cNvSpPr/>
          <p:nvPr/>
        </p:nvSpPr>
        <p:spPr>
          <a:xfrm>
            <a:off x="4307738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2EEFD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4472330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作業一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4454042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b="1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Week 5（10/08）上課前</a:t>
            </a:r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截止；三個候選題目擇一。</a:t>
            </a:r>
            <a:endParaRPr lang="en-US" sz="1900" dirty="0"/>
          </a:p>
        </p:txBody>
      </p:sp>
      <p:sp>
        <p:nvSpPr>
          <p:cNvPr id="9" name="Shape 7"/>
          <p:cNvSpPr/>
          <p:nvPr/>
        </p:nvSpPr>
        <p:spPr>
          <a:xfrm>
            <a:off x="8158277" y="1234440"/>
            <a:ext cx="3576218" cy="2866644"/>
          </a:xfrm>
          <a:prstGeom prst="roundRect">
            <a:avLst>
              <a:gd name="adj" fmla="val 4466"/>
            </a:avLst>
          </a:prstGeom>
          <a:solidFill>
            <a:srgbClr val="FEF6E9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322869" y="1362456"/>
            <a:ext cx="3247034" cy="316992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15000"/>
              </a:lnSpc>
              <a:spcAft>
                <a:spcPts val="200"/>
              </a:spcAft>
              <a:buNone/>
            </a:pPr>
            <a:r>
              <a:rPr lang="en-US" sz="1600" b="1" dirty="0">
                <a:solidFill>
                  <a:srgbClr val="0E2F74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NTU COOL</a:t>
            </a:r>
            <a:endParaRPr lang="en-US" sz="1600" dirty="0"/>
          </a:p>
        </p:txBody>
      </p:sp>
      <p:sp>
        <p:nvSpPr>
          <p:cNvPr id="11" name="Text 9"/>
          <p:cNvSpPr txBox="1"/>
          <p:nvPr/>
        </p:nvSpPr>
        <p:spPr>
          <a:xfrm>
            <a:off x="8304581" y="1752600"/>
            <a:ext cx="3283610" cy="710184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algn="l" indent="0" marL="0">
              <a:lnSpc>
                <a:spcPct val="130000"/>
              </a:lnSpc>
              <a:spcAft>
                <a:spcPts val="200"/>
              </a:spcAft>
              <a:buNone/>
            </a:pPr>
            <a:r>
              <a:rPr lang="en-US" sz="1900" dirty="0">
                <a:solidFill>
                  <a:srgbClr val="1F2733"/>
                </a:solidFill>
                <a:latin typeface="Microsoft JhengHei" pitchFamily="34" charset="0"/>
                <a:ea typeface="Microsoft JhengHei" pitchFamily="34" charset="-122"/>
                <a:cs typeface="Microsoft JhengHei" pitchFamily="34" charset="-120"/>
              </a:rPr>
              <a:t>教材有錯或有問題，直接在 NTU COOL 上討論。</a:t>
            </a:r>
            <a:endParaRPr lang="en-US" sz="1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64</Slides>
  <Notes>64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64</vt:i4>
      </vt:variant>
    </vt:vector>
  </HeadingPairs>
  <TitlesOfParts>
    <vt:vector size="6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U2 Flow Matching</dc:title>
  <dc:subject>PptxGenJS Presentation</dc:subject>
  <dc:creator>Shih-Hsin Wang</dc:creator>
  <cp:lastModifiedBy>Shih-Hsin Wang</cp:lastModifiedBy>
  <cp:revision>1</cp:revision>
  <dcterms:created xsi:type="dcterms:W3CDTF">2026-09-20T16:58:51Z</dcterms:created>
  <dcterms:modified xsi:type="dcterms:W3CDTF">2026-09-20T16:58:51Z</dcterms:modified>
</cp:coreProperties>
</file>