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notesMasterIdLst>
    <p:notesMasterId r:id="rId8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notesMaster" Target="notesMasters/notesMaster1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 3 分鐘。三個懸案各自來自不同的篇，先把它們對到三軸。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7280" y="1325880"/>
            <a:ext cx="9997135" cy="3200400"/>
          </a:xfrm>
          <a:prstGeom prst="roundRect">
            <a:avLst>
              <a:gd name="adj" fmla="val 5714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371600" y="1554480"/>
            <a:ext cx="9448495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4000" b="1" dirty="0">
                <a:solidFill>
                  <a:srgbClr val="0016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 Stochastic Interpolants：</a:t>
            </a:r>
            <a:endParaRPr lang="en-US" sz="4000" dirty="0"/>
          </a:p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4000" b="1" dirty="0">
                <a:solidFill>
                  <a:srgbClr val="0016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一個式子，五個旋鈕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3154680"/>
            <a:ext cx="9448495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20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Diffusion Models and Their Applications · Week 5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3794760"/>
            <a:ext cx="9448495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把「彎」寫成一個數 · 拉直的兩條路 · 取樣器是一整族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前面兩個單元留下三個懸案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4687824"/>
          </a:xfrm>
          <a:prstGeom prst="roundRect">
            <a:avLst>
              <a:gd name="adj" fmla="val 358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三個沒交代的事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2939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軌跡彎多少，怎麼變成一個數？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U2.4 寫出 h∫‖ẍₜ‖dt，但沒證它壓得住誤差。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怎麼把軌跡拉直？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U2.3 把「彎」追到「配對」，但沒給做法。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取樣時該不該把噴聲加回去？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U1.4 給了判準，沒給可以連續調的旋鈕。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4687824"/>
          </a:xfrm>
          <a:prstGeom prst="roundRect">
            <a:avLst>
              <a:gd name="adj" fmla="val 358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歸到三軸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72330" y="1752600"/>
            <a:ext cx="3247034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5482" y="1770888"/>
            <a:ext cx="3100730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懸案 1、2 → forward 旋鈕裡的</a:t>
            </a:r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</a:t>
            </a:r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</a:t>
            </a:r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72330" y="2504694"/>
            <a:ext cx="3247034" cy="403479"/>
          </a:xfrm>
          <a:prstGeom prst="roundRect">
            <a:avLst>
              <a:gd name="adj" fmla="val 1359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45482" y="2522982"/>
            <a:ext cx="3100730" cy="3669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懸案 3 → </a:t>
            </a:r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取樣器</a:t>
            </a:r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，一個新的旋鈕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54042" y="2999613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這個單元先給一個把前兩個寫在臉上的式子（U3.0），取樣旋鈕留到 U3.1。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158277" y="1234440"/>
            <a:ext cx="3576218" cy="4687824"/>
          </a:xfrm>
          <a:prstGeom prst="roundRect">
            <a:avLst>
              <a:gd name="adj" fmla="val 358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這個單元的七篇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04581" y="1752600"/>
            <a:ext cx="3283610" cy="3895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U3.0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一個式子裝下前面兩個單元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U3.1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取樣器不只一個，是一整族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U3.2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把「彎」寫成一個算得出來的數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U3.3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拉直（一）：Reflow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U3.4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拉直（二）：Minibatch OT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U3.5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共用技巧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U3.6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實作：把曲率積分畫成一條線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這個單元再換一次字母——先看這張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023360"/>
                <a:gridCol w="5148072"/>
              </a:tblGrid>
              <a:tr h="594360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Unit 2（Flow Matching）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Unit 3（Stochastic Interpolants）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中間點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xₜ = αₜ x₁ + σₜ x₀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xₜ = αₜ x₀ + βₜ x₁ + γₜ z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資料的係數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αₜ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βₜ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起點的係數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σₜ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αₜ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額外噴聲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γₜ z，z ~ N(0, I) 獨立；γ₀ = γ₁ = 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資料在哪一端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x₁，t = 1（同）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x₁，t = 1（同）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取樣旋鈕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沒有（只解 ODE）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εₜ（U3.1）；注意 εₜ ≠ 噴聲 ε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 的 (αₜ, σₜ) ＝ U3 的 (βₜ, αₜ)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。這個單元沿用 Albergo 等人的寫法：αₜ 是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的係數。讀論文先確認哪個字母配哪一端。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U3.0 Remark「符號」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這個單元的三句口號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「彎」是一個數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∫₀¹‖ẍₜ‖dt——Euler 全域誤差的高度。reflow 與 minibatch OT 真正在壓小的量。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訓練噴聲 ≠ 取樣噴聲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γₜ 決定學得到什麼（有沒有 score）；εₜ 決定怎麼走（有沒有拉回）。四種組合只有一種有修正。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直和厚不能都要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04581" y="1752600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「所有粒子沿確定的直線走」和「中間分布有厚度、偏了可以拉回來」不可能同時成立。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有沒有一個式子，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能把前面兩個單元的所有方法都裝進去？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U3.0 一個式子裝下前面兩個單元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有，而且短得有點意外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0350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mnt/user-data/uploads/site/src/content/notes/research-areas/diffusion-models-and-their-applications/week-5/imgs/w5-0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28750"/>
            <a:ext cx="5815584" cy="36347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280160"/>
            <a:ext cx="4967935" cy="1874520"/>
          </a:xfrm>
          <a:prstGeom prst="roundRect">
            <a:avLst>
              <a:gd name="adj" fmla="val 585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03720" y="1389888"/>
            <a:ext cx="46936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邊界條件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85432" y="1712976"/>
            <a:ext cx="4730191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α₀ = β₁ = 1、α₁ = β₀ = 0、γ₀ = γ₁ = 0——t = 0 人在 x₀、t = 1 人在 x₁，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額外的噴聲在兩端都要被掐掉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766560" y="3337560"/>
            <a:ext cx="4967935" cy="1874520"/>
          </a:xfrm>
          <a:prstGeom prst="roundRect">
            <a:avLst>
              <a:gd name="adj" fmla="val 585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03720" y="3447288"/>
            <a:ext cx="46936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x₀ ≠ z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903720" y="3770376"/>
            <a:ext cx="4693615" cy="382905"/>
          </a:xfrm>
          <a:prstGeom prst="roundRect">
            <a:avLst>
              <a:gd name="adj" fmla="val 1432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76872" y="3788664"/>
            <a:ext cx="4547311" cy="34632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38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x₀：起點分布的樣本，</a:t>
            </a:r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38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可以是任何分布</a:t>
            </a:r>
            <a:endParaRPr lang="en-US" sz="1380" dirty="0"/>
          </a:p>
        </p:txBody>
      </p:sp>
      <p:sp>
        <p:nvSpPr>
          <p:cNvPr id="12" name="Shape 9"/>
          <p:cNvSpPr/>
          <p:nvPr/>
        </p:nvSpPr>
        <p:spPr>
          <a:xfrm>
            <a:off x="6903720" y="4244721"/>
            <a:ext cx="4693615" cy="382905"/>
          </a:xfrm>
          <a:prstGeom prst="roundRect">
            <a:avLst>
              <a:gd name="adj" fmla="val 1432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76872" y="4263009"/>
            <a:ext cx="4547311" cy="34632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38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z：硬加進來的標準 Gaussian，被 γₜ 掐掉</a:t>
            </a:r>
            <a:endParaRPr lang="en-US" sz="1380" dirty="0"/>
          </a:p>
        </p:txBody>
      </p:sp>
      <p:sp>
        <p:nvSpPr>
          <p:cNvPr id="14" name="Text 11"/>
          <p:cNvSpPr txBox="1"/>
          <p:nvPr/>
        </p:nvSpPr>
        <p:spPr>
          <a:xfrm>
            <a:off x="6885432" y="4719066"/>
            <a:ext cx="4730191" cy="2910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2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這兩個很容易看漏成同一個東西。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457200" y="5349240"/>
            <a:ext cx="11277295" cy="1051560"/>
          </a:xfrm>
          <a:prstGeom prst="roundRect">
            <a:avLst>
              <a:gd name="adj" fmla="val 869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5404104"/>
            <a:ext cx="11002975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中心式</a:t>
            </a:r>
            <a:endParaRPr lang="en-US" sz="1200" dirty="0"/>
          </a:p>
        </p:txBody>
      </p:sp>
      <p:pic>
        <p:nvPicPr>
          <p:cNvPr id="17" name="Image 1" descr="/tmp/claude-0/-home-claude/c4ae4d00-ecec-599d-99af-5b416eb8503d/scratchpad/build/math/845e0bab876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525" y="5882112"/>
            <a:ext cx="6252644" cy="24184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U3.0 §1 · imgs/w5-0-1.png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符號對照：這個單元的 α 不是上個單元的 α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023360"/>
                <a:gridCol w="5148072"/>
              </a:tblGrid>
              <a:tr h="594360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Unit 2（Flow Matching）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Unit 3（Stochastic Interpolants）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中間點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xₜ = αₜ x₁ + σₜ x₀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xₜ = αₜ x₀ + βₜ x₁ + γₜ z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資料的係數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αₜ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βₜ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起點的係數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σₜ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αₜ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額外噴聲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γₜ z，z ~ N(0, I) 獨立；γ₀ = γ₁ = 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資料在哪一端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x₁，t = 1（同）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x₁，t = 1（同）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取樣旋鈕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沒有（只解 ODE）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εₜ（U3.1）；注意 εₜ ≠ 噴聲 ε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不然每個式子都會反過來。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U3.0 Remark「符號」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這條式子上有三個可以轉的東西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2288286"/>
          </a:xfrm>
          <a:prstGeom prst="roundRect">
            <a:avLst>
              <a:gd name="adj" fmla="val 559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3916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(αₜ, βₜ) 的形狀。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2288286"/>
          </a:xfrm>
          <a:prstGeom prst="roundRect">
            <a:avLst>
              <a:gd name="adj" fmla="val 5594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配對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π 是 p₀ 與 p₁ 的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任意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耦合，不必是獨立乘積。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2288286"/>
          </a:xfrm>
          <a:prstGeom prst="roundRect">
            <a:avLst>
              <a:gd name="adj" fmla="val 559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γₜ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04581" y="1752600"/>
            <a:ext cx="328361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一項與端點無關的額外 Gaussian，在兩端被掐掉。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" y="3751326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911346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911346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331720" y="3888486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14600" y="3797046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注意這三個不等於 U2.0 的那三個旋鈕。那裡是「起點分布／路徑／配對」；這裡起點被吸收進 π 的一個邊際，換上來的是 γₜ——而 γₜ 是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訓練時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的路徑寬度，取樣要注入多少噴聲是第五個旋鈕（U3.1）。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U3.0 §1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前面學過的東西全部是特例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463040"/>
                <a:gridCol w="1463040"/>
                <a:gridCol w="1828800"/>
                <a:gridCol w="3227832"/>
              </a:tblGrid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模型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αₜ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βₜ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γₜ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π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線性 FM（U2.3）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1 − 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獨立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Rectified flow（U3.3）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1 − 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上一輪 ODE 誘導的耦合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Minibatch OT-CFM（U3.4）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1 − 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batch 內解 OT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VP diffusion（U1），p₀ = N(0, I)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cos(πt/2)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sin(πt/2)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獨立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Albergo 等人的預設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1 − 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√(2t(1−t))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獨立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diffusion 落在 γ = 0 那一行——它的噴聲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就是 x₀ 本身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。一旦把 x₀ 換成別的分布，想保留「中間有 Gaussian 成分」，就得自己掏 γₜ z 來買。中間兩列和線性 FM 只差最後一欄。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U3.0 §2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γₜ z 到底買到了什麼？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678396" cy="3316224"/>
          </a:xfrm>
          <a:prstGeom prst="roundRect">
            <a:avLst>
              <a:gd name="adj" fmla="val 386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349212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先微分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3349212" cy="587822"/>
          </a:xfrm>
          <a:prstGeom prst="roundRect">
            <a:avLst>
              <a:gd name="adj" fmla="val 1244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f674800d5d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57026"/>
            <a:ext cx="3166332" cy="3789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431862"/>
            <a:ext cx="3385788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給定 (x₀, x₁, z) 就算得出來——又是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conditional trick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（U1.3、U2.2 用過兩次）：條件目標好算，平均交給 L₂ 回歸。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409916" y="1234440"/>
            <a:ext cx="3984929" cy="3316224"/>
          </a:xfrm>
          <a:prstGeom prst="roundRect">
            <a:avLst>
              <a:gd name="adj" fmla="val 386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4508" y="1362456"/>
            <a:ext cx="3655745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兩個回歸目標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4508" y="1752600"/>
            <a:ext cx="3655745" cy="452901"/>
          </a:xfrm>
          <a:prstGeom prst="roundRect">
            <a:avLst>
              <a:gd name="adj" fmla="val 1615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1" name="Image 1" descr="/tmp/claude-0/-home-claude/c4ae4d00-ecec-599d-99af-5b416eb8503d/scratchpad/build/math/b8b9771ac1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948" y="1856413"/>
            <a:ext cx="3472865" cy="24527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4508" y="2296941"/>
            <a:ext cx="3655745" cy="452155"/>
          </a:xfrm>
          <a:prstGeom prst="roundRect">
            <a:avLst>
              <a:gd name="adj" fmla="val 1617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2" descr="/tmp/claude-0/-home-claude/c4ae4d00-ecec-599d-99af-5b416eb8503d/scratchpad/build/math/a39e7de0141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948" y="2400745"/>
            <a:ext cx="3472865" cy="2445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56220" y="2840536"/>
            <a:ext cx="3692321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兩個都用 MSE 學，目標分別是 ẋₜ 和 z。訓練迴圈跟 CFM 那五行幾乎一樣，只是多抽一個 z。</a:t>
            </a:r>
            <a:endParaRPr lang="en-US" sz="1900" dirty="0"/>
          </a:p>
        </p:txBody>
      </p:sp>
      <p:sp>
        <p:nvSpPr>
          <p:cNvPr id="15" name="Shape 10"/>
          <p:cNvSpPr/>
          <p:nvPr/>
        </p:nvSpPr>
        <p:spPr>
          <a:xfrm>
            <a:off x="8669165" y="1234440"/>
            <a:ext cx="3065330" cy="3316224"/>
          </a:xfrm>
          <a:prstGeom prst="roundRect">
            <a:avLst>
              <a:gd name="adj" fmla="val 417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833757" y="1362456"/>
            <a:ext cx="2736146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管子比喻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815469" y="1752600"/>
            <a:ext cx="2772722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γₜ z 把每一條條件路徑撐成一根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有寬度的管子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，兩端收緊成點。管子互相重疊，bₜ 又變回一個平均。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815469" y="3509772"/>
            <a:ext cx="2772722" cy="7665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【待生圖】束狀管子：多條細管從左端一點散開、右端收回一點，中段有寬度並互相重疊；無文字。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57200" y="4779264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85800" y="4939284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85800" y="4939284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2331720" y="4916424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2514600" y="4824984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bₜ 就是 U2 的邊際速度 uₜ，只是路徑多帶一項；γ = 0、(α, β) = (1 − t, t) 時 ẋₜ 退回 x₁ − x₀，兩個定義逐字相同。bₜ 生成 pₜ——證明和 CFM 定理 1 逐字相同，多一個積分變數 z。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U3.0 §3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ηₜ 給出 score——這一步是 γₜ 的全部價值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對條件 Gaussian 套 Tweedie，再對 (x₀, x₁) 取後驗平均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61354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條件密度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ddb986eb31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53333"/>
            <a:ext cx="7391095" cy="3987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778957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778957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沒用到 p₀ 是什麼、配對獨不獨立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14329"/>
            <a:ext cx="960120" cy="99298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 score</a:t>
            </a:r>
            <a:endParaRPr lang="en-US" sz="1500" dirty="0"/>
          </a:p>
        </p:txBody>
      </p:sp>
      <p:pic>
        <p:nvPicPr>
          <p:cNvPr id="9" name="Image 1" descr="/tmp/claude-0/-home-claude/c4ae4d00-ecec-599d-99af-5b416eb8503d/scratchpad/build/math/687f4069fc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405769"/>
            <a:ext cx="5952315" cy="81010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74175" y="2637084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65615" y="2637084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− m = γₜ z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554480" y="3389607"/>
            <a:ext cx="5943600" cy="562356"/>
          </a:xfrm>
          <a:prstGeom prst="roundRect">
            <a:avLst>
              <a:gd name="adj" fmla="val 13008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664208" y="3389607"/>
            <a:ext cx="5760720" cy="5623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755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邊際的 score 和條件的 score 是什麼關係？</a:t>
            </a:r>
            <a:endParaRPr lang="en-US" sz="1755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034259"/>
            <a:ext cx="960120" cy="82718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後驗平均</a:t>
            </a:r>
            <a:endParaRPr lang="en-US" sz="1500" dirty="0"/>
          </a:p>
        </p:txBody>
      </p:sp>
      <p:pic>
        <p:nvPicPr>
          <p:cNvPr id="15" name="Image 2" descr="/tmp/claude-0/-home-claude/c4ae4d00-ecec-599d-99af-5b416eb8503d/scratchpad/build/math/b8f2318f8f5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4162736"/>
            <a:ext cx="7391095" cy="57023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74175" y="4274115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265615" y="4274115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∇ 拉進積分、再除 pₜ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553212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9" name="Image 3" descr="/tmp/claude-0/-home-claude/c4ae4d00-ecec-599d-99af-5b416eb8503d/scratchpad/build/math/c89ea0f8244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676229"/>
            <a:ext cx="2666105" cy="67190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949440" y="5577840"/>
            <a:ext cx="460217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整段推導只吃 γₜ z 這一項的 Gaussian 性。這是 conditional trick 的第四欄：難算的邊際量、好算的條件量、一個 L₂ 回歸。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U3.0 Details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2148840"/>
            <a:ext cx="8168335" cy="0"/>
          </a:xfrm>
          <a:prstGeom prst="line">
            <a:avLst/>
          </a:prstGeom>
          <a:noFill/>
          <a:ln w="15875">
            <a:solidFill>
              <a:srgbClr val="D9E0E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2286000"/>
            <a:ext cx="10362895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只要 γₜ &gt; 0，同一個框架就同時給你速度與 score——</a:t>
            </a:r>
            <a:endParaRPr lang="en-US" sz="2800" dirty="0"/>
          </a:p>
          <a:p>
            <a:pPr algn="ctr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不管起點是什麼分布、配對是怎麼配的。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0" y="4434840"/>
            <a:ext cx="8168335" cy="0"/>
          </a:xfrm>
          <a:prstGeom prst="line">
            <a:avLst/>
          </a:prstGeom>
          <a:noFill/>
          <a:ln w="15875">
            <a:solidFill>
              <a:srgbClr val="D9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5486400"/>
            <a:ext cx="9997135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接著問反面：γₜ = 0 的時候，會失去什麼？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U2.3 說：要拉直，得動配對。</a:t>
            </a:r>
            <a:endParaRPr lang="en-US" sz="26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剛剛說：配對一旦變成確定性的，score 就拿不到。</a:t>
            </a:r>
            <a:endParaRPr lang="en-US" sz="26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這兩件事放在一起，是不是互相矛盾？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619695" y="562356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11135" y="5650992"/>
            <a:ext cx="40233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先把話說準：γ ≡ 0 且配對獨立、p₀ 是 Gaussian 時什麼都沒失去——那正是 U1 與 U2.3 的情況。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Q1：不矛盾，但它是一個要付代價的取捨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3095244"/>
          </a:xfrm>
          <a:prstGeom prst="roundRect">
            <a:avLst>
              <a:gd name="adj" fmla="val 413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速度 bₜ 只需要條件期望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23027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條件期望對退化的分布一樣定義得好——極端情況「後驗」只有一個點，平均就是它自己。所以確定性配對之下 bₜ 照樣存在、照樣可以回歸。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rectified flow 訓練起來毫無障礙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，就是這個原因。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3095244"/>
          </a:xfrm>
          <a:prstGeom prst="roundRect">
            <a:avLst>
              <a:gd name="adj" fmla="val 4136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score 需要密度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還需要「給定條件變數之後 xₜ 是非退化 Gaussian」這個結構才能用回歸拿到。確定性配對兩件事都不保證。更糟的情況是 pₜ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連密度都沒有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（下一張 demo 的對徑配對）。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3095244"/>
          </a:xfrm>
          <a:prstGeom prst="roundRect">
            <a:avLst>
              <a:gd name="adj" fmla="val 413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出路與代價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04581" y="1752600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 γₜ z 這筆錢：它把中間分布撐開，管子互相重疊，bₜ 又變回一個平均——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軌跡會被弄彎回來一點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。三個旋鈕不是各轉各的。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" y="4558284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718304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718304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331720" y="4695444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14600" y="4604004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想要直的軌跡 → 動配對 → 失去 score → 只能用 ODE 取樣。想要 score（想用 SDE 取樣）→ 要嘛保留獨立配對，要嘛付 γₜ z 這筆錢。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U3.0 Q1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γₜ 這個旋鈕在做什麼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5-0-gam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9352" y="1389888"/>
            <a:ext cx="3842256" cy="4946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1712976"/>
            <a:ext cx="3998671" cy="1481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起點和終點刻意設成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同一個環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，任何差別都只來自配對。選「對徑配對」（x₁ = −x₀，合法的確定性耦合）、γ = 0，把 t 拉到 0.5：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整個環塌成一個點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，兩個主方向的標準差都是 0.000。</a:t>
            </a:r>
            <a:endParaRPr lang="en-US" sz="1680" dirty="0"/>
          </a:p>
        </p:txBody>
      </p:sp>
      <p:sp>
        <p:nvSpPr>
          <p:cNvPr id="8" name="Shape 5"/>
          <p:cNvSpPr/>
          <p:nvPr/>
        </p:nvSpPr>
        <p:spPr>
          <a:xfrm>
            <a:off x="7498080" y="395478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406450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再試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2" y="4387596"/>
            <a:ext cx="3998671" cy="1481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γ 幅度推上去，同一個 t 變成一團有厚度的雲。再按「同位配對」（x₁ = x₀）：一樣是確定性配對，卻從頭到尾都是那個環。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有可能塌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就足以讓我們不敢依賴密度，但那不等於一定塌。</a:t>
            </a:r>
            <a:endParaRPr lang="en-US" sz="168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w5-0-gamma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手上有兩樣東西，可以怎麼組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訓完之後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3247034" cy="403479"/>
          </a:xfrm>
          <a:prstGeom prst="roundRect">
            <a:avLst>
              <a:gd name="adj" fmla="val 1359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770888"/>
            <a:ext cx="3100730" cy="3669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速度 bₜ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" y="2247519"/>
            <a:ext cx="3247034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" y="2265807"/>
            <a:ext cx="3100730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score sₜ := ∇log pₜ = −ηₜ／γₜ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07738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兩個已知的用法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54042" y="1752600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 只用了前者——解 ODE ẋ = bₜ(x)。</a:t>
            </a:r>
            <a:endParaRPr lang="en-US" sz="1900" dirty="0"/>
          </a:p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U1.4 的 reverse SDE 兩個都用了。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158277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那中間呢？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04581" y="1752600"/>
            <a:ext cx="328361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score 摻進去一點點，會不會走到別的地方？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U3.1 §1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如果把 score 摻進去一點，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會不會走到別的地方？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U3.1 取樣器不只一個，是一整族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答案：不會。對每一個 εₜ ≥ 0，時刻 t 的邊際都是同一個 pₜ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0350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mnt/user-data/uploads/site/src/content/notes/research-areas/diffusion-models-and-their-applications/week-5/imgs/w5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389888"/>
            <a:ext cx="5568696" cy="37124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280160"/>
            <a:ext cx="4967935" cy="1874520"/>
          </a:xfrm>
          <a:prstGeom prst="roundRect">
            <a:avLst>
              <a:gd name="adj" fmla="val 585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03720" y="1389888"/>
            <a:ext cx="46936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一族，中間全部合法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85432" y="1712976"/>
            <a:ext cx="4730191" cy="918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εₜ 是任意非負函數，只跟時間有關。ε ≡ 0 是 U2 的 ODE；εₜ 取某個 schedule 還原 U1.4 的 reverse SDE；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中間任何取法都合法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680" dirty="0"/>
          </a:p>
        </p:txBody>
      </p:sp>
      <p:sp>
        <p:nvSpPr>
          <p:cNvPr id="8" name="Shape 5"/>
          <p:cNvSpPr/>
          <p:nvPr/>
        </p:nvSpPr>
        <p:spPr>
          <a:xfrm>
            <a:off x="6766560" y="3337560"/>
            <a:ext cx="4967935" cy="1874520"/>
          </a:xfrm>
          <a:prstGeom prst="roundRect">
            <a:avLst>
              <a:gd name="adj" fmla="val 585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03720" y="3447288"/>
            <a:ext cx="46936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對回 U1.4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85432" y="3770376"/>
            <a:ext cx="4730191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「PF-ODE 的 score 係數剛好是 reverse SDE 的一半」，講的就是這一族裡兩個特定的點。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457200" y="5349240"/>
            <a:ext cx="11277295" cy="1051560"/>
          </a:xfrm>
          <a:prstGeom prst="roundRect">
            <a:avLst>
              <a:gd name="adj" fmla="val 869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5404104"/>
            <a:ext cx="11002975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中心式</a:t>
            </a:r>
            <a:endParaRPr lang="en-US" sz="1200" dirty="0"/>
          </a:p>
        </p:txBody>
      </p:sp>
      <p:pic>
        <p:nvPicPr>
          <p:cNvPr id="13" name="Image 1" descr="/tmp/claude-0/-home-claude/c4ae4d00-ecec-599d-99af-5b416eb8503d/scratchpad/build/math/7c2d116a21b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495" y="5842559"/>
            <a:ext cx="6652706" cy="32095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U3.1 §2 · imgs/w5-1-1.png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證明只有兩行：Fokker–Planck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多出來的兩項互相抵消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60150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FP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65ff598a12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4558015" cy="4186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772939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772939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SDE 的邊際 ρₜ 滿足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02293"/>
            <a:ext cx="960120" cy="49704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 ρ = pₜ</a:t>
            </a:r>
            <a:endParaRPr lang="en-US" sz="1500" dirty="0"/>
          </a:p>
        </p:txBody>
      </p:sp>
      <p:pic>
        <p:nvPicPr>
          <p:cNvPr id="9" name="Image 1" descr="/tmp/claude-0/-home-claude/c4ae4d00-ecec-599d-99af-5b416eb8503d/scratchpad/build/math/5fa3b58835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393733"/>
            <a:ext cx="3724305" cy="31416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74175" y="237708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65615" y="2377080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關鍵：score 乘密度 = 密度的梯度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554480" y="2881634"/>
            <a:ext cx="5943600" cy="562356"/>
          </a:xfrm>
          <a:prstGeom prst="roundRect">
            <a:avLst>
              <a:gd name="adj" fmla="val 13008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664208" y="2881634"/>
            <a:ext cx="5760720" cy="5623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755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ε 帶來的那兩項加起來是多少？</a:t>
            </a:r>
            <a:endParaRPr lang="en-US" sz="1755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3526286"/>
            <a:ext cx="960120" cy="531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多出的項</a:t>
            </a:r>
            <a:endParaRPr lang="en-US" sz="1500" dirty="0"/>
          </a:p>
        </p:txBody>
      </p:sp>
      <p:pic>
        <p:nvPicPr>
          <p:cNvPr id="15" name="Image 2" descr="/tmp/claude-0/-home-claude/c4ae4d00-ecec-599d-99af-5b416eb8503d/scratchpad/build/math/a5f4d826c35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617726"/>
            <a:ext cx="3764116" cy="34903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74175" y="3618509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265615" y="3618509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互相抵消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113068"/>
            <a:ext cx="11094415" cy="7212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剩下的正是 bₜ 生成 pₜ 的 continuity equation。□   這是整個證明唯一用到「sₜ 是真正的 score」的地方——sₜ 估不準時抵消不完全，ε 越大偏得越多。</a:t>
            </a:r>
            <a:endParaRPr lang="en-US" sz="1890" dirty="0"/>
          </a:p>
        </p:txBody>
      </p:sp>
      <p:sp>
        <p:nvSpPr>
          <p:cNvPr id="19" name="Shape 14"/>
          <p:cNvSpPr/>
          <p:nvPr/>
        </p:nvSpPr>
        <p:spPr>
          <a:xfrm>
            <a:off x="548640" y="553212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Image 3" descr="/tmp/claude-0/-home-claude/c4ae4d00-ecec-599d-99af-5b416eb8503d/scratchpad/build/math/2c5c5d2f23e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617388"/>
            <a:ext cx="2373028" cy="7895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49440" y="5577840"/>
            <a:ext cx="460217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加一點噴聲，再用 score 把樣本往高密度處拉回來。兩件事對邊際的淨效果剛好是零——它不改變分布，只改變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走法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U3.1 §2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Langevin 項：推一把，再拉回來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推一把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√(2εₜ) dWₜ 注入噴聲，保證樣本不會全部塌到峰頂上。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554224"/>
            <a:ext cx="3283610" cy="7665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【待生圖】推一把＋拉回：一顆粒子被隨機推離山脊，再被箭頭沿密度上升方向拉回；無文字。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07738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拉回來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54042" y="1752600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εₜ sₜ 指向 pₜ 密度上升的方向，偏到低密度區的樣本被推回高密度區。兩者平衡時樣本的分布就是 pₜ——Langevin dynamics 的平穩分布。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158277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diffusion 那一側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04581" y="1752600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這就是 DDIM 的 η 家族：η = 0 ↔ ε = 0，η = 1 ↔ 完整 reverse SDE。差別只是那裡用離散步係數寫、這裡用連續 SDE 寫。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U3.1 §2 ＋ Remark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Remark：εₜ 實務上怎麼取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符號卡：這一張的 σₜ 是 U2 記號——噴聲那一端的係數，也就是本單元對照表裡的 αₜ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事實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score 的量級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Tweedie：∇log pₜ = −𝔼[ε | xₜ]／σₜ，分子 O(1) ⇒ score 是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O(1/σₜ)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常見做法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εₜ ∝ σₜ²，讓 εₜ sₜ = O(σₜ)——不只有界，還會在資料那一端自己收掉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demo 的取法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εₜ = c σₜ²，c 是那個滑桿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形狀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兩端收小、中間放大（t → 1 時 score 炸掉是數值理由；t → 0 沒有偏離要修）——這一段是啟發式，不是推導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U3.1 Remark ＋ Details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U3.0 訓練時加了 γₜ z，每個 xₜ 都帶了額外的噴聲。</a:t>
            </a:r>
            <a:endParaRPr lang="en-US" sz="26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這樣訓出來的 FM，是不是就有 U1.4 那種自我修正能力了？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Q1：沒有——四種組合裡只有一種有修正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訓練時的 γₜ 決定學得到什麼；取樣時的 εₜ 決定怎麼走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931920"/>
                <a:gridCol w="4050792"/>
              </a:tblGrid>
              <a:tr h="731520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 ODE 取樣（ε = 0）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 SDE 取樣（ε &gt; 0）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訓練 γ = 0、獨立配對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沒有修正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有修正（score 由 Gaussian 起點給出）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訓練 γ &gt; 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沒有修正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有修正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06240"/>
            <a:ext cx="11277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γ 給的是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選擇權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：沒有 score 就根本寫不出 SDE 取樣器，有了才輪到你選 ε。DDPM 與 DDIM 共用同一個網路，差別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純粹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 ε 取 0 還是不取 0，不是兩個模型。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U3.1 Q1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有修正，不代表更好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3095244"/>
          </a:xfrm>
          <a:prstGeom prst="roundRect">
            <a:avLst>
              <a:gd name="adj" fmla="val 413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噴聲本身是誤差來源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23027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ε &gt; 0 每一步多注入 √(2εh) 量級的噴聲。Euler–Maruyama 弱收斂一階、強收斂只有半階，比 ODE 的一階（Heun 可升到二階）差。ODE 沒這筆成本，代價是誤差一路累積。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3095244"/>
          </a:xfrm>
          <a:prstGeom prst="roundRect">
            <a:avLst>
              <a:gd name="adj" fmla="val 4136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該取多少是取捨，不是正確性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ε 要不要開、開多大，看的是模型誤差有沒有大到值得花這筆噴聲成本。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乾淨的 toy：沒東西可修，ε 只是多帶一份誤差。真實模型：修正才划算。U3.6 會把兩邊都量出來。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3095244"/>
          </a:xfrm>
          <a:prstGeom prst="roundRect">
            <a:avLst>
              <a:gd name="adj" fmla="val 413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修正既不白送也不瞬間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04581" y="1752600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需要足夠大的 ε，也需要足夠的剩餘時間；把「推歪」的時刻往後移，同樣的 c 就救不回來了。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" y="4558284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718304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718304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331720" y="4695444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14600" y="4604004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εₜ 不影響邊際，只影響誤差怎麼累積。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U3.1 §4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同一組邊際，一整族走法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5-1-epsil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0305" y="1389888"/>
            <a:ext cx="3720351" cy="4946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1712976"/>
            <a:ext cx="3998671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c 從 0 拉到 6，軌跡從光滑變抖動，但終點分布與資料的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energy distance 一直停在 0.01 上下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——這就是那個抵消。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498080" y="395478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406450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推歪實驗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2" y="4387596"/>
            <a:ext cx="3998671" cy="11996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按「把所有樣本推歪」：t = 0.15 每顆樣本平移將近一個單位。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= 0 偏移一路帶到終點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（約 0.7）；c 越大救得越回來，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= 4 以後幾乎回到沒推的水準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680" dirty="0"/>
          </a:p>
        </p:txBody>
      </p:sp>
      <p:sp>
        <p:nvSpPr>
          <p:cNvPr id="11" name="Text 8"/>
          <p:cNvSpPr txBox="1"/>
          <p:nvPr/>
        </p:nvSpPr>
        <p:spPr>
          <a:xfrm>
            <a:off x="7616952" y="5678729"/>
            <a:ext cx="3998671" cy="509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2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energy distance 和 U3.2 的 W₂ 是兩把不同的尺，數值不要互相比。</a:t>
            </a:r>
            <a:endParaRPr lang="en-US" sz="132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w5-1-epsilon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「一樣」有四種意思——一層比一層弱</a:t>
            </a:r>
            <a:endParaRPr lang="en-US" sz="3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029200"/>
                <a:gridCol w="459943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層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同在哪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不保證什麼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預測量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x₀／ε／score／速度四個 oracle 帶的資訊相同，可代數換算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學出來的四個網路一樣——換座標就換了要表達的函數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訓練目標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同一個 oracle 的不同座標的平方誤差，只差一個正的 t 的因子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訓練行為一樣——那個因子就是 noise level 加權（U3.5）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軌跡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不同 affine 路徑靠時間重參數化與縮放對應，每顆粒子都對得上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數值行為一樣——換座標會換掉離散化誤差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邊際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不同 ODE／SDE 產生完全相同的 {pₜ}——本篇這一族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軌跡一樣——連一顆粒子都對不上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303520"/>
            <a:ext cx="11277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看到「這兩個方法其實是同一個」，先問：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在哪一層同？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第四層的同，換一個取樣器就拿不到同一張圖。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U3.1 §5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「彎」能不能寫成一個數？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而且那個數真的壓住誤差嗎？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U3.2 把「彎」寫成一個算得出來的數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619695" y="562356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11135" y="5650992"/>
            <a:ext cx="40233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到目前為止「彎」還是一個看圖說話的形容詞——沒有一個數，就沒辦法比較兩個模型、也沒辦法拿它當優化目標。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Euler 走一步差多少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真實軌跡 ẋₜ = uₜ(xₜ)；Euler 從 xₜ 走到 xₜ + h uₜ(xₜ)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89268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Taylor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0a70b4ed36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5900309" cy="709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918526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918526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真實解展開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593467"/>
            <a:ext cx="11094415" cy="3731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75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前兩項就是 Euler 走的那一步，所以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75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局部誤差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75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 ½h²‖ẍ_ξ‖——整個誤差來源就是那個二階項。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554480" y="3048953"/>
            <a:ext cx="5943600" cy="516636"/>
          </a:xfrm>
          <a:prstGeom prst="roundRect">
            <a:avLst>
              <a:gd name="adj" fmla="val 14159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664208" y="3048953"/>
            <a:ext cx="5760720" cy="5166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25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ẍₜ 是什麼？把它寫開。</a:t>
            </a:r>
            <a:endParaRPr lang="en-US" sz="1625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647885"/>
            <a:ext cx="960120" cy="12014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加速度</a:t>
            </a:r>
            <a:endParaRPr lang="en-US" sz="1500" dirty="0"/>
          </a:p>
        </p:txBody>
      </p:sp>
      <p:pic>
        <p:nvPicPr>
          <p:cNvPr id="12" name="Image 1" descr="/tmp/claude-0/-home-claude/c4ae4d00-ecec-599d-99af-5b416eb8503d/scratchpad/build/math/c39cd7619c8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3739325"/>
            <a:ext cx="5965460" cy="10185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174175" y="4074866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265615" y="4074866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chain rule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第一項：站在原地不動，速度場隨時間變了多少。第二項：粒子跑到新位置之後，看到的速度和原來差多少。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軌跡是等速直線時兩項都是零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，Euler 一步就精確。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U3.2 §2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加速度的兩個來源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713232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mnt/user-data/uploads/site/src/content/notes/research-areas/diffusion-models-and-their-applications/week-5/imgs/w5-2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9052"/>
            <a:ext cx="6912864" cy="46085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280160"/>
            <a:ext cx="3870655" cy="2491740"/>
          </a:xfrm>
          <a:prstGeom prst="roundRect">
            <a:avLst>
              <a:gd name="adj" fmla="val 440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389888"/>
            <a:ext cx="359633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時間變化 ∂ₜu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982712" y="1712976"/>
            <a:ext cx="3632911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定點觀察，速度場自己隨時間改變。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863840" y="3954780"/>
            <a:ext cx="3870655" cy="2491740"/>
          </a:xfrm>
          <a:prstGeom prst="roundRect">
            <a:avLst>
              <a:gd name="adj" fmla="val 440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4064508"/>
            <a:ext cx="359633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空間變化 (u·∇)u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982712" y="4387596"/>
            <a:ext cx="3632911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粒子沿固定場移動，遇到不同的速度。即使場完全不隨 t 變，只要空間上不均勻，粒子照樣加速。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imgs/w5-2-1.png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一步的誤差怎麼變成終點的誤差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一步的誤差不會乖乖留在原地——它會被後面的流放大或縮小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6301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放大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498f12a9f9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6536715" cy="44725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787251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787251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uₜ 對 x 是 L-Lipschitz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30917"/>
            <a:ext cx="960120" cy="100616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加總</a:t>
            </a:r>
            <a:endParaRPr lang="en-US" sz="1500" dirty="0"/>
          </a:p>
        </p:txBody>
      </p:sp>
      <p:pic>
        <p:nvPicPr>
          <p:cNvPr id="9" name="Image 1" descr="/tmp/claude-0/-home-claude/c4ae4d00-ecec-599d-99af-5b416eb8503d/scratchpad/build/math/2d5056e673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451496"/>
            <a:ext cx="7391095" cy="7650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74175" y="2660264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65615" y="2660264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= 1/h 步各自放大再相加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391948"/>
            <a:ext cx="11094415" cy="3971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把「被流放大」的因子收成一個常數 C_L，就得到這一篇要的那一行：</a:t>
            </a:r>
            <a:endParaRPr lang="en-US" sz="1890" dirty="0"/>
          </a:p>
        </p:txBody>
      </p:sp>
      <p:sp>
        <p:nvSpPr>
          <p:cNvPr id="13" name="Shape 9"/>
          <p:cNvSpPr/>
          <p:nvPr/>
        </p:nvSpPr>
        <p:spPr>
          <a:xfrm>
            <a:off x="548640" y="553212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2" descr="/tmp/claude-0/-home-claude/c4ae4d00-ecec-599d-99af-5b416eb8503d/scratchpad/build/math/a82a3e7f75f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704343"/>
            <a:ext cx="6035040" cy="61567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949440" y="5577840"/>
            <a:ext cx="460217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三個因子各管一件事，下一張逐個讀。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U3.2 §3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這一行的三種讀法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2288286"/>
          </a:xfrm>
          <a:prstGeom prst="roundRect">
            <a:avLst>
              <a:gd name="adj" fmla="val 559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 給斜率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一階，所以 log-log 上是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2288286"/>
          </a:xfrm>
          <a:prstGeom prst="roundRect">
            <a:avLst>
              <a:gd name="adj" fmla="val 5594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積分給高度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軌跡越彎，同樣步數誤差越大；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積分為零時一步 Euler 就是精確解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2288286"/>
          </a:xfrm>
          <a:prstGeom prst="roundRect">
            <a:avLst>
              <a:gd name="adj" fmla="val 559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C_L 是速度場的正則性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04581" y="1752600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它同時放大所有誤差，但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不由「路徑直不直」控制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——所以它不是這個單元要動的東西。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" y="3751326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911346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911346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331720" y="3888486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14600" y="3797046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「彎」現在是一個數：∫₀¹‖ẍₜ‖dt。這也是 reflow 與 minibatch OT 真正在壓小的量。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U3.2 §3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曲率積分真的壓住誤差嗎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5-2-curva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887" y="1389888"/>
            <a:ext cx="4497185" cy="4946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1712976"/>
            <a:ext cx="3998671" cy="1481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六個設定的實測散點：橫軸曲率積分、縱軸 Euler 終點誤差，兩軸取對數。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六個點排在一條斜率約 1 的線上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（r 通常 0.95 以上）——那個積分不只是上界裡的一個符號，它真的在預測誤差。</a:t>
            </a:r>
            <a:endParaRPr lang="en-US" sz="1680" dirty="0"/>
          </a:p>
        </p:txBody>
      </p:sp>
      <p:sp>
        <p:nvSpPr>
          <p:cNvPr id="8" name="Shape 5"/>
          <p:cNvSpPr/>
          <p:nvPr/>
        </p:nvSpPr>
        <p:spPr>
          <a:xfrm>
            <a:off x="7498080" y="395478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406450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最有效的一招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2" y="4387596"/>
            <a:ext cx="3998671" cy="1481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換配對：線性路徑從獨立換成依位置，積分從約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掉到 1.4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。怎麼換配對本篇不處理（U3.3、U3.4 各給一個做法）。這裡只要接受：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這個積分是可以被壓下去的，壓它就等於省步數。</a:t>
            </a:r>
            <a:endParaRPr lang="en-US" sz="168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w5-2-curvature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SDE 為什麼不能用同一個量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2776728"/>
          </a:xfrm>
          <a:prstGeom prst="roundRect">
            <a:avLst>
              <a:gd name="adj" fmla="val 461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ẍₜ 不存在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SDE 的軌跡是布朗運動加 drift，「這條軌跡直不直」在那裡沒有意義。控制 Euler–Maruyama 誤差的是 drift b + εs 的 Lipschitz 常數與導數界，以及噴聲強度 ε。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2776728"/>
          </a:xfrm>
          <a:prstGeom prst="roundRect">
            <a:avLst>
              <a:gd name="adj" fmla="val 461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兩種階數要分開講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弱收斂（邊際）O(h)、強收斂（單條軌跡）O(√h)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。取樣只看終點分布，所以看弱誤差。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454042" y="2872740"/>
            <a:ext cx="3283610" cy="3916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拉直不會幫到 SDE。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158277" y="1234440"/>
            <a:ext cx="3576218" cy="2776728"/>
          </a:xfrm>
          <a:prstGeom prst="roundRect">
            <a:avLst>
              <a:gd name="adj" fmla="val 461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誤差怎麼累積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04581" y="1752600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Langevin 項會把偏離拉回來，一部分離散誤差被後面的步吃掉——但有條件：足夠大的 ε 和足夠的剩餘時間。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57200" y="4239768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399788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399788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31720" y="4376928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514600" y="4285488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ODE 每一步犯錯少但全部累積，SDE 每一步犯錯多但錯不會全留下。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U3.2 §4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reflow 拉直之後誤差這麼小，</a:t>
            </a:r>
            <a:endParaRPr lang="en-US" sz="26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能不能再把 Langevin 項加上去，同時享有直軌跡和自我修正？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Q1：不能，而且原因是結構性的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3316224"/>
          </a:xfrm>
          <a:prstGeom prst="roundRect">
            <a:avLst>
              <a:gd name="adj" fmla="val 386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拉直要付什麼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reflow 的核心是把配對換成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確定性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耦合、γ ≡ 0。U3.0 Q1 說過：給定 xₜ 端點就定死了，沒有後驗可以平均，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沒有可回歸的 score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——寫不出 SDE 取樣器。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3316224"/>
          </a:xfrm>
          <a:prstGeom prst="roundRect">
            <a:avLst>
              <a:gd name="adj" fmla="val 386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 score 要付什麼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 γₜ &gt; 0。但 γₜ z 把每條條件路徑撐成有寬度的管子，管子重疊，邊際速度又變回一個平均，∫‖ẍ‖dt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就回不到 0 了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454042" y="3509772"/>
            <a:ext cx="3283610" cy="7665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【待生圖】直 vs 厚互斥：左圖一束平行直線；右圖同一束變成互相重疊的粗管、中線彎曲；兩張並排，無文字。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8277" y="1234440"/>
            <a:ext cx="3576218" cy="3316224"/>
          </a:xfrm>
          <a:prstGeom prst="roundRect">
            <a:avLst>
              <a:gd name="adj" fmla="val 386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實務折衷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04581" y="1752600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取小一點的 γ：路徑接近直線，同時留一點 score 可用。γₜ 該多大目前沒有定論。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57200" y="4779264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939284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939284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31720" y="4916424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514600" y="4824984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「所有粒子沿確定的直線走」和「中間分布有厚度、偏了可以拉回來」不可能同時成立。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U3.2 Q1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量到的四個數字——方向不是單一的</a:t>
            </a:r>
            <a:endParaRPr lang="en-US" sz="3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194560"/>
                <a:gridCol w="487375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曲率積分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讀法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線性路徑、獨立配對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9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起點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換成依位置配對（近似不交叉）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1.4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換配對是最有效的一招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在好配對上加 γ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回升到約 3.5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這就是那個代價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在壞配對上加 γ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反而掉到約 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γ 主要在把速度場抹平，好處大於管子重疊的壞處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303520"/>
            <a:ext cx="11277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「加 γ 會讓軌跡更彎」只在配對已經很好時才對。真正沒有例外的是那句結構性的話：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γ &gt; 0 讓積分不可能等於 0。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U3.2 Q1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一個很便宜的觀察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501488" cy="2288286"/>
          </a:xfrm>
          <a:prstGeom prst="roundRect">
            <a:avLst>
              <a:gd name="adj" fmla="val 559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517230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把兩句話放在一起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5172304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770888"/>
            <a:ext cx="5026000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U2.3 Q1：邊際軌跡彎，因為條件直線交叉；交叉，因為配對是隨機的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" y="2504694"/>
            <a:ext cx="5172304" cy="403479"/>
          </a:xfrm>
          <a:prstGeom prst="roundRect">
            <a:avLst>
              <a:gd name="adj" fmla="val 1359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" y="2522982"/>
            <a:ext cx="5026000" cy="3669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U2.1：ODE 的軌跡不會交叉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33008" y="1234440"/>
            <a:ext cx="5501488" cy="2288286"/>
          </a:xfrm>
          <a:prstGeom prst="roundRect">
            <a:avLst>
              <a:gd name="adj" fmla="val 5594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97600" y="1362456"/>
            <a:ext cx="517230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79312" y="1752600"/>
            <a:ext cx="520888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如果配對是由某條 ODE 的「起點 → 終點」生出來的，那這組配對的軌跡本來就不交叉，它的條件直線也就不會亂交錯。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而我們手上正好有一條 ODE——訓好的模型自己。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" y="3751326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911346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911346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331720" y="3888486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14600" y="3797046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配對不必自己設計——讓上一輪的模型生出來就好。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U3.3 §1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能不能拿模型自己的取樣結果，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當成下一輪訓練的配對？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U3.3 拉直（一）：讓模型自己生出配對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一輪要做哪三件事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66928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mnt/user-data/uploads/site/src/content/notes/research-areas/diffusion-models-and-their-applications/week-5/imgs/w5-3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46732"/>
            <a:ext cx="5449824" cy="36332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280160"/>
            <a:ext cx="5333695" cy="2491740"/>
          </a:xfrm>
          <a:prstGeom prst="roundRect">
            <a:avLst>
              <a:gd name="adj" fmla="val 440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37960" y="1389888"/>
            <a:ext cx="505937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37960" y="1712976"/>
            <a:ext cx="5059375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11112" y="1731264"/>
            <a:ext cx="4913071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直線插值 Xₜ = (1−t)X₀ + tX₁，得到 uₜ(x) = 𝔼[X₁ − X₀ | Xₜ = x]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37960" y="2465070"/>
            <a:ext cx="5059375" cy="403479"/>
          </a:xfrm>
          <a:prstGeom prst="roundRect">
            <a:avLst>
              <a:gd name="adj" fmla="val 1359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11112" y="2483358"/>
            <a:ext cx="4913071" cy="3669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解 ODE Żₜ = uₜ(Zₜ)、Z₀ = X₀，走到 Z₁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537960" y="2959989"/>
            <a:ext cx="5059375" cy="403479"/>
          </a:xfrm>
          <a:prstGeom prst="roundRect">
            <a:avLst>
              <a:gd name="adj" fmla="val 1359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11112" y="2978277"/>
            <a:ext cx="4913071" cy="3669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把 (Z₀, Z₁) 當成</a:t>
            </a:r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新的</a:t>
            </a:r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耦合：π′ = 𝖱(π)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0" y="3954780"/>
            <a:ext cx="5333695" cy="2491740"/>
          </a:xfrm>
          <a:prstGeom prst="roundRect">
            <a:avLst>
              <a:gd name="adj" fmla="val 440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37960" y="4064508"/>
            <a:ext cx="505937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兩個名字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519672" y="4387596"/>
            <a:ext cx="5095951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這個運算叫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rectification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；一輪一輪疊上去 πᵏ⁺¹ = 𝖱(πᵏ) 就是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reflow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519672" y="5189220"/>
            <a:ext cx="5095951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「訓練一個 FM、然後用 ODE 取樣」這件事，在耦合的層次上就是 𝖱——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不需要任何新的機器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，只是把輸出接回輸入。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U3.3 §2 · imgs/w5-3-1.png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這一招為什麼不需要新的機器：三個性質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（一）保邊際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Z₀ ~ p₀ 是定義；Z₁ ~ p₁ 來自 CFM 定理 1（uₜ 生成 pₜ，p₁ = p_data）。所以 𝖱(π) 仍是 p₀ 與 p₁ 的耦合——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可以再餵回去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。這是整個迭代能成立的前提。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（二）不增運輸成本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72330" y="1752600"/>
            <a:ext cx="3247034" cy="472021"/>
          </a:xfrm>
          <a:prstGeom prst="roundRect">
            <a:avLst>
              <a:gd name="adj" fmla="val 1549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9" name="Image 0" descr="/tmp/claude-0/-home-claude/c4ae4d00-ecec-599d-99af-5b416eb8503d/scratchpad/build/math/231f6644c36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3770" y="1857108"/>
            <a:ext cx="3064154" cy="2630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454042" y="2316061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對任何凸函數 c。取 c = ‖·‖²：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新配對的平均位移平方不會比舊的大。粒子不再繞路。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158277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（三）不交叉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304581" y="1752600"/>
            <a:ext cx="328361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Zₜ 是 ODE 的解，Lipschitz 之下唯一，兩條 Z 軌跡不交叉。𝖱(π) 的條件直線是這些不交叉軌跡的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弦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。嚴格說弦還是可能交叉——但比隨機配對少太多了。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U3.3 §3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不增運輸成本：兩次 Jensen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Z₁ − Z₀ = ∫₀¹ uₜ(Zₜ)dt，而 uₜ(Zₜ) = 𝔼[X₁ − X₀ | Xₜ = Zₜ]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104544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對時間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3b3e7679708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5315036" cy="86256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994906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994906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Jensen：∫dt 是一個平均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46229"/>
            <a:ext cx="960120" cy="60150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對後驗</a:t>
            </a:r>
            <a:endParaRPr lang="en-US" sz="1500" dirty="0"/>
          </a:p>
        </p:txBody>
      </p:sp>
      <p:pic>
        <p:nvPicPr>
          <p:cNvPr id="9" name="Image 1" descr="/tmp/claude-0/-home-claude/c4ae4d00-ecec-599d-99af-5b416eb8503d/scratchpad/build/math/5ef8fb29a5d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837669"/>
            <a:ext cx="6325888" cy="418629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74175" y="287324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65615" y="2873248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Jensen：條件期望也是平均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554480" y="3430034"/>
            <a:ext cx="5943600" cy="562356"/>
          </a:xfrm>
          <a:prstGeom prst="roundRect">
            <a:avLst>
              <a:gd name="adj" fmla="val 13008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664208" y="3430034"/>
            <a:ext cx="5760720" cy="5623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755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兩邊的 Zₜ 和 Xₜ 怎麼接起來？</a:t>
            </a:r>
            <a:endParaRPr lang="en-US" sz="1755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074686"/>
            <a:ext cx="960120" cy="97011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取期望</a:t>
            </a:r>
            <a:endParaRPr lang="en-US" sz="1500" dirty="0"/>
          </a:p>
        </p:txBody>
      </p:sp>
      <p:pic>
        <p:nvPicPr>
          <p:cNvPr id="15" name="Image 2" descr="/tmp/claude-0/-home-claude/c4ae4d00-ecec-599d-99af-5b416eb8503d/scratchpad/build/math/a7159704815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4211380"/>
            <a:ext cx="7391095" cy="69673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74175" y="438601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265615" y="4386010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Zₜ 與 Xₜ 同分布（性質一）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兩次 Jensen 各對付一個「取平均」：一次是沿時間平均，一次是對後驗平均。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U3.3 Details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Reflow 一輪一輪看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5-3-re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7915" y="1389888"/>
            <a:ext cx="3185129" cy="4946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demo：按 0 → 1 → 2 → 3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1712976"/>
            <a:ext cx="3998671" cy="176296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 輪配對直線交錯成一團、ODE 軌跡明顯彎；第 1 輪之後配對幾乎互不相交、軌跡幾乎就是那些直線。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第一輪就吃掉大部分好處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：straightness 約 1.4 → 0.03，1 步 Euler 誤差約 1.4 → 0.1，運輸成本約 4.0 → 0.6。</a:t>
            </a:r>
            <a:endParaRPr lang="en-US" sz="1680" dirty="0"/>
          </a:p>
        </p:txBody>
      </p:sp>
      <p:sp>
        <p:nvSpPr>
          <p:cNvPr id="8" name="Shape 5"/>
          <p:cNvSpPr/>
          <p:nvPr/>
        </p:nvSpPr>
        <p:spPr>
          <a:xfrm>
            <a:off x="7498080" y="395478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406450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保邊際是真的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2" y="4387596"/>
            <a:ext cx="3998671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「終點分布與資料的距離」一直在 0.01 以下——這些改善不是拿樣本品質換來的。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616952" y="5507736"/>
            <a:ext cx="3998671" cy="3042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用的是精確算出來的場，顯示的是上限。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w5-3-reflow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為什麼一直做下去會變直？先把「直」寫成一個數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6219073" cy="3199028"/>
          </a:xfrm>
          <a:prstGeom prst="roundRect">
            <a:avLst>
              <a:gd name="adj" fmla="val 4002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5889889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straightness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5889889" cy="967892"/>
          </a:xfrm>
          <a:prstGeom prst="roundRect">
            <a:avLst>
              <a:gd name="adj" fmla="val 755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d44be52240a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962" y="1853184"/>
            <a:ext cx="5441549" cy="7667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811932"/>
            <a:ext cx="5926465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白話：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每個粒子自己的條件速度，和它在那個位置實際被指派到的邊際速度，差多少。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S = 0 ⇔ uₜ(Xₜ) = X₁ − X₀ 幾乎處處成立——粒子照著自己的直線走，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一步 Euler 就精確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950593" y="1234440"/>
            <a:ext cx="4783902" cy="3199028"/>
          </a:xfrm>
          <a:prstGeom prst="roundRect">
            <a:avLst>
              <a:gd name="adj" fmla="val 4002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15185" y="1362456"/>
            <a:ext cx="4454718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和上一篇的曲率積分是同一件事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096897" y="1752600"/>
            <a:ext cx="4491294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 = 0 時 uₜ(Zₜ) = Z₁ − Z₀ 是不隨 t 變的常向量，Z̈ₜ = 0，曲率積分也是零。差別只在 S 是對訓練資料算得出來的量（不必解 ODE），曲率積分要沿軌跡積——所以 reflow 直接壓 S。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U3.3 §4 ＋ Remark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簿記：每一輪省下的運輸成本 ≥ 那一輪的 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Liu 等人的定理本身，不只是直覺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50434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48183be01d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55839"/>
            <a:ext cx="7391095" cy="2845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724354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724354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有限的預算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05125"/>
            <a:ext cx="960120" cy="122968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每輪扣掉</a:t>
            </a:r>
            <a:endParaRPr lang="en-US" sz="1500" dirty="0"/>
          </a:p>
        </p:txBody>
      </p:sp>
      <p:pic>
        <p:nvPicPr>
          <p:cNvPr id="9" name="Image 1" descr="/tmp/claude-0/-home-claude/c4ae4d00-ecec-599d-99af-5b416eb8503d/scratchpad/build/math/54d2b4684a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296565"/>
            <a:ext cx="4493516" cy="104680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74175" y="2646231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65615" y="2646231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省下的 ≥ S(π^k)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554480" y="3517106"/>
            <a:ext cx="5943600" cy="562356"/>
          </a:xfrm>
          <a:prstGeom prst="roundRect">
            <a:avLst>
              <a:gd name="adj" fmla="val 13008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664208" y="3517106"/>
            <a:ext cx="5760720" cy="5623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755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一個有限預算被一直扣，會怎樣？</a:t>
            </a:r>
            <a:endParaRPr lang="en-US" sz="1755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161758"/>
            <a:ext cx="960120" cy="7970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</a:t>
            </a:r>
            <a:endParaRPr lang="en-US" sz="1500" dirty="0"/>
          </a:p>
        </p:txBody>
      </p:sp>
      <p:pic>
        <p:nvPicPr>
          <p:cNvPr id="15" name="Image 2" descr="/tmp/claude-0/-home-claude/c4ae4d00-ecec-599d-99af-5b416eb8503d/scratchpad/build/math/8989a1dd7e3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4253198"/>
            <a:ext cx="5580903" cy="61413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74175" y="4386529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265615" y="4386529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級數收斂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運輸成本有下界——不可能小於「兩個邊際之間最省的那個配對」的成本，那就是 optimal transport（OT）的成本（U3.4 正式定義）。預算扣不完，ΣS 就必須收斂。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U3.3 §4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直是有代價的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2458212"/>
          </a:xfrm>
          <a:prstGeom prst="roundRect">
            <a:avLst>
              <a:gd name="adj" fmla="val 5208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誤差累積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k 輪的配對來自第 k−1 輪模型的 ODE 解，模型逼近誤差和取樣數值誤差一起變成下一輪的訓練資料。實務上一到兩輪就停。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2458212"/>
          </a:xfrm>
          <a:prstGeom prst="roundRect">
            <a:avLst>
              <a:gd name="adj" fmla="val 5208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多樣性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每一輪的配對都是確定性映射、γ ≡ 0，沒有可回歸的 score。模型變成純確定映射，隨機性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來自 p₀——而且沒有 SDE 取樣器可以退回去用。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2458212"/>
          </a:xfrm>
          <a:prstGeom prst="roundRect">
            <a:avLst>
              <a:gd name="adj" fmla="val 5208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極限未必是 OT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04581" y="1752600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運輸成本單調下降，但沒有理由收斂到 OT 成本。經驗上很接近，但那是經驗，不是定理。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" y="3921252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081272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081272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331720" y="4058412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14600" y="3966972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reflow 買到的是「直」，付出的是多樣性與上一輪的模型誤差。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U3.3 §5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Q1：只改配對，端點和路徑都沒動，曲率為什麼變？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3413760"/>
          </a:xfrm>
          <a:prstGeom prst="roundRect">
            <a:avLst>
              <a:gd name="adj" fmla="val 375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邊際速度是條件期望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3247034" cy="454099"/>
          </a:xfrm>
          <a:prstGeom prst="roundRect">
            <a:avLst>
              <a:gd name="adj" fmla="val 1610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d4469fbf40f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56849"/>
            <a:ext cx="3064154" cy="24560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298139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條件期望取決於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聯合分布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，不只是兩個邊際。同一組 p₀、p₁ 配上不同的 π，經過 x 的那些條件直線就是不同的一批。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307738" y="1234440"/>
            <a:ext cx="3576218" cy="3413760"/>
          </a:xfrm>
          <a:prstGeom prst="roundRect">
            <a:avLst>
              <a:gd name="adj" fmla="val 375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兩端對照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454042" y="1752600"/>
            <a:ext cx="3283610" cy="2621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獨立配對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：經過 x 的直線來自四面八方，平均之後偏離每一條——U2.2 demo 那支「明顯比細箭頭短」的粗箭頭。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不交叉配對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：附近的直線幾乎平行，平均幾乎就是那個共同方向，uₜ(Xₜ) ≈ X₁ − X₀、S ≈ 0。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158277" y="1234440"/>
            <a:ext cx="3576218" cy="3413760"/>
          </a:xfrm>
          <a:prstGeom prst="roundRect">
            <a:avLst>
              <a:gd name="adj" fmla="val 375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 pₜ 也會變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304581" y="1752600"/>
            <a:ext cx="328361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即使兩端固定，中間的 pₜ 也隨 π 改變——U3.0 demo 同一個環配同一個環，換配對讓 p₁/₂ 從一個環變成一個點。「路徑」和「配對」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不是完全獨立的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旋鈕。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U3.3 Q1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最省力的那組配對，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是不是剛好也是不交叉的那一組？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U3.4 拉直（二）：在每個 batch 裡解一次配對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619695" y="562356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11135" y="5650992"/>
            <a:ext cx="40233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「好」有一個現成的定義：讓總位移最小——U1.0 倉庫搬貨那個問題的最佳解，optimal transport。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交換一次就看出來了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某個配對把 a 送到 A、b 送到 B；交換終點（a → B、b → A）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52471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成本變化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c354264fed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57010"/>
            <a:ext cx="7391095" cy="3025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734539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734539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平方項全部消掉，只剩交叉項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554480" y="2252926"/>
            <a:ext cx="5943600" cy="562356"/>
          </a:xfrm>
          <a:prstGeom prst="roundRect">
            <a:avLst>
              <a:gd name="adj" fmla="val 13008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64208" y="2252926"/>
            <a:ext cx="5760720" cy="5623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755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 (a − b)ᵀ(A − B) &lt; 0 呢？</a:t>
            </a:r>
            <a:endParaRPr lang="en-US" sz="1755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897578"/>
            <a:ext cx="11094415" cy="3971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交換一定更省。一個最佳的配對不可能還有這種可以改進的對，於是它必須滿足：</a:t>
            </a:r>
            <a:endParaRPr lang="en-US" sz="189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349634"/>
            <a:ext cx="960120" cy="61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單調</a:t>
            </a:r>
            <a:endParaRPr lang="en-US" sz="1500" dirty="0"/>
          </a:p>
        </p:txBody>
      </p:sp>
      <p:pic>
        <p:nvPicPr>
          <p:cNvPr id="12" name="Image 1" descr="/tmp/claude-0/-home-claude/c4ae4d00-ecec-599d-99af-5b416eb8503d/scratchpad/build/math/99d1dd1956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3441074"/>
            <a:ext cx="6584040" cy="43112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174175" y="3482902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265615" y="3482902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monotone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在一維，單調直接等於「位移直線完全不交叉」（兩條相交的線交換之後總長更短）。在高維，單調不是零交叉的等價敘述，但它把交叉壓到很少——demo 量到從 20% 掉到 1% 以下。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U3.4 §2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交換一次，就看出單調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713232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mnt/user-data/uploads/site/src/content/notes/research-areas/diffusion-models-and-their-applications/week-5/imgs/w5-4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012" y="1389888"/>
            <a:ext cx="5568696" cy="37124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280160"/>
            <a:ext cx="3870655" cy="1874520"/>
          </a:xfrm>
          <a:prstGeom prst="roundRect">
            <a:avLst>
              <a:gd name="adj" fmla="val 585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389888"/>
            <a:ext cx="359633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OT 配對之下的 FM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982712" y="1712976"/>
            <a:ext cx="3632911" cy="11996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條件直線幾乎不交叉、邊際速度幾乎等於條件速度、S ≈ 0、一步 Euler 幾乎精確。它正是 reflow 迭代想逼近的極限。</a:t>
            </a:r>
            <a:endParaRPr lang="en-US" sz="1680" dirty="0"/>
          </a:p>
        </p:txBody>
      </p:sp>
      <p:sp>
        <p:nvSpPr>
          <p:cNvPr id="8" name="Shape 5"/>
          <p:cNvSpPr/>
          <p:nvPr/>
        </p:nvSpPr>
        <p:spPr>
          <a:xfrm>
            <a:off x="7863840" y="3337560"/>
            <a:ext cx="3870655" cy="1874520"/>
          </a:xfrm>
          <a:prstGeom prst="roundRect">
            <a:avLst>
              <a:gd name="adj" fmla="val 585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3447288"/>
            <a:ext cx="359633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問題只有一個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982712" y="3770376"/>
            <a:ext cx="3632911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全域 OT 要在 n 個資料點上解 n × n 的指派問題。n 是五萬張圖的時候，做不到。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457200" y="5349240"/>
            <a:ext cx="5524348" cy="1051560"/>
          </a:xfrm>
          <a:prstGeom prst="roundRect">
            <a:avLst>
              <a:gd name="adj" fmla="val 869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5404104"/>
            <a:ext cx="52500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匾額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5696712"/>
            <a:ext cx="5250028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OT 配對真正保證的是「單調」，不是「不交叉」。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一維的單調等於零交叉，高維只能說把交叉壓到很少——全域 OT 實測仍有 0.2–0.8%。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10148" y="5349240"/>
            <a:ext cx="5524348" cy="1051560"/>
          </a:xfrm>
          <a:prstGeom prst="roundRect">
            <a:avLst>
              <a:gd name="adj" fmla="val 869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47308" y="5404104"/>
            <a:ext cx="52500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Remark：Brenier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347308" y="5696712"/>
            <a:ext cx="5250028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p₀ 有密度、二次成本時，OT 耦合是確定映射 X₁ = T(X₀)，T = ∇φ 是凸函數的梯度——凸函數的梯度天生單調。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U3.4 §2 · imgs/w5-4-1.png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Minibatch OT：只多兩行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949440" cy="2377440"/>
          </a:xfrm>
          <a:prstGeom prst="roundRect">
            <a:avLst>
              <a:gd name="adj" fmla="val 4615"/>
            </a:avLst>
          </a:prstGeom>
          <a:solidFill>
            <a:srgbClr val="161F28"/>
          </a:solidFill>
          <a:ln w="12700">
            <a:solidFill>
              <a:srgbClr val="161F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658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x1 ← B 個資料樣本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x0 ← B 個噴聲樣本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  ← C[i,j] = ‖x0[i] − x1[j]‖²        # 成本矩陣
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28A"/>
                </a:solidFill>
                <a:highlight>
                  <a:srgbClr val="3A2E1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σ  ← argmin_σ Σ_i C[i, σ(i)]          # 解指派問題（linear_sum_assignment）
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28A"/>
                </a:solidFill>
                <a:highlight>
                  <a:srgbClr val="3A2E1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x1 ← x1[σ]                            # 重排：x0[i] 對到 x1[σ(i)]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之後與 CFM 完全相同：抽 t、算 xt、target = x1 − x0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680960" y="1280160"/>
            <a:ext cx="4053535" cy="2377440"/>
          </a:xfrm>
          <a:prstGeom prst="roundRect">
            <a:avLst>
              <a:gd name="adj" fmla="val 4615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1408176"/>
            <a:ext cx="37792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只在每個 batch 裡解 OT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99832" y="1740408"/>
            <a:ext cx="3815791" cy="434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Tong 等人的 OT-CFM 與 Pooladian 等人的 multisample FM，做法乾脆得有點好笑。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99832" y="2266304"/>
            <a:ext cx="3815791" cy="62239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精確指派 O(B³)，B = 256 時和一次前向傳播比可以忽略；batch 再大就換 Sinkhorn 近似。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99832" y="2980139"/>
            <a:ext cx="3815791" cy="9982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minibatch OT 沒有「失去 score」的問題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：同一個 x₀ 在不同 batch 遇到不同的候選，x₀ ↦ x₁ 是隨 batch 變動的隨機指派——給定 xₜ 仍有後驗可以平均。B → ∞ 才塌成確定映射。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U3.4 §3 ＋ Remark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Batch 內解一次 OT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5-4-batch-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2332" y="1389888"/>
            <a:ext cx="3856295" cy="4946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demo：從「獨立」按到「192（全域）」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1712976"/>
            <a:ext cx="3998671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紅色那些「和別人交叉的配對」一路減少。交叉比例約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20% → 9% → 4% → 1.4% → 0.6%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；1 步 Euler 的誤差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1.5 → 0.77 → 0.41 → 0.21 → 0.08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498080" y="395478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406450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讀法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2" y="4387596"/>
            <a:ext cx="3998671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batch 16 就走完八成的路，但後面還有得賺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——是報酬遞減，不是「16 就夠了」。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w5-4-batch-ot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邊際正確，配對次佳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3095244"/>
          </a:xfrm>
          <a:prstGeom prst="roundRect">
            <a:avLst>
              <a:gd name="adj" fmla="val 413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邊際正確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batch 內重排只是一個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置換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：x₀ 的集合和 x₁ 的集合都沒變，只有誰配誰改了。π_B 仍是合法耦合，CFM 兩個定理照樣成立。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沒有邊際偏差，B 多小都沒有。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3095244"/>
          </a:xfrm>
          <a:prstGeom prst="roundRect">
            <a:avLst>
              <a:gd name="adj" fmla="val 4136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配對次佳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23027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π_B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全域 OT：一個 batch 裡的 x₀ 只能配到同一個 batch 裡的 x₁，真正的 OT 對象大概率不在這個 batch 裡。局部最佳、全域次佳，S &gt; 0。B → ∞ 才趨近全域 OT。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3095244"/>
          </a:xfrm>
          <a:prstGeom prst="roundRect">
            <a:avLst>
              <a:gd name="adj" fmla="val 413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在散點圖上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04581" y="1752600"/>
            <a:ext cx="3283610" cy="23027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它把你在 U3.2 那張散點圖上的位置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往左移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（曲率積分變小），不改斜率。斜率是取樣器的階數，換配對動不了它。和 reflow 不同：reflow 的配對帶著上一輪模型誤差，邊際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有可能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偏。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" y="4558284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718304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718304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331720" y="4695444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14600" y="4604004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Minibatch OT 影響的是曲率，不是正確性。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U3.4 §4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reflow 與 minibatch OT，差在哪？</a:t>
            </a:r>
            <a:endParaRPr lang="en-US" sz="32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325112"/>
              </a:tblGrid>
              <a:tr h="594360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Reflow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Minibatch OT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改配對的時機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訓完一輪之後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每個 batch 當下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額外計算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整輪 ODE 取樣 ＋ 重訓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 batch 一次 O(B³) 指派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邊際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會累積模型誤差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精確（只是置換）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極限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直（S → 0），不一定是 OT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全域 OT（B → ∞）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配對是否確定性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是（所以沒有可回歸的 score）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不是（整體是很多置換的混合）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高維表現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不受距離集中影響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成本矩陣退化，增益減弱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最後一列是實務上最重要的一格——下一張。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U3.4 §5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2D toy 上 minibatch OT 效果非常漂亮，</a:t>
            </a:r>
            <a:endParaRPr lang="en-US" sz="26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在圖像（d = 3072 以上）增益卻小得多——為什麼？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Q1：高維的距離會集中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取兩個獨立的 x₀, x₁ ~ N(0, I_d)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61354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期望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7199cd57b6f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6945731" cy="43066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778957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778957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2d 個 χ² 自由度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14329"/>
            <a:ext cx="960120" cy="104174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相對標準差</a:t>
            </a:r>
            <a:endParaRPr lang="en-US" sz="1500" dirty="0"/>
          </a:p>
        </p:txBody>
      </p:sp>
      <p:pic>
        <p:nvPicPr>
          <p:cNvPr id="9" name="Image 1" descr="/tmp/claude-0/-home-claude/c4ae4d00-ecec-599d-99af-5b416eb8503d/scratchpad/build/math/d3b6c786a7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419858"/>
            <a:ext cx="7391095" cy="83068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74175" y="2661464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65615" y="2661464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越大所有兩兩距離越接近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554480" y="3438367"/>
            <a:ext cx="5943600" cy="562356"/>
          </a:xfrm>
          <a:prstGeom prst="roundRect">
            <a:avLst>
              <a:gd name="adj" fmla="val 13008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664208" y="3438367"/>
            <a:ext cx="5760720" cy="5623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755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成本矩陣幾乎是常數的時候，「最佳指派」比「隨機指派」好多少？</a:t>
            </a:r>
            <a:endParaRPr lang="en-US" sz="1755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083019"/>
            <a:ext cx="11094415" cy="3971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差不了多少。OT 配對能買到的結構就很少——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不是實作沒調好，而是幾何本身的性質。</a:t>
            </a:r>
            <a:endParaRPr lang="en-US" sz="1890" dirty="0"/>
          </a:p>
        </p:txBody>
      </p:sp>
      <p:sp>
        <p:nvSpPr>
          <p:cNvPr id="15" name="Shape 11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兩個推論：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latent space 做比在 pixel space 做有效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（維度低、距離結構有意義）；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batch size 要大才看得到效果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。順帶解釋為什麼 reflow 在高維反而較常見——它的配對結構是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學出來的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，不依賴成本矩陣有沒有對比度。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U3.4 Q1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guidance、高階 solver、時間加權——</a:t>
            </a:r>
            <a:endParaRPr lang="en-US" sz="26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三份論文、三套語言，有沒有一個說法可以一次講完？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U3.5 共用技巧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619695" y="562356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11135" y="5650992"/>
            <a:ext cx="40233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U2.4 說過：Gaussian 路徑上 diffusion／FM 是同一個物件的兩套座標。U3.2 又給了共同的度量：曲率積分。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pages/p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010" y="0"/>
            <a:ext cx="11513675" cy="64739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6492240"/>
            <a:ext cx="11460175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沿用 Week 2 #22 · 符合敘述的影像生成（guidance 的情境卡）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Classifier-free guidance：兩套座標，同一件事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597995" cy="3259836"/>
          </a:xfrm>
          <a:prstGeom prst="roundRect">
            <a:avLst>
              <a:gd name="adj" fmla="val 3927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4268811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做法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4305387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 uₜ(x | c)（或 sₜ(x | c)），訓練時以一定機率把條件 c 換成空條件 ∅，讓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同一個網路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同時學到條件與無條件兩個版本。取樣時外推：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1792" y="3191256"/>
            <a:ext cx="4268811" cy="454215"/>
          </a:xfrm>
          <a:prstGeom prst="roundRect">
            <a:avLst>
              <a:gd name="adj" fmla="val 161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7" name="Image 0" descr="/tmp/claude-0/-home-claude/c4ae4d00-ecec-599d-99af-5b416eb8503d/scratchpad/build/math/b24787c060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294610"/>
            <a:ext cx="4085931" cy="2475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3736911"/>
            <a:ext cx="4268811" cy="449056"/>
          </a:xfrm>
          <a:prstGeom prst="roundRect">
            <a:avLst>
              <a:gd name="adj" fmla="val 1629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9" name="Image 1" descr="/tmp/claude-0/-home-claude/c4ae4d00-ecec-599d-99af-5b416eb8503d/scratchpad/build/math/a6982cbfd26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840208"/>
            <a:ext cx="4085931" cy="24246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329515" y="1234440"/>
            <a:ext cx="3065330" cy="3259836"/>
          </a:xfrm>
          <a:prstGeom prst="roundRect">
            <a:avLst>
              <a:gd name="adj" fmla="val 4176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94107" y="1362456"/>
            <a:ext cx="2736146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為什麼是同一件事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475819" y="1752600"/>
            <a:ext cx="2772722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U2.4：u 是 x 與 s 的線性組合、係數只依賴 t，而線性組合和線性外推可以交換順序。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5475819" y="3191256"/>
            <a:ext cx="2772722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 = 1 是普通的條件生成，w &gt; 1 才叫 guidance。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8669165" y="1234440"/>
            <a:ext cx="3065330" cy="3259836"/>
          </a:xfrm>
          <a:prstGeom prst="roundRect">
            <a:avLst>
              <a:gd name="adj" fmla="val 417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833757" y="1362456"/>
            <a:ext cx="2736146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如果沒有 score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8815469" y="1752600"/>
            <a:ext cx="2772722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路徑不是 Gaussian（γ = 0 而 p₀ 又不是 Gaussian）時 score 根本不存在，就只能在速度座標做。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U3.5 §2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 &gt; 1 生成的是什麼？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3413760"/>
          </a:xfrm>
          <a:prstGeom prst="roundRect">
            <a:avLst>
              <a:gd name="adj" fmla="val 375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s̃ₜ 對應的分布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3247034" cy="522031"/>
          </a:xfrm>
          <a:prstGeom prst="roundRect">
            <a:avLst>
              <a:gd name="adj" fmla="val 1401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89402eb96c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57833"/>
            <a:ext cx="3064154" cy="3115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366071"/>
            <a:ext cx="328361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正規化之後——把條件分布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銳化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307738" y="1234440"/>
            <a:ext cx="3576218" cy="3413760"/>
          </a:xfrm>
          <a:prstGeom prst="roundRect">
            <a:avLst>
              <a:gd name="adj" fmla="val 375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但要小心一步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454042" y="1752600"/>
            <a:ext cx="3283610" cy="2621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s̃ₜ 是這一族分布的 score，不代表 ũₜ 會把 p₀ 搬成這一族。一個速度場要生成某條邊際路徑，得滿足那條路徑的 continuity equation（U3.1 兩行證明檢查的正是這件事）；ũₜ 只是兩個速度的線性外推，沒有理由滿足它。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158277" y="1234440"/>
            <a:ext cx="3576218" cy="3413760"/>
          </a:xfrm>
          <a:prstGeom prst="roundRect">
            <a:avLst>
              <a:gd name="adj" fmla="val 375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304581" y="1752600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 &gt; 1 跑出來的終點，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既不是 p₁(· | c)、也不是那個銳化的分布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57200" y="4876800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5036820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5036820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2331720" y="5013960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514600" y="4922520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 = 1 已經是正確答案了。w &gt; 1 是刻意把分布改掉，換一個「更像那一類」的樣子。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U3.5 §2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Guidance 買到什麼、付了什麼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5-5-gui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7182" y="1389888"/>
            <a:ext cx="3626596" cy="4946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demo：w 從 0 推到 8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1712976"/>
            <a:ext cx="3998671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「終點分布與該類資料的距離」在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 = 1 最小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（0.01～0.03），w = 4 約 0.4、w = 8 約 0.8。終點散布 σ 從約 1.1 縮到 0.57——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多樣性是被換掉的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498080" y="395478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406450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用曲率看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2" y="4387596"/>
            <a:ext cx="3998671" cy="1246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曲率積分在 w &gt; 2 後大致隨 w 線性成長（約 3.5 → 5.8 → 10.5）；切到 8 步，分布誤差跟著上去（w = 1 的 0.011 → w = 4 的 0.018）。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guidance 越強需要越多步；少步＋高 guidance 特別容易過飽和與結構崩壞。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616952" y="5725668"/>
            <a:ext cx="3998671" cy="61798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Remark：補救幾乎都在壓那個積分——只在中段開、w(t) 前後小中間大、rescale。w(t) 突然開關會在切換點製造巨大的 ‖ẍ‖，所以用平滑的窗。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w5-5-guidance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高階 solver：用兩次評估估這一步的平均速度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417682" cy="3854758"/>
          </a:xfrm>
          <a:prstGeom prst="roundRect">
            <a:avLst>
              <a:gd name="adj" fmla="val 3321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4088498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Heun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4088498" cy="917794"/>
          </a:xfrm>
          <a:prstGeom prst="roundRect">
            <a:avLst>
              <a:gd name="adj" fmla="val 797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c90a4944b9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61381"/>
            <a:ext cx="3905618" cy="7002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" y="2761834"/>
            <a:ext cx="4088498" cy="932904"/>
          </a:xfrm>
          <a:prstGeom prst="roundRect">
            <a:avLst>
              <a:gd name="adj" fmla="val 784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1" descr="/tmp/claude-0/-home-claude/c4ae4d00-ecec-599d-99af-5b416eb8503d/scratchpad/build/math/8b8fbcbe11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870788"/>
            <a:ext cx="3905618" cy="7149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03504" y="3786178"/>
            <a:ext cx="4125074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讀法：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階數換成二、代價是被積函數升成三階導數。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U2.5 那張 log-log 圖量到的 −2 就是這件事。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5149202" y="1234440"/>
            <a:ext cx="3155487" cy="3854758"/>
          </a:xfrm>
          <a:prstGeom prst="roundRect">
            <a:avLst>
              <a:gd name="adj" fmla="val 4057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313794" y="1362456"/>
            <a:ext cx="2826303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NFE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295506" y="1752600"/>
            <a:ext cx="2862879" cy="2621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每一步兩次網路評估。取樣成本用 NFE（網路被叫幾次）算，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相同 NFE 下 Heun 的步長是 Euler 的兩倍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。軌跡夠光滑時划算；彎得不規律（x⃛ 大，例如高 guidance）時好處縮水。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8579008" y="1234440"/>
            <a:ext cx="3155487" cy="3854758"/>
          </a:xfrm>
          <a:prstGeom prst="roundRect">
            <a:avLst>
              <a:gd name="adj" fmla="val 4057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743600" y="1362456"/>
            <a:ext cx="2826303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賭的是什麼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8725312" y="1752600"/>
            <a:ext cx="2862879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高階方法賭的是軌跡夠光滑。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彎本身不是問題，「彎得不規律」才是。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U3.5 §3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Details：DPM-Solver 為什麼比通用高階方法有效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6601785" cy="3141970"/>
          </a:xfrm>
          <a:prstGeom prst="roundRect">
            <a:avLst>
              <a:gd name="adj" fmla="val 407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6272601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線性結構（U2 記號）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6272601" cy="910834"/>
          </a:xfrm>
          <a:prstGeom prst="roundRect">
            <a:avLst>
              <a:gd name="adj" fmla="val 803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75e9557e114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593" y="1853184"/>
            <a:ext cx="4422999" cy="7096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754874"/>
            <a:ext cx="6309177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第一項是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線性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的，可以精確積分（換成 log-SNR 當自變數更乾脆）；只有 ε_θ 那一項需要數值近似。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先把已經知道的彎曲扣掉，剩下要近似的部分本來就更直。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通用的 Heun 對線性部分一樣用近似，白花了精度。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333305" y="1234440"/>
            <a:ext cx="4401190" cy="3141970"/>
          </a:xfrm>
          <a:prstGeom prst="roundRect">
            <a:avLst>
              <a:gd name="adj" fmla="val 407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7897" y="1362456"/>
            <a:ext cx="4072006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三種「拉直」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497897" y="1752600"/>
            <a:ext cx="4072006" cy="403479"/>
          </a:xfrm>
          <a:prstGeom prst="roundRect">
            <a:avLst>
              <a:gd name="adj" fmla="val 1359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71049" y="1770888"/>
            <a:ext cx="3925702" cy="3669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Reflow：改</a:t>
            </a:r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配對</a:t>
            </a:r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，讓真正的軌跡變直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497897" y="2247519"/>
            <a:ext cx="4072006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71049" y="2265807"/>
            <a:ext cx="3925702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Minibatch OT：也是改配對，但在訓練當下改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497897" y="2999613"/>
            <a:ext cx="4072006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71049" y="3017901"/>
            <a:ext cx="3925702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DPM-Solver：不改軌跡，改</a:t>
            </a:r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用什麼座標去看它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U3.5 Details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時間取樣與加權：三處加權並排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符號警示：這張表的權重寫成 w_loss(t)，和 guidance 的 w 撞字；第一列是 U1 的離散記號 ᾱₜ</a:t>
            </a:r>
            <a:endParaRPr lang="en-US" sz="16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61695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出處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那裡的權重 w_loss(t)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U1.2 推出來的 DDPM 目標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ᾱₜ₋₁ βₜ ／ [2(1 − ᾱₜ)(1 − ᾱₜ₋₁)]；換到 ε 座標是 βₜ ／ [2αₜ(1 − ᾱₜ₋₁)]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DDPM 實際在跑的 L_simple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均勻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——把上面整個 w_loss(t) 刻意丟掉的結果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U2.3 的線性 FM、均勻抽 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換到 ε 座標是 1/t²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937760"/>
            <a:ext cx="11277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「加權」從來不是一個新旋鈕，它一直都在，只是常常沒被寫出來：訓練時 t 的分布，和目標的 parametrization 一起決定每個 noise level 的有效權重。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U3.5 §4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哪一段 t 最值得花訓練預算？中段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4077462"/>
          </a:xfrm>
          <a:prstGeom prst="roundRect">
            <a:avLst>
              <a:gd name="adj" fmla="val 358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兩端都太容易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23027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≈ 0：xₜ 幾乎就是噴聲，速度幾乎是常數 𝔼[x₁] − x₀。t ≈ 1：xₜ 幾乎就是 x₁，去噴幾乎是恆等映射。困難全部在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中段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——pₜ 的結構正在形成、條件直線交叉最密、速度場最彎。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4077462"/>
          </a:xfrm>
          <a:prstGeom prst="roundRect">
            <a:avLst>
              <a:gd name="adj" fmla="val 358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這是訓練難度的論證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不是誤差分布的論證：U3.2 給的是整段積分，本課沒量過它沿 t 怎麼分配（U2.4 甚至給過相反方向的描述）。「把預算放中段」是實務上有效、但本課沒有證的選擇。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4077462"/>
          </a:xfrm>
          <a:prstGeom prst="roundRect">
            <a:avLst>
              <a:gd name="adj" fmla="val 358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實務做法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22869" y="1752600"/>
            <a:ext cx="3247034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6021" y="1770888"/>
            <a:ext cx="3100730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SD3：線性 FM 用 logit-normal 的 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322869" y="2504694"/>
            <a:ext cx="3247034" cy="403479"/>
          </a:xfrm>
          <a:prstGeom prst="roundRect">
            <a:avLst>
              <a:gd name="adj" fmla="val 1359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96021" y="2522982"/>
            <a:ext cx="3100730" cy="3669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EDM：對 log σ 用一個正態分布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322869" y="2999613"/>
            <a:ext cx="3247034" cy="917829"/>
          </a:xfrm>
          <a:prstGeom prst="roundRect">
            <a:avLst>
              <a:gd name="adj" fmla="val 597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96021" y="3017901"/>
            <a:ext cx="3100730" cy="88125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Kingma &amp; Gao：常見加權都等價於「對 log SNR 加一個權重函數」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04581" y="4008882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回到 U2.5 作業 2 的二選一：換 t 的分布，動的是 log-log 線的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高度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，不是斜率。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57200" y="5532120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5692140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692140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331720" y="5669280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14600" y="5577840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 t 的分布，就是選 log SNR 上的權重。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U3.5 §4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如果只能挑一個技巧來改善「10 步取樣的品質」，</a:t>
            </a:r>
            <a:endParaRPr lang="en-US" sz="26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該挑哪一個？為什麼其他的不行？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Q1：先攤開——各自動什麼、對誤差做什麼</a:t>
            </a:r>
            <a:endParaRPr lang="en-US" sz="32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4023360"/>
                <a:gridCol w="2862072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技巧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動的旋鈕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對誤差的影響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步之下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ODE → SDE（ε &gt; 0）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取樣器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加自我修正，代價是每步注入噴聲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修正來不及生效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Reflow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配對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壓 ∫‖ẍ‖，代價是重訓與失去多樣性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Minibatch OT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配對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壓 ∫‖ẍ‖，邊際精確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高階 solver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取樣器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 換 h²，但被積函數升階、每步兩倍 NFE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△ 10 NFE = 5 步，加分項不是主力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Guidance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速度場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放大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∫‖ẍ‖，需要更多步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反方向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時間加權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訓練時 t 的分布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把容量放在曲率大的 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△ 有幫助但間接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剩下的就是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改配對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：直接壓 log-log 線的高度，在 10 步這種區間高度就是一切（reflow demo：1 步誤差 1.4 → 0.1）。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排序是針對少步數的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——不限步數時答案反過來：多步 SDE 往往贏、確定性配對失去 score 變成缺點。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U3.5 Q1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六個技巧，一個共同的靶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713232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mnt/user-data/uploads/site/src/content/notes/research-areas/diffusion-models-and-their-applications/week-5/imgs/w5-5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9052"/>
            <a:ext cx="6912864" cy="46085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280160"/>
            <a:ext cx="3870655" cy="2491740"/>
          </a:xfrm>
          <a:prstGeom prst="roundRect">
            <a:avLst>
              <a:gd name="adj" fmla="val 440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389888"/>
            <a:ext cx="359633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讀圖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982712" y="1712976"/>
            <a:ext cx="3632911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它們分別改動配對、取樣器、速度場或訓練權重，最後都要用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終點誤差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衡量得失。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863840" y="3954780"/>
            <a:ext cx="3870655" cy="2491740"/>
          </a:xfrm>
          <a:prstGeom prst="roundRect">
            <a:avLst>
              <a:gd name="adj" fmla="val 440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4064508"/>
            <a:ext cx="359633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W2 預告過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982712" y="4387596"/>
            <a:ext cx="3632911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W2 #35 的 test-time steering 三格（影像拉尖／reward／inverse），guidance 就是第一格。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imgs/w5-5-1.png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U3.6 實作：四種配對——只有配對不一樣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949440" cy="3520440"/>
          </a:xfrm>
          <a:prstGeom prst="roundRect">
            <a:avLst>
              <a:gd name="adj" fmla="val 3117"/>
            </a:avLst>
          </a:prstGeom>
          <a:solidFill>
            <a:srgbClr val="161F28"/>
          </a:solidFill>
          <a:ln w="12700">
            <a:solidFill>
              <a:srgbClr val="161F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65836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(a) 獨立：U2.5 的模型，直接載入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(b) reflow×1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x0 = torch.randn(N, 2)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28A"/>
                </a:solidFill>
                <a:highlight>
                  <a:srgbClr val="3A2E1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x1 = euler_sample(model_indep, x0, n_steps=200)[-1]  # 模型自己的 ODE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model_reflow1 = train_fm(pairs=(x0, x1))              # 固定配對重訓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(c) reflow×2：對 model_reflow1 再做一次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(d) minibatch OT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scipy.optimize import linear_sum_assignment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ot_pair(x0, x1):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torch.cdist(x0, x1) ** 2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_, col = linear_sum_assignment(C.numpy())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28A"/>
                </a:solidFill>
                <a:highlight>
                  <a:srgbClr val="3A2E1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x0, x1[col]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model_ot = train_fm(pair_fn=ot_pair, batch=256)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1280160"/>
            <a:ext cx="4053535" cy="3520440"/>
          </a:xfrm>
          <a:prstGeom prst="roundRect">
            <a:avLst>
              <a:gd name="adj" fmla="val 3117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1408176"/>
            <a:ext cx="37792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99832" y="1740408"/>
            <a:ext cx="3815791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沿用 `toy.py`、`fm.py`；新增 `couplings.py`、`interpolant.py`、`curvature.py`。所有模型同架構、同 seed、同步數。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99832" y="3179064"/>
            <a:ext cx="3815791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訓練迴圈只改 `x0, x1` 從哪裡來。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其他一行都沒動。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799832" y="3980688"/>
            <a:ext cx="3815791" cy="535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notebook：notes/notebooks/diffusion-models-applications/dma-w5-lab.ipynb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U3.6 步驟 1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a：四種配對放在一起量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5-6-four-coupl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2206" y="1389888"/>
            <a:ext cx="3156549" cy="4946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1600200"/>
          </a:xfrm>
          <a:prstGeom prst="roundRect">
            <a:avLst>
              <a:gd name="adj" fmla="val 6857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會看到的事情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1712976"/>
            <a:ext cx="3998671" cy="918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由左到右越來越直，reflow×2 與 OT 已接近直線；殘餘的彎集中在兩個月牙之間——條件直線交叉最密的地方。</a:t>
            </a:r>
            <a:endParaRPr lang="en-US" sz="1680" dirty="0"/>
          </a:p>
        </p:txBody>
      </p:sp>
      <p:sp>
        <p:nvSpPr>
          <p:cNvPr id="8" name="Shape 5"/>
          <p:cNvSpPr/>
          <p:nvPr/>
        </p:nvSpPr>
        <p:spPr>
          <a:xfrm>
            <a:off x="7498080" y="3063240"/>
            <a:ext cx="4236415" cy="1600200"/>
          </a:xfrm>
          <a:prstGeom prst="roundRect">
            <a:avLst>
              <a:gd name="adj" fmla="val 6857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317296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的四個指標（精確場）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2" y="3496056"/>
            <a:ext cx="3998671" cy="1011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 S ≈ 1.6、1 步誤差 ≈ 1.5、交叉 ≈ 23%；reflow×1 S 0.03、誤差 0.12、交叉 1%；batch OT(32) S 0.22、誤差 0.30；全域 OT S 0.02、誤差 0.06。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98080" y="4846320"/>
            <a:ext cx="4236415" cy="1600200"/>
          </a:xfrm>
          <a:prstGeom prst="roundRect">
            <a:avLst>
              <a:gd name="adj" fmla="val 6857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495604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直和省是兩件事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616952" y="5279136"/>
            <a:ext cx="3998671" cy="9884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reflow×1 和全域 OT 在「直」上打成平手，但運輸成本 OT 一貫略低。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旋鈕動的是路，不是終點。</a:t>
            </a:r>
            <a:endParaRPr lang="en-US" sz="182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w5-6-four-couplings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曲率積分小，誤差就一定小嗎？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這件事能不能在自己的圖上驗一次？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U3.6 步驟 3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65760" y="224028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2331720"/>
            <a:ext cx="356616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def curvature_integral(model, x0, n_fine=1000):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traj = euler_sample(model, x0, n_fine)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v = (traj[1:] - traj[:-1]) * n_fine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a = (v[1:] - v[:-1]) * n_fine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return a.norm(dim=-1).mean(0).mean()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細步差分兩次：對 t 積分、再對起點平均。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b：曲率積分 vs 誤差；步驟 4：straightness 與運輸成本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501488" cy="2941320"/>
          </a:xfrm>
          <a:prstGeom prst="roundRect">
            <a:avLst>
              <a:gd name="adj" fmla="val 4352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517230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b 會看到的事情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520888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四個模型的 𝔼∫‖ẍ‖dt 對 Euler 10 步終點的 W₂，兩軸取對數：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四個點近似共線、斜率約 1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。這是 U3.2 不等式換成訓練出來的網路之後的實證——高度由曲率決定。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3191256"/>
            <a:ext cx="520888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再加一組步數 N ∈ {5, 10, 20}：點整體上下平移，相對順序不變。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33008" y="1234440"/>
            <a:ext cx="5501488" cy="2941320"/>
          </a:xfrm>
          <a:prstGeom prst="roundRect">
            <a:avLst>
              <a:gd name="adj" fmla="val 4352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7600" y="1362456"/>
            <a:ext cx="517230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4 的表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79312" y="1752600"/>
            <a:ext cx="520888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對每個模型算 S 與 𝔼‖X₁ − X₀‖²。reflow 的兩個數都單調下降，OT 的運輸成本最低。把 OT 成本和全域 OT（2000 點精確解）比一下，就知道 reflow 的極限離 OT 有多遠。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U3.6 步驟 3–4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5：ODE 與 SDE 在第幾步交叉（圖 c）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949440" cy="2377440"/>
          </a:xfrm>
          <a:prstGeom prst="roundRect">
            <a:avLst>
              <a:gd name="adj" fmla="val 4615"/>
            </a:avLst>
          </a:prstGeom>
          <a:solidFill>
            <a:srgbClr val="161F28"/>
          </a:solidFill>
          <a:ln w="12700">
            <a:solidFill>
              <a:srgbClr val="161F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658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sde_step(x, t, h, eps_t):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b, eta = model(x, t)          # 雙 head：b_t 與 eta_t
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28A"/>
                </a:solidFill>
                <a:highlight>
                  <a:srgbClr val="3A2E1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-eta / gamma(t)           # U3.0 的 score 式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noise = (2 * eps_t * h) ** 0.5 * torch.randn_like(x)
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28A"/>
                </a:solidFill>
                <a:highlight>
                  <a:srgbClr val="3A2E1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 + h * (b + eps_t * s) + noise   # U3.1 的一族 SDE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680960" y="1280160"/>
            <a:ext cx="4053535" cy="2377440"/>
          </a:xfrm>
          <a:prstGeom prst="roundRect">
            <a:avLst>
              <a:gd name="adj" fmla="val 4615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1408176"/>
            <a:ext cx="37792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99832" y="1740408"/>
            <a:ext cx="3815791" cy="6696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訓一個 γₜ = 0.3√(2t(1−t)) 的模型。對 ε ∈ {0, 0.1, 0.5} 與步數 {10, 50, 200, 1000} 算 W₂，畫三條曲線。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99832" y="2501452"/>
            <a:ext cx="3815791" cy="6696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先寫下你的猜測：這三條會不會交叉？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要驗的是 U1.4 的判準——不是「哪一個比較好」，而是「在這個設定下哪一種誤差佔上風」。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99832" y="3262496"/>
            <a:ext cx="3815791" cy="6696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再做：t = 0.3 對所有樣本注入 +0.5 偏移。ε = 0 的偏移完整保留，ε &gt; 0 被吸收掉一部分。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U3.6 步驟 5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Remark：這一步很容易得到和文獻相反的結論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3732276"/>
          </a:xfrm>
          <a:prstGeom prst="roundRect">
            <a:avLst>
              <a:gd name="adj" fmla="val 358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εₜ 的尺度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2939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 εₜ = cγₜ² 取而 γ 又很小，每步注入的噴聲 √(2εh) 很小，而 score 項提供很強的收縮——SDE 幾乎在所有步數都比 ODE 好，因為它其實是一個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更穩定的積分器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，不是「多了噴聲」。要重現文獻的圖像，ε 得取到 diffusion reverse SDE 那個量級。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3732276"/>
          </a:xfrm>
          <a:prstGeom prst="roundRect">
            <a:avLst>
              <a:gd name="adj" fmla="val 358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score 是精確的還是學出來的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23027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邊際不變性用到 sₜ 是真正的 score。sₜ 有誤差時 ε 越大偏得越多——文獻上「多步 SDE 更好」同時包含了「噴聲能抵掉一部分網路誤差」，toy 上 score 幾乎精確就看不到這一面。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3732276"/>
          </a:xfrm>
          <a:prstGeom prst="roundRect">
            <a:avLst>
              <a:gd name="adj" fmla="val 358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正確做法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04581" y="1752600"/>
            <a:ext cx="328361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先把 ε 掃過一個大範圍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，並且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同時報告精確 score 與訓練 score 的兩組曲線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。得到和文獻不同的結論不一定是做錯，但一定要說清楚是在哪個設定下量到的。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U3.6 Remark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b 上有一個點明顯落在那條共線之上——</a:t>
            </a:r>
            <a:endParaRPr lang="en-US" sz="26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同樣的曲率積分，誤差卻大了一截。第一個該懷疑什麼？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</a:t>
            </a:r>
            <a:endParaRPr lang="en-US" sz="15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Q1：不等式有兩個因子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226440" cy="3968996"/>
          </a:xfrm>
          <a:prstGeom prst="roundRect">
            <a:avLst>
              <a:gd name="adj" fmla="val 3225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897256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先懷疑 C_L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3897256" cy="782312"/>
          </a:xfrm>
          <a:prstGeom prst="roundRect">
            <a:avLst>
              <a:gd name="adj" fmla="val 935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0ae745aca0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60165"/>
            <a:ext cx="3714376" cy="567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626352"/>
            <a:ext cx="3933832" cy="23027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畫散點圖時我們默默假設各模型的 C_L 差不多。某個點偏高，第一個該懷疑的是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那個模型的速度場 Lipschitz 常數比較大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——場更「陡」，同樣的局部誤差被放大得更多。不是曲率算錯，也不是步數不夠（步數只讓整條線平移）。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957960" y="1234440"/>
            <a:ext cx="3251108" cy="3968996"/>
          </a:xfrm>
          <a:prstGeom prst="roundRect">
            <a:avLst>
              <a:gd name="adj" fmla="val 3938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2552" y="1362456"/>
            <a:ext cx="292192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怎麼檢查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122552" y="1752600"/>
            <a:ext cx="2921924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95704" y="1770888"/>
            <a:ext cx="2775620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在一批隨機 (x, t) 上估 ‖∂u_θ/∂x‖ 的譜範數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122552" y="2504694"/>
            <a:ext cx="2921924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95704" y="2522982"/>
            <a:ext cx="2775620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看權重範數、有沒有 weight decay／spectral norm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122552" y="3256788"/>
            <a:ext cx="2921924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195704" y="3275076"/>
            <a:ext cx="2775620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誤差是不是集中在少數起點（大部分很好、少數幾條爆掉）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483388" y="1234440"/>
            <a:ext cx="3251108" cy="3968996"/>
          </a:xfrm>
          <a:prstGeom prst="roundRect">
            <a:avLst>
              <a:gd name="adj" fmla="val 3938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47980" y="1362456"/>
            <a:ext cx="292192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C_L 也差不多時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629692" y="1752600"/>
            <a:ext cx="2958500" cy="23027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才輪到懷疑量測：`n_fine` 夠不夠細（差分兩次對步長很敏感）、W₂ 樣本數、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有沒有樣本走到不同的 mode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（誤差 O(1)、和步數幾乎無關，會把平均拉歪——用中位數）。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457200" y="5432036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5800" y="5592056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5592056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2331720" y="5569196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514600" y="5477756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點偏離那條線的時候，先懷疑 C_L，不要先懷疑理論。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U3.6 Q1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三個單元，一張圖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713232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mnt/user-data/uploads/site/src/content/notes/research-areas/diffusion-models-and-their-applications/week-5/imgs/w5-6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9052"/>
            <a:ext cx="6912864" cy="46085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280160"/>
            <a:ext cx="3870655" cy="1600200"/>
          </a:xfrm>
          <a:prstGeom prst="roundRect">
            <a:avLst>
              <a:gd name="adj" fmla="val 6857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389888"/>
            <a:ext cx="359633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回歸得到 score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982712" y="1712976"/>
            <a:ext cx="3632911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denoising 回歸出發，證明它其實學到了 score（U1）。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863840" y="3063240"/>
            <a:ext cx="3870655" cy="1600200"/>
          </a:xfrm>
          <a:prstGeom prst="roundRect">
            <a:avLst>
              <a:gd name="adj" fmla="val 6857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3172968"/>
            <a:ext cx="359633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score 換成速度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982712" y="3496056"/>
            <a:ext cx="3632911" cy="3916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看見軌跡為什麼彎（U2）。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7863840" y="4846320"/>
            <a:ext cx="3870655" cy="1600200"/>
          </a:xfrm>
          <a:prstGeom prst="roundRect">
            <a:avLst>
              <a:gd name="adj" fmla="val 6857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01000" y="4956048"/>
            <a:ext cx="359633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曲率控制誤差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82712" y="5279136"/>
            <a:ext cx="3632911" cy="918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把彎寫成積分、證明它壓住誤差、用配對把它壓小；看清噴聲在訓練與取樣兩處各扮演什麼角色（U3）。</a:t>
            </a:r>
            <a:endParaRPr lang="en-US" sz="168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imgs/w5-6-1.png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作業（U3）</a:t>
            </a:r>
            <a:endParaRPr lang="en-US" sz="32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035040"/>
                <a:gridCol w="432511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題目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要看什麼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Guidance 與曲率：兩類月牙訓條件 FM（dropout 0.1），w ∈ {1, 2, 4, 8} 算曲率積分與 Euler 10 步 W₂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還落在圖 b 那條線上嗎？終點散布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Heun 重跑步驟 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斜率變多少？哪個模型改善最多、最少？用三階導數論證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時間加權：logit-normal 抽 t 重訓獨立配對 FM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它在圖 b 上移動的是橫座標還是縱座標？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γ 的張力：γ ∈ {0, 0.1, 0.3, 1.0} 各訓一個 OT 配對模型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曲率積分與最佳 ε 下 SDE 1000 步 W₂ 對 γ 的兩條曲線——先猜再跑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5（選）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MNIST 上重做 (a)(d)，比 Euler 10 步 FID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增益是不是比 2D 小？成本矩陣變異係數 ≈ √(2/d)？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U3.6 作業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消化一下</a:t>
            </a:r>
            <a:endParaRPr lang="en-US" sz="32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920240"/>
                <a:gridCol w="2651760"/>
                <a:gridCol w="2286000"/>
                <a:gridCol w="149047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題目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γ ≡ 0 且配對是確定性映射時？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bₜ 不存在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兩者都不存在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bₜ 照樣存在可回歸；沒有可回歸的 score，pₜ 可能連密度都沒有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只有 score 存在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訓練 γ &gt; 0、取樣用 Euler 解 ODE，這個取樣器？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有自我修正，因為訓練有噴聲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沒有自我修正——γ 只讓你「可以」學到 score，這個取樣器沒用到它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會發散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邊際會偏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根據 demo，下列哪句不對？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換配對是最有效的一招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曲率積分和誤差在 log-log 上大致成正比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γ &gt; 0 讓積分不可能等於 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加上 γₜ z 一定讓曲率積分變大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 = 4 做 minibatch OT，終點分布？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偏離 p₁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仍然是 p₁，只是軌跡比較彎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塌到少數幾點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無法判斷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quiz w5-0-c / w5-1-b / w5-2-d / w5-4-b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三個單元的主線在這裡收尾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501488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517230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走過的路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520888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denoising 回歸出發，證明它其實學到了 score；把 score 換成速度，看見軌跡為什麼彎；把彎寫成一個積分、證明它壓住誤差、再用配對把它壓小；最後看清噴聲在訓練與取樣兩處各扮演什麼角色。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33008" y="1234440"/>
            <a:ext cx="5501488" cy="2866644"/>
          </a:xfrm>
          <a:prstGeom prst="roundRect">
            <a:avLst>
              <a:gd name="adj" fmla="val 446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97600" y="1362456"/>
            <a:ext cx="517230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79312" y="1752600"/>
            <a:ext cx="520888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離散資料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：兩個 token 之間沒有「中間」，「加一點噴聲」該換成什麼？這幾樣工具——conditional trick、一步之內假設太簡單的結構、訓練噴聲 vs 取樣噴聲——會一直回來。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Bridge → U4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課程叮嚀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作業一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這一堂就是 Week 5（10/08）——上課前截止。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三個候選題目擇一。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下次上課前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先讀 U4 六篇；注意 U4 的 ᾱₜ 是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機率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（token 沒被動過的機率），不是連續世界的振幅 √ᾱₜ。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NTU COOL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04581" y="1752600"/>
            <a:ext cx="328361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教材有錯或有問題，直接在 NTU COOL 上討論。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U3 Stochastic Interpolants</dc:title>
  <dc:subject>PptxGenJS Presentation</dc:subject>
  <dc:creator>Shih-Hsin Wang</dc:creator>
  <cp:lastModifiedBy>Shih-Hsin Wang</cp:lastModifiedBy>
  <cp:revision>1</cp:revision>
  <dcterms:created xsi:type="dcterms:W3CDTF">2026-09-20T16:47:12Z</dcterms:created>
  <dcterms:modified xsi:type="dcterms:W3CDTF">2026-09-20T16:47:12Z</dcterms:modified>
</cp:coreProperties>
</file>