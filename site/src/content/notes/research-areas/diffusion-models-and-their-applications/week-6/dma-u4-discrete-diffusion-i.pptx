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</p:sldIdLst>
  <p:notesMasterIdLst>
    <p:notesMasterId r:id="rId7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notesMaster" Target="notesMasters/notesMaster1.xml"/><Relationship Id="rId73" Type="http://schemas.openxmlformats.org/officeDocument/2006/relationships/presProps" Target="presProps.xml"/><Relationship Id="rId74" Type="http://schemas.openxmlformats.org/officeDocument/2006/relationships/viewProps" Target="viewProps.xml"/><Relationship Id="rId75" Type="http://schemas.openxmlformats.org/officeDocument/2006/relationships/theme" Target="theme/theme1.xml"/><Relationship Id="rId7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 2 分鐘。全單元視覺：序列一律畫成一排等寬圓角方塊（W2 #29–31）。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image" Target="../media/image-4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image" Target="../media/image-6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c4ae4d00-ecec-599d-99af-5b416eb8503d/scratchpad/build/w2media/slide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97280" y="1325880"/>
            <a:ext cx="9997135" cy="3200400"/>
          </a:xfrm>
          <a:prstGeom prst="roundRect">
            <a:avLst>
              <a:gd name="adj" fmla="val 5714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1371600" y="1554480"/>
            <a:ext cx="9448495" cy="1554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4000" b="1" dirty="0">
                <a:solidFill>
                  <a:srgbClr val="0016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U4 Discrete Diffusion I：</a:t>
            </a:r>
            <a:endParaRPr lang="en-US" sz="4000" dirty="0"/>
          </a:p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4000" b="1" dirty="0">
                <a:solidFill>
                  <a:srgbClr val="0016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資料是 Token 的時候，噴聲是什麼？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1371600" y="3154680"/>
            <a:ext cx="9448495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2000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Diffusion Models and Their Applications · Week 6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1371600" y="3794760"/>
            <a:ext cx="9448495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已知的 Markov chain · x₀-parametrization · 加權 masked cross-entropy · 因子化誤差當曲率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換一種資料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576218" cy="5137099"/>
          </a:xfrm>
          <a:prstGeom prst="roundRect">
            <a:avLst>
              <a:gd name="adj" fmla="val 3580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前三個單元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1752600"/>
            <a:ext cx="3283610" cy="1347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資料一直是 ℝᵈ 裡的點：一張圖是 3072 個實數，一個 toy 樣本是平面上的一個座標。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307738" y="1234440"/>
            <a:ext cx="3576218" cy="5137099"/>
          </a:xfrm>
          <a:prstGeom prst="roundRect">
            <a:avLst>
              <a:gd name="adj" fmla="val 3580"/>
            </a:avLst>
          </a:prstGeom>
          <a:solidFill>
            <a:srgbClr val="F2EE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472330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這個單元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454042" y="1752600"/>
            <a:ext cx="3283610" cy="2621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一句話是一串 token：`我 / 今天 / 想 / 吃 / …`，每個位置從大小 K 的字典裡選一個。一段蛋白質是二十種胺基酸排成的序列。一個分子是原子種類加上「哪兩個原子之間有鍵」的 0/1 表。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它們是類別，不是數值。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8158277" y="1234440"/>
            <a:ext cx="3576218" cy="5137099"/>
          </a:xfrm>
          <a:prstGeom prst="roundRect">
            <a:avLst>
              <a:gd name="adj" fmla="val 3580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2869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這個單元的六篇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304581" y="1752600"/>
            <a:ext cx="3283610" cy="434461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82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U4.0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82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資料是 Token 的時候，噴聲是什麼？
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82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U4.1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82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D3PM：Transition Matrix、Closed Form 與 x₀-Parametrization
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82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U4.2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82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Masked Diffusion：ELBO 塌成加權的 Cross-Entropy
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82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U4.3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82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因子化誤差：離散世界的曲率
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82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U4.4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82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Absorbing 與 Uniform：翻錯的字能不能改？
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82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U4.5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82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實作：Parity 與 Markov Toy</a:t>
            </a:r>
            <a:endParaRPr lang="en-US" sz="18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這個單元的慣例——先看這張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729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931920"/>
                <a:gridCol w="5330952"/>
              </a:tblGrid>
              <a:tr h="594360">
                <a:tc>
                  <a:txBody>
                    <a:bodyPr/>
                    <a:lstStyle/>
                    <a:p>
                      <a:endParaRPr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連續世界（U1）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離散世界（U4）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74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狀態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x ∈ ℝᵈ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x ∈ {1, …, K}，寫成 one-hot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列向量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；[MASK] 是第 K+1 個符號 ▨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forward 一步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xₜ = √(1−βₜ) xₜ₋₁ + √βₜ ε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q(xₜ | xₜ₋₁) = Cat(xₜ₋₁ Qₜ)，Qₜ 每列和為 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閉式邊際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xₜ = √ᾱₜ x₀ + σₜ ε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q(xₜ | x₀) = Cat(x₀ Q̄ₜ)，Q̄ₜ = Q₁ ⋯ Qₜ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ᾱₜ 的意思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振幅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（能量是它的平方）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機率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：token 沒被動過的機率——差一個平方根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時間方向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 = 0 是資料（同）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 = 0 是資料（同）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回歸目標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𝔼[x₀ | xₜ]（MSE）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p(x₀ | xₜ) 這個條件分佈本身（cross-entropy）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5669280"/>
            <a:ext cx="11277295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最容易錯的一格：</a:t>
            </a:r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ᾱₜ 這裡是機率，不是振幅 √ᾱₜ</a:t>
            </a:r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。兩邊都用 ᾱₜ，是為了把「還剩多少原始訊號」的直覺搬過來；代進式子時不要記錯。</a:t>
            </a:r>
            <a:endParaRPr lang="en-US" sz="135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U4.1 Remark「符號」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c4ae4d00-ecec-599d-99af-5b416eb8503d/scratchpad/build/w2pages/p-2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9010" y="0"/>
            <a:ext cx="11513675" cy="647395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65760" y="6492240"/>
            <a:ext cx="11460175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沿用 Week 2 #29 · 連續的那一套，可以直接套到離散的嗎？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c4ae4d00-ecec-599d-99af-5b416eb8503d/scratchpad/build/w2media/slide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1874520"/>
          </a:xfrm>
          <a:prstGeom prst="rect">
            <a:avLst/>
          </a:prstGeom>
          <a:solidFill>
            <a:srgbClr val="FBFCFE"/>
          </a:solidFill>
          <a:ln w="12700">
            <a:solidFill>
              <a:srgbClr val="FBFCF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1874520"/>
            <a:ext cx="12191695" cy="274320"/>
          </a:xfrm>
          <a:prstGeom prst="rect">
            <a:avLst/>
          </a:prstGeom>
          <a:solidFill>
            <a:srgbClr val="FBFCFE">
              <a:alpha val="55000"/>
            </a:srgbClr>
          </a:solidFill>
          <a:ln w="12700">
            <a:solidFill>
              <a:srgbClr val="FBFCFE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82880"/>
            <a:ext cx="11094415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30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 token 之間沒有「中間」。</a:t>
            </a:r>
            <a:endParaRPr lang="en-US" sz="3000" dirty="0"/>
          </a:p>
          <a:p>
            <a:pPr algn="ctr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30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那「加一點噴聲」該換成什麼？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1417320"/>
            <a:ext cx="10362895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U4.0 資料是 Token 的時候，噴聲是什麼？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它們是類別，不是數值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5501488" cy="2866644"/>
          </a:xfrm>
          <a:prstGeom prst="roundRect">
            <a:avLst>
              <a:gd name="adj" fmla="val 4466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362456"/>
            <a:ext cx="517230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沒有中間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1752600"/>
            <a:ext cx="5208880" cy="1347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「想」和「吃」的平均不是一個字。U1 的起點「把 x₀ 一點一點加 Gaussian noise 直到變成 N(0, I)」，第一步就出問題：對一串 token，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x₀ + σε 根本不是一個合法的物件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233008" y="1234440"/>
            <a:ext cx="5501488" cy="2866644"/>
          </a:xfrm>
          <a:prstGeom prst="roundRect">
            <a:avLst>
              <a:gd name="adj" fmla="val 4466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97600" y="1362456"/>
            <a:ext cx="517230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先別急著找替代品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379312" y="1752600"/>
            <a:ext cx="5208880" cy="1347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盤點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一次：前三個單元的框架裡，哪些東西真的用到了「狀態是連續的」，哪些只是用到了「forward 是一條我們自己寫好的、邊際好算的鏈」。盤點完會發現，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壞掉的比想像中少。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U4.0 §1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盤點：哪些壞了，哪些還活著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729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657600"/>
                <a:gridCol w="4325112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U1 的四個環節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用到什麼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離散世界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7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 自己定一條從資料到噴聲的路徑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路徑已知、q(xₜ | x₀) 有 closed form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✓ 只需要一條 </a:t>
                      </a:r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Markov chain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 在每個 t 做回歸，預測 x₀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MSE 的最小值是 conditional expectation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✓ MSE → cross-entropy；目標 𝔼[x₀ | xₜ] → p(x₀ | xₜ)。</a:t>
                      </a:r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conditional trick 一字不改地成立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 denoiser 就是 score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Tweedie：Gaussian 密度對 x 可微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✗ 類別之間沒有方向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 反向過程是 SDE／ODE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∇log pₜ 這個梯度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✗ 沒有「往密度高的方向走一小步」——U5 用另一種語言重建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5303520"/>
            <a:ext cx="11277295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所以這個單元的任務比重新發明一個框架小得多：</a:t>
            </a:r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把「加噴聲」換成一條離散的 Markov chain，然後看回歸目標長什麼樣。</a:t>
            </a:r>
            <a:endParaRPr lang="en-US" sz="135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U4.0 §2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c4ae4d00-ecec-599d-99af-5b416eb8503d/scratchpad/build/w2media/slide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1874520"/>
          </a:xfrm>
          <a:prstGeom prst="rect">
            <a:avLst/>
          </a:prstGeom>
          <a:solidFill>
            <a:srgbClr val="FBFCFE"/>
          </a:solidFill>
          <a:ln w="12700">
            <a:solidFill>
              <a:srgbClr val="FBFCF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1874520"/>
            <a:ext cx="12191695" cy="274320"/>
          </a:xfrm>
          <a:prstGeom prst="rect">
            <a:avLst/>
          </a:prstGeom>
          <a:solidFill>
            <a:srgbClr val="FBFCFE">
              <a:alpha val="55000"/>
            </a:srgbClr>
          </a:solidFill>
          <a:ln w="12700">
            <a:solidFill>
              <a:srgbClr val="FBFCFE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82880"/>
            <a:ext cx="11094415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30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「加噴聲」在離散空間上該換成什麼？</a:t>
            </a:r>
            <a:endParaRPr lang="en-US" sz="3000" dirty="0"/>
          </a:p>
          <a:p>
            <a:pPr algn="ctr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30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先自己想兩三種候選。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1417320"/>
            <a:ext cx="10362895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Q1：每一種——T 步之後終點是什麼？q(xₜ | x₀) 算得出來嗎？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Q1：候選過一遍，剩下兩個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576218" cy="5139944"/>
          </a:xfrm>
          <a:prstGeom prst="roundRect">
            <a:avLst>
              <a:gd name="adj" fmla="val 3580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會被想到的候選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21792" y="1752600"/>
            <a:ext cx="3247034" cy="660654"/>
          </a:xfrm>
          <a:prstGeom prst="roundRect">
            <a:avLst>
              <a:gd name="adj" fmla="val 8304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94944" y="1770888"/>
            <a:ext cx="3100730" cy="62407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隨機把 token 換成字典裡任意一個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" y="2504694"/>
            <a:ext cx="3247034" cy="403479"/>
          </a:xfrm>
          <a:prstGeom prst="roundRect">
            <a:avLst>
              <a:gd name="adj" fmla="val 13598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94944" y="2522982"/>
            <a:ext cx="3100730" cy="36690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 token 換成特殊符號 [MASK]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1792" y="2999613"/>
            <a:ext cx="3247034" cy="403479"/>
          </a:xfrm>
          <a:prstGeom prst="roundRect">
            <a:avLst>
              <a:gd name="adj" fmla="val 13598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94944" y="3017901"/>
            <a:ext cx="3100730" cy="36690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隨機刪掉 token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1792" y="3494532"/>
            <a:ext cx="3247034" cy="660654"/>
          </a:xfrm>
          <a:prstGeom prst="roundRect">
            <a:avLst>
              <a:gd name="adj" fmla="val 8304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94944" y="3512820"/>
            <a:ext cx="3100730" cy="62407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embedding ＋ Gaussian noise 再 round 回去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1792" y="4246626"/>
            <a:ext cx="3247034" cy="403479"/>
          </a:xfrm>
          <a:prstGeom prst="roundRect">
            <a:avLst>
              <a:gd name="adj" fmla="val 13598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4944" y="4264914"/>
            <a:ext cx="3100730" cy="36690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隨機交換相鄰 token 的位置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307738" y="1234440"/>
            <a:ext cx="3576218" cy="5139944"/>
          </a:xfrm>
          <a:prstGeom prst="roundRect">
            <a:avLst>
              <a:gd name="adj" fmla="val 3580"/>
            </a:avLst>
          </a:prstGeom>
          <a:solidFill>
            <a:srgbClr val="F2EE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472330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兩個原則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454042" y="1752600"/>
            <a:ext cx="3283610" cy="29397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一、forward 必須是完全已知的 Markov chain，且 q(xₜ | x₀) 有 closed form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——否則做不出 (xₜ, x₀) 配對。「刪掉」讓長度變、「交換位置」的多步邊際很難寫，出局。
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二、終點分佈簡單到可以直接抽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——取樣的起點。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8158277" y="1234440"/>
            <a:ext cx="3576218" cy="5139944"/>
          </a:xfrm>
          <a:prstGeom prst="roundRect">
            <a:avLst>
              <a:gd name="adj" fmla="val 3580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22869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留下兩個標準選擇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304581" y="1752600"/>
            <a:ext cx="3283610" cy="3258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Uniform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：每步每個 token 以機率 βₜ 換成字典裡均勻隨機的一個（可能換回自己）。終點：每個位置獨立均勻。
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Absorbing／mask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：字典多加 [MASK]；每步每個還沒被遮的 token 以機率 βₜ 變成 [MASK]，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一旦變成就永遠留在那裡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。終點：整串全 [MASK]，一個確定的狀態。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8304581" y="5102352"/>
            <a:ext cx="3283610" cy="9977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embedding＋round 是第三條路（Diffusion-LM），把問題丟回連續空間；在語言上 mask 長期壓過它，本課不走。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U4.0 Q1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一個容易混的詞：discrete 指狀態空間，不是步數有限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729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389120"/>
                <a:gridCol w="4507992"/>
              </a:tblGrid>
              <a:tr h="731520">
                <a:tc>
                  <a:txBody>
                    <a:bodyPr/>
                    <a:lstStyle/>
                    <a:p>
                      <a:endParaRPr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狀態連續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狀態離散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7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時間離散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DDPM（U1.4）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D3PM、masked diffusion（</a:t>
                      </a:r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本單元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）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時間連續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SDE／ODE（U1.4、U3.1）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CTMC、SEDD、discrete FM（U5）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840480"/>
            <a:ext cx="11277295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本單元在左上 → 右上做翻譯：把時間離散、狀態連續的 DDPM 翻成時間離散、狀態離散的版本，先在熟悉的結構裡接受「離散噴聲」；下一個單元再把時間變連續，重建 score 與 sampler 的語言。</a:t>
            </a:r>
            <a:endParaRPr lang="en-US" sz="135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U4.0 §3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c4ae4d00-ecec-599d-99af-5b416eb8503d/scratchpad/build/w2pages/p-3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9010" y="0"/>
            <a:ext cx="11513675" cy="647395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65760" y="6492240"/>
            <a:ext cx="11460175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沿用 Week 2 #30 · forward 遮住、reverse 一次翻開一格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兩條鏈，兩個終點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6766560" cy="5166360"/>
          </a:xfrm>
          <a:prstGeom prst="roundRect">
            <a:avLst>
              <a:gd name="adj" fmla="val 2124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4" name="Image 0" descr="/tmp/claude-0/-home-claude/c4ae4d00-ecec-599d-99af-5b416eb8503d/scratchpad/build/shots/w6-0-nois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2077" y="1389888"/>
            <a:ext cx="4176805" cy="49469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98080" y="1280160"/>
            <a:ext cx="4236415" cy="2491740"/>
          </a:xfrm>
          <a:prstGeom prst="roundRect">
            <a:avLst>
              <a:gd name="adj" fmla="val 4404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635240" y="1389888"/>
            <a:ext cx="396209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demo：同一句、同一個 t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616952" y="1712976"/>
            <a:ext cx="3998671" cy="1481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68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上排 uniform、下排 absorbing。兩排被動過的格數大致相同（都是機率 ᾱₜ 存活），差別在動過之後長什麼樣。往右拖 t：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68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absorbing 沒有格子復原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68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——那就是「吸收態」的意思。</a:t>
            </a:r>
            <a:endParaRPr lang="en-US" sz="1680" dirty="0"/>
          </a:p>
        </p:txBody>
      </p:sp>
      <p:sp>
        <p:nvSpPr>
          <p:cNvPr id="8" name="Shape 5"/>
          <p:cNvSpPr/>
          <p:nvPr/>
        </p:nvSpPr>
        <p:spPr>
          <a:xfrm>
            <a:off x="7498080" y="3954780"/>
            <a:ext cx="4236415" cy="2491740"/>
          </a:xfrm>
          <a:prstGeom prst="roundRect">
            <a:avLst>
              <a:gd name="adj" fmla="val 4404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635240" y="4064508"/>
            <a:ext cx="396209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點一個格子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616952" y="4387596"/>
            <a:ext cx="3998671" cy="10287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下方長條圖是該位置的 q(xₜ | x₀)：uniform 從一根柱子慢慢攤成一片均勻，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absorbing 永遠只有兩根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 w6-0-noising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28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Uniform 推向均勻的亂字；absorbing 把不確定性集中到同一個吸收態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7132320" cy="5166360"/>
          </a:xfrm>
          <a:prstGeom prst="roundRect">
            <a:avLst>
              <a:gd name="adj" fmla="val 2124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4" name="Image 0" descr="/mnt/user-data/uploads/site/src/content/notes/research-areas/diffusion-models-and-their-applications/week-6/imgs/w6-0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59052"/>
            <a:ext cx="6912864" cy="460857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863840" y="1280160"/>
            <a:ext cx="3870655" cy="2491740"/>
          </a:xfrm>
          <a:prstGeom prst="roundRect">
            <a:avLst>
              <a:gd name="adj" fmla="val 4404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01000" y="1389888"/>
            <a:ext cx="359633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Uniform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982712" y="1712976"/>
            <a:ext cx="3632911" cy="10287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終點是每個位置獨立均勻——連續世界「加 Gaussian noise 直到 N(0, I)」最直接的類比。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7863840" y="3954780"/>
            <a:ext cx="3870655" cy="2491740"/>
          </a:xfrm>
          <a:prstGeom prst="roundRect">
            <a:avLst>
              <a:gd name="adj" fmla="val 4404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01000" y="4064508"/>
            <a:ext cx="359633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Absorbing／mask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982712" y="4387596"/>
            <a:ext cx="3632911" cy="1347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終點是全 [MASK]，一個確定狀態。看起來像比較「偷懶」的那一條——連噴聲都不是隨機字，只是把字蓋起來。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imgs/w6-0-1.png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 mask 要特別看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576218" cy="4050792"/>
          </a:xfrm>
          <a:prstGeom prst="roundRect">
            <a:avLst>
              <a:gd name="adj" fmla="val 3580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uniform 沒有的性質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1752600"/>
            <a:ext cx="3283610" cy="1984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在任何 t，xₜ 裡沒被遮的 token 一定就是 x₀ 的原字。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看到一個沒被遮的位置，你就確定知道它的答案；不確定的資訊全部集中在被遮的位置。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307738" y="1234440"/>
            <a:ext cx="3576218" cy="4050792"/>
          </a:xfrm>
          <a:prstGeom prst="roundRect">
            <a:avLst>
              <a:gd name="adj" fmla="val 3580"/>
            </a:avLst>
          </a:prstGeom>
          <a:solidFill>
            <a:srgbClr val="F2EE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472330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數學會大幅簡化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454042" y="1752600"/>
            <a:ext cx="3283610" cy="3258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回歸目標只需要對被遮的位置預測，loss 塌成一個加了時間權重的 masked cross-entropy——BERT 的 masked language modeling，多了「遮多少比例是隨機的、而且要對所有比例都學會」這一層。MaskGIT（影像 token）、一系列 masked diffusion LM（文字）走的都是這條線。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8158277" y="1234440"/>
            <a:ext cx="3576218" cy="4050792"/>
          </a:xfrm>
          <a:prstGeom prst="roundRect">
            <a:avLst>
              <a:gd name="adj" fmla="val 3580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2869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代價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304581" y="1752600"/>
            <a:ext cx="3283610" cy="1984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被遮的 token 一旦被還原，就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永遠固定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，之後沒有機會改它——和 U3.1「ODE 沒有自我修正」是同一件事。這裡先給直覺，U4.4 比較兩條鏈，U5 有了 rate 的語言再量化。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U4.0 §4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c4ae4d00-ecec-599d-99af-5b416eb8503d/scratchpad/build/w2media/slide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1874520"/>
          </a:xfrm>
          <a:prstGeom prst="rect">
            <a:avLst/>
          </a:prstGeom>
          <a:solidFill>
            <a:srgbClr val="FBFCFE"/>
          </a:solidFill>
          <a:ln w="12700">
            <a:solidFill>
              <a:srgbClr val="FBFCF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1874520"/>
            <a:ext cx="12191695" cy="274320"/>
          </a:xfrm>
          <a:prstGeom prst="rect">
            <a:avLst/>
          </a:prstGeom>
          <a:solidFill>
            <a:srgbClr val="FBFCFE">
              <a:alpha val="55000"/>
            </a:srgbClr>
          </a:solidFill>
          <a:ln w="12700">
            <a:solidFill>
              <a:srgbClr val="FBFCFE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82880"/>
            <a:ext cx="11094415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28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上一篇挑好了兩條鏈。</a:t>
            </a:r>
            <a:endParaRPr lang="en-US" sz="2800" dirty="0"/>
          </a:p>
          <a:p>
            <a:pPr algn="ctr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28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那「q(xₜ | x₀) 有 closed form」在離散世界是什麼意思？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1417320"/>
            <a:ext cx="10362895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U4.1 D3PM：Transition Matrix、Closed Form 與 x₀-Parametrization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先只看一個 token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4783902" cy="2866644"/>
          </a:xfrm>
          <a:prstGeom prst="roundRect">
            <a:avLst>
              <a:gd name="adj" fmla="val 4466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362456"/>
            <a:ext cx="4454718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forward 對每個位置獨立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1752600"/>
            <a:ext cx="4491294" cy="1347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一句話有很多 token，但 forward 對每個位置是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獨立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地加噴聲，所以先只盯著一個位置。狀態 x ∈ {1, …, K}，寫成 one-hot 的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列向量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515422" y="1234440"/>
            <a:ext cx="6219073" cy="2866644"/>
          </a:xfrm>
          <a:prstGeom prst="roundRect">
            <a:avLst>
              <a:gd name="adj" fmla="val 4466"/>
            </a:avLst>
          </a:prstGeom>
          <a:solidFill>
            <a:srgbClr val="F2EE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80014" y="1362456"/>
            <a:ext cx="5889889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transition matrix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680014" y="1752600"/>
            <a:ext cx="5889889" cy="525277"/>
          </a:xfrm>
          <a:prstGeom prst="roundRect">
            <a:avLst>
              <a:gd name="adj" fmla="val 13926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9" name="Image 0" descr="/tmp/claude-0/-home-claude/c4ae4d00-ecec-599d-99af-5b416eb8503d/scratchpad/build/math/e17eea049c6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5232" y="1853184"/>
            <a:ext cx="3679454" cy="324109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661726" y="2369317"/>
            <a:ext cx="5926465" cy="1347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i 列是「從狀態 i 出發，下一步落在各狀態的機率」，每列和為 1。用 one-hot 列向量寫：q(xₜ | xₜ₋₁) = Cat(xₜ₋₁ Qₜ)——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xₜ₋₁ 挑出 Qₜ 的那一列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，那一列就是 xₜ 的分佈。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U4.1 §1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走 t 步就是連乘——這一行是整個單元的地基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512064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4" name="Image 0" descr="/tmp/claude-0/-home-claude/c4ae4d00-ecec-599d-99af-5b416eb8503d/scratchpad/build/shots/w6-1-q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1371" y="1389888"/>
            <a:ext cx="3672298" cy="371246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852160" y="1280160"/>
            <a:ext cx="5882335" cy="1874520"/>
          </a:xfrm>
          <a:prstGeom prst="roundRect">
            <a:avLst>
              <a:gd name="adj" fmla="val 5854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89320" y="1389888"/>
            <a:ext cx="560801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對回 U1.1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971032" y="1712976"/>
            <a:ext cx="5644591" cy="10287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「forward 是我們自己定的，所以任何 t 的 xₜ 可以一步抽出來」——在離散世界，這句話就是 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Q̄ₜ 有 closed form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5852160" y="3337560"/>
            <a:ext cx="5882335" cy="1874520"/>
          </a:xfrm>
          <a:prstGeom prst="roundRect">
            <a:avLst>
              <a:gd name="adj" fmla="val 5854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89320" y="3447288"/>
            <a:ext cx="560801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小問句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971032" y="3770376"/>
            <a:ext cx="5644591" cy="710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一般的矩陣連乘沒有 closed form——我們選的兩條鏈有嗎？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457200" y="5349240"/>
            <a:ext cx="11277295" cy="1051560"/>
          </a:xfrm>
          <a:prstGeom prst="roundRect">
            <a:avLst>
              <a:gd name="adj" fmla="val 8696"/>
            </a:avLst>
          </a:prstGeom>
          <a:solidFill>
            <a:srgbClr val="EAF4FD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94360" y="5404104"/>
            <a:ext cx="11002975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中心式</a:t>
            </a:r>
            <a:endParaRPr lang="en-US" sz="1200" dirty="0"/>
          </a:p>
        </p:txBody>
      </p:sp>
      <p:pic>
        <p:nvPicPr>
          <p:cNvPr id="13" name="Image 1" descr="/tmp/claude-0/-home-claude/c4ae4d00-ecec-599d-99af-5b416eb8503d/scratchpad/build/math/6b28022848e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0669" y="5851251"/>
            <a:ext cx="4690358" cy="303569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U4.1 §1 · demo w6-1-qbar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Uniform：形狀閉合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78992"/>
            <a:ext cx="11277295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每步以機率 βₜ 把 token 換成均勻隨機的一個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960120" cy="61246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Qₜ</a:t>
            </a:r>
            <a:endParaRPr lang="en-US" sz="1500" dirty="0"/>
          </a:p>
        </p:txBody>
      </p:sp>
      <p:pic>
        <p:nvPicPr>
          <p:cNvPr id="5" name="Image 0" descr="/tmp/claude-0/-home-claude/c4ae4d00-ecec-599d-99af-5b416eb8503d/scratchpad/build/math/175323feacd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738784"/>
            <a:ext cx="7391095" cy="42673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174175" y="1778417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265615" y="1778417"/>
            <a:ext cx="24688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J：每個元素都是 1/K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313249"/>
            <a:ext cx="960120" cy="49283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相乘</a:t>
            </a:r>
            <a:endParaRPr lang="en-US" sz="1500" dirty="0"/>
          </a:p>
        </p:txBody>
      </p:sp>
      <p:pic>
        <p:nvPicPr>
          <p:cNvPr id="9" name="Image 1" descr="/tmp/claude-0/-home-claude/c4ae4d00-ecec-599d-99af-5b416eb8503d/scratchpad/build/math/ef5eab4b912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2422506"/>
            <a:ext cx="7391095" cy="274319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9174175" y="238593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9265615" y="2385930"/>
            <a:ext cx="24688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形狀閉合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1554480" y="2888379"/>
            <a:ext cx="5943600" cy="562356"/>
          </a:xfrm>
          <a:prstGeom prst="roundRect">
            <a:avLst>
              <a:gd name="adj" fmla="val 13008"/>
            </a:avLst>
          </a:prstGeom>
          <a:solidFill>
            <a:srgbClr val="FEF6E9"/>
          </a:solidFill>
          <a:ln w="12700">
            <a:solidFill>
              <a:srgbClr val="FEF6E9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1664208" y="2888379"/>
            <a:ext cx="5760720" cy="5623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755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連乘 t 次，剩下什麼？</a:t>
            </a:r>
            <a:endParaRPr lang="en-US" sz="1755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3533031"/>
            <a:ext cx="960120" cy="95764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Q̄ₜ</a:t>
            </a:r>
            <a:endParaRPr lang="en-US" sz="1500" dirty="0"/>
          </a:p>
        </p:txBody>
      </p:sp>
      <p:pic>
        <p:nvPicPr>
          <p:cNvPr id="15" name="Image 2" descr="/tmp/claude-0/-home-claude/c4ae4d00-ecec-599d-99af-5b416eb8503d/scratchpad/build/math/9b900dcb822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3624471"/>
            <a:ext cx="6678012" cy="774765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9174175" y="3838118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9265615" y="3838118"/>
            <a:ext cx="24688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兩個數就寫完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548640" y="5715000"/>
            <a:ext cx="11094415" cy="777240"/>
          </a:xfrm>
          <a:prstGeom prst="roundRect">
            <a:avLst>
              <a:gd name="adj" fmla="val 11765"/>
            </a:avLst>
          </a:prstGeom>
          <a:solidFill>
            <a:srgbClr val="FAF5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731520" y="5760720"/>
            <a:ext cx="10728655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讀法：到了第 t 步，token 以機率 ᾱₜ </a:t>
            </a:r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從沒被動過</a:t>
            </a:r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、還是原字；以機率 1 − ᾱₜ 已經被換成一個均勻隨機的字。ᾱₜ → 0 時 Q̄ₜ → J，每個位置獨立均勻——uniform 鏈的終點。</a:t>
            </a:r>
            <a:endParaRPr lang="en-US" sz="1350" dirty="0"/>
          </a:p>
        </p:txBody>
      </p:sp>
      <p:sp>
        <p:nvSpPr>
          <p:cNvPr id="20" name="Text 15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U4.1 §2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Absorbing：同樣的代數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78992"/>
            <a:ext cx="11277295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字典加第 K+1 個狀態 [MASK]，one-hot 記為 e_m；每步以機率 βₜ 變成 [MASK]，[MASK] 自己不動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960120" cy="58083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Qₜ</a:t>
            </a:r>
            <a:endParaRPr lang="en-US" sz="1500" dirty="0"/>
          </a:p>
        </p:txBody>
      </p:sp>
      <p:pic>
        <p:nvPicPr>
          <p:cNvPr id="5" name="Image 0" descr="/tmp/claude-0/-home-claude/c4ae4d00-ecec-599d-99af-5b416eb8503d/scratchpad/build/math/47e6359195c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737360"/>
            <a:ext cx="3701314" cy="39795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174175" y="176260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265615" y="1762600"/>
            <a:ext cx="24688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每列把 βₜ 的質量流向第 m 欄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1617"/>
            <a:ext cx="960120" cy="58083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m 列</a:t>
            </a:r>
            <a:endParaRPr lang="en-US" sz="1500" dirty="0"/>
          </a:p>
        </p:txBody>
      </p:sp>
      <p:pic>
        <p:nvPicPr>
          <p:cNvPr id="9" name="Image 1" descr="/tmp/claude-0/-home-claude/c4ae4d00-ecec-599d-99af-5b416eb8503d/scratchpad/build/math/79bca059c46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2373057"/>
            <a:ext cx="3738347" cy="397953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9174175" y="2398297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9265615" y="2398297"/>
            <a:ext cx="24688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[MASK] 一定留在 [MASK]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1554480" y="2944745"/>
            <a:ext cx="5943600" cy="562356"/>
          </a:xfrm>
          <a:prstGeom prst="roundRect">
            <a:avLst>
              <a:gd name="adj" fmla="val 13008"/>
            </a:avLst>
          </a:prstGeom>
          <a:solidFill>
            <a:srgbClr val="FEF6E9"/>
          </a:solidFill>
          <a:ln w="12700">
            <a:solidFill>
              <a:srgbClr val="FEF6E9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1664208" y="2944745"/>
            <a:ext cx="5760720" cy="5623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755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為什麼形狀一樣閉合？</a:t>
            </a:r>
            <a:endParaRPr lang="en-US" sz="1755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3589397"/>
            <a:ext cx="960120" cy="60521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Q̄ₜ</a:t>
            </a:r>
            <a:endParaRPr lang="en-US" sz="1500" dirty="0"/>
          </a:p>
        </p:txBody>
      </p:sp>
      <p:pic>
        <p:nvPicPr>
          <p:cNvPr id="15" name="Image 2" descr="/tmp/claude-0/-home-claude/c4ae4d00-ecec-599d-99af-5b416eb8503d/scratchpad/build/math/5b1db32b721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3680837"/>
            <a:ext cx="5728573" cy="422333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9174175" y="3718268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9265615" y="3718268"/>
            <a:ext cx="24688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同一套代數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548640" y="5715000"/>
            <a:ext cx="11094415" cy="777240"/>
          </a:xfrm>
          <a:prstGeom prst="roundRect">
            <a:avLst>
              <a:gd name="adj" fmla="val 11765"/>
            </a:avLst>
          </a:prstGeom>
          <a:solidFill>
            <a:srgbClr val="FAF5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731520" y="5760720"/>
            <a:ext cx="10728655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讀法：到了第 t 步，token 以機率 ᾱₜ 還是原字、以機率 1 − ᾱₜ 已經是 [MASK]。</a:t>
            </a:r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沒有第三種可能。</a:t>
            </a:r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上一篇那句「沒被遮的位置一定是原字」，現在是一個公式。</a:t>
            </a:r>
            <a:endParaRPr lang="en-US" sz="1350" dirty="0"/>
          </a:p>
        </p:txBody>
      </p:sp>
      <p:sp>
        <p:nvSpPr>
          <p:cNvPr id="20" name="Text 15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U4.1 §2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符號卡：這裡的 ᾱₜ 和連續世界的差一個平方根</a:t>
            </a:r>
            <a:endParaRPr lang="en-US" sz="3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729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572000"/>
                <a:gridCol w="4690872"/>
              </a:tblGrid>
              <a:tr h="731520">
                <a:tc>
                  <a:txBody>
                    <a:bodyPr/>
                    <a:lstStyle/>
                    <a:p>
                      <a:endParaRPr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連續世界（U1）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離散世界（U4）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7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式子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xₜ = √ᾱₜ x₀ + σₜ ε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Q̄ₜ = ᾱₜ I + (1 − ᾱₜ)(終點)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係數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√ᾱₜ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ᾱₜ 本身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意思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振幅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（能量是它的平方）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機率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（token 沒被動過的機率）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共同直覺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還剩多少原始訊號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還剩多少原始訊號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5303520"/>
            <a:ext cx="11277295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兩邊都用 ᾱₜ 是為了讓直覺可以直接搬過來——代進式子的時候不要記錯。</a:t>
            </a:r>
            <a:endParaRPr lang="en-US" sz="135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U4.1 Remark「符號」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Q̄ₜ 的熱圖隨 t 演化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6766560" cy="5166360"/>
          </a:xfrm>
          <a:prstGeom prst="roundRect">
            <a:avLst>
              <a:gd name="adj" fmla="val 2124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4" name="Image 0" descr="/tmp/claude-0/-home-claude/c4ae4d00-ecec-599d-99af-5b416eb8503d/scratchpad/build/shots/w6-1-q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3789" y="1389888"/>
            <a:ext cx="4893383" cy="49469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98080" y="1280160"/>
            <a:ext cx="4236415" cy="2491740"/>
          </a:xfrm>
          <a:prstGeom prst="roundRect">
            <a:avLst>
              <a:gd name="adj" fmla="val 4404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635240" y="1389888"/>
            <a:ext cx="396209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demo：拖 t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616952" y="1712976"/>
            <a:ext cx="3998671" cy="16657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uniform 的對角線一路淡下去、其他格一起亮起來，最後整張變成一片均勻；absorbing 的質量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整批流進 [MASK] 那一欄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，最後一列從頭到尾都是 [MASK] 自己。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7498080" y="3954780"/>
            <a:ext cx="4236415" cy="2491740"/>
          </a:xfrm>
          <a:prstGeom prst="roundRect">
            <a:avLst>
              <a:gd name="adj" fmla="val 4404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635240" y="4064508"/>
            <a:ext cx="396209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兩個細節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616952" y="4387596"/>
            <a:ext cx="3998671" cy="176296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68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切到「Qₜ（只走一步）」：單步矩陣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68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幾乎就是 identity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68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——是連乘 t 次才把質量搬走的。</a:t>
            </a:r>
            <a:endParaRPr lang="en-US" sz="1680" dirty="0"/>
          </a:p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68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對照兩條鏈的對角線：uniform 的「還是原字」比 ᾱₜ </a:t>
            </a:r>
            <a:endParaRPr lang="en-US" sz="1680" dirty="0"/>
          </a:p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68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多一點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68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（多了「被換掉但剛好換回自己」的 (1 − ᾱₜ)/K）。</a:t>
            </a:r>
            <a:endParaRPr lang="en-US" sz="1680" dirty="0"/>
          </a:p>
        </p:txBody>
      </p:sp>
      <p:sp>
        <p:nvSpPr>
          <p:cNvPr id="11" name="Text 8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 w6-1-qbar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Posterior：多知道 x₀，一切都好算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78992"/>
            <a:ext cx="11277295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U1.2 的關鍵步驟——q(xₜ₋₁ | xₜ) 不好算，多給 x₀ 就有 closed form；這裡更簡單，一切都是有限個數字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960120" cy="5319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Bayes</a:t>
            </a:r>
            <a:endParaRPr lang="en-US" sz="1500" dirty="0"/>
          </a:p>
        </p:txBody>
      </p:sp>
      <p:pic>
        <p:nvPicPr>
          <p:cNvPr id="5" name="Image 0" descr="/tmp/claude-0/-home-claude/c4ae4d00-ecec-599d-99af-5b416eb8503d/scratchpad/build/math/42e43be0645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737360"/>
            <a:ext cx="6301508" cy="34903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174175" y="1738143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265615" y="1738143"/>
            <a:ext cx="24688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＋ Markov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32702"/>
            <a:ext cx="960120" cy="63823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寫成向量</a:t>
            </a:r>
            <a:endParaRPr lang="en-US" sz="1500" dirty="0"/>
          </a:p>
        </p:txBody>
      </p:sp>
      <p:pic>
        <p:nvPicPr>
          <p:cNvPr id="9" name="Image 1" descr="/tmp/claude-0/-home-claude/c4ae4d00-ecec-599d-99af-5b416eb8503d/scratchpad/build/math/a97663ec3d1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2324142"/>
            <a:ext cx="3428194" cy="45535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9174175" y="2378083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9265615" y="2378083"/>
            <a:ext cx="24688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兩個長度 K 的向量逐元素乘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2925800"/>
            <a:ext cx="11094415" cy="72123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89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左邊：「哪些 xₜ₋₁ 走一步能到 xₜ」；右邊：「從 x₀ 走 t − 1 步會到哪些 xₜ₋₁」。乘起來再正規化，就是 xₜ₋₁ 的類別分佈。</a:t>
            </a:r>
            <a:endParaRPr lang="en-US" sz="1890" dirty="0"/>
          </a:p>
        </p:txBody>
      </p:sp>
      <p:sp>
        <p:nvSpPr>
          <p:cNvPr id="13" name="Shape 9"/>
          <p:cNvSpPr/>
          <p:nvPr/>
        </p:nvSpPr>
        <p:spPr>
          <a:xfrm>
            <a:off x="1554480" y="3729329"/>
            <a:ext cx="5943600" cy="562356"/>
          </a:xfrm>
          <a:prstGeom prst="roundRect">
            <a:avLst>
              <a:gd name="adj" fmla="val 13008"/>
            </a:avLst>
          </a:prstGeom>
          <a:solidFill>
            <a:srgbClr val="FEF6E9"/>
          </a:solidFill>
          <a:ln w="12700">
            <a:solidFill>
              <a:srgbClr val="FEF6E9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1664208" y="3729329"/>
            <a:ext cx="5760720" cy="5623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755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 absorbing 鏈，這個 posterior 長什麼樣？</a:t>
            </a:r>
            <a:endParaRPr lang="en-US" sz="1755" dirty="0"/>
          </a:p>
        </p:txBody>
      </p:sp>
      <p:sp>
        <p:nvSpPr>
          <p:cNvPr id="15" name="Shape 11"/>
          <p:cNvSpPr/>
          <p:nvPr/>
        </p:nvSpPr>
        <p:spPr>
          <a:xfrm>
            <a:off x="548640" y="5715000"/>
            <a:ext cx="11094415" cy="777240"/>
          </a:xfrm>
          <a:prstGeom prst="roundRect">
            <a:avLst>
              <a:gd name="adj" fmla="val 11765"/>
            </a:avLst>
          </a:prstGeom>
          <a:solidFill>
            <a:srgbClr val="FAF5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31520" y="5760720"/>
            <a:ext cx="10728655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若 xₜ 沒被遮，xₜ₋₁ 一定也是同一個原字（機率 1）；若 xₜ = [MASK]，xₜ₋₁ 以某個機率是 [MASK]、否則就是 x₀。</a:t>
            </a:r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已知 x₀ 之後，反向每一步都只是「要不要把這個 [MASK] 換回 x₀」的一枚硬幣。</a:t>
            </a:r>
            <a:endParaRPr lang="en-US" sz="1350" dirty="0"/>
          </a:p>
        </p:txBody>
      </p:sp>
      <p:sp>
        <p:nvSpPr>
          <p:cNvPr id="17" name="Text 13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U4.1 §3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一枚硬幣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5501488" cy="2866644"/>
          </a:xfrm>
          <a:prstGeom prst="roundRect">
            <a:avLst>
              <a:gd name="adj" fmla="val 4466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362456"/>
            <a:ext cx="517230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兩面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21792" y="1752600"/>
            <a:ext cx="5172304" cy="403479"/>
          </a:xfrm>
          <a:prstGeom prst="roundRect">
            <a:avLst>
              <a:gd name="adj" fmla="val 13598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94944" y="1770888"/>
            <a:ext cx="5026000" cy="36690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正面：留在 [MASK]，下一步再說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" y="2247519"/>
            <a:ext cx="5172304" cy="403479"/>
          </a:xfrm>
          <a:prstGeom prst="roundRect">
            <a:avLst>
              <a:gd name="adj" fmla="val 13598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94944" y="2265807"/>
            <a:ext cx="5026000" cy="36690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反面：翻開，換回 x₀ 的原字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03504" y="2742438"/>
            <a:ext cx="5208880" cy="535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【待生圖】硬幣兩面：一面是灰底 ▨ 的 [MASK] 方塊、一面是一個字的方塊；無文字。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33008" y="1234440"/>
            <a:ext cx="5501488" cy="2866644"/>
          </a:xfrm>
          <a:prstGeom prst="roundRect">
            <a:avLst>
              <a:gd name="adj" fmla="val 4466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97600" y="1362456"/>
            <a:ext cx="517230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對回 U1.2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379312" y="1752600"/>
            <a:ext cx="5208880" cy="1347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那裡 posterior 是一個有 closed form 的 Gaussian；這裡是一個有限類別分佈——absorbing 更是只剩兩個數。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結構完全相同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：posterior 與 model 之間的 KL。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U4.1 §3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那 loss 長什麼樣？ELBO 三項，與 DDPM 逐字相同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78992"/>
            <a:ext cx="11277295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reverse model p_θ(xₜ₋₁ | xₜ)，起點 p(x_T) 是鏈的終點分佈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960120" cy="131445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bound</a:t>
            </a:r>
            <a:endParaRPr lang="en-US" sz="1500" dirty="0"/>
          </a:p>
        </p:txBody>
      </p:sp>
      <p:pic>
        <p:nvPicPr>
          <p:cNvPr id="5" name="Image 0" descr="/tmp/claude-0/-home-claude/c4ae4d00-ecec-599d-99af-5b416eb8503d/scratchpad/build/math/0eb08cb9a31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645920"/>
            <a:ext cx="6796940" cy="13144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174175" y="2129409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265615" y="2129409"/>
            <a:ext cx="24688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Jensen → Bayes 反轉 → 逐項配對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015234"/>
            <a:ext cx="11094415" cy="9012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61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L_T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61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沒有參數，對我們選的兩條鏈趨近 0（ᾱ_T ≈ 0 時 q(x_T | x₀) 就是終點分佈）。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61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L₀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61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是一個普通的 cross-entropy。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61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Lₜ₋₁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61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是兩個 K 維類別分佈的 KL——左邊是 Bayes 算出來的 posterior，右邊是網路。</a:t>
            </a:r>
            <a:endParaRPr lang="en-US" sz="1610" dirty="0"/>
          </a:p>
        </p:txBody>
      </p:sp>
      <p:sp>
        <p:nvSpPr>
          <p:cNvPr id="9" name="Shape 6"/>
          <p:cNvSpPr/>
          <p:nvPr/>
        </p:nvSpPr>
        <p:spPr>
          <a:xfrm>
            <a:off x="1554480" y="3998786"/>
            <a:ext cx="5943600" cy="470916"/>
          </a:xfrm>
          <a:prstGeom prst="roundRect">
            <a:avLst>
              <a:gd name="adj" fmla="val 15534"/>
            </a:avLst>
          </a:prstGeom>
          <a:solidFill>
            <a:srgbClr val="FEF6E9"/>
          </a:solidFill>
          <a:ln w="12700">
            <a:solidFill>
              <a:srgbClr val="FEF6E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664208" y="3998786"/>
            <a:ext cx="5760720" cy="4709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95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和 U1.2 的 KL 差在哪？</a:t>
            </a:r>
            <a:endParaRPr lang="en-US" sz="1495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551998"/>
            <a:ext cx="11094415" cy="62522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61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結構完全相同。DDPM 裡兩個都是 Gaussian、KL 化成均值差的平方；這裡兩個都是有限類別分佈、KL 是有限和——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61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沒有任何近似，也沒有 normalizing constant 的問題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61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（K 個機率加起來就是 1）。</a:t>
            </a:r>
            <a:endParaRPr lang="en-US" sz="1610" dirty="0"/>
          </a:p>
        </p:txBody>
      </p:sp>
      <p:sp>
        <p:nvSpPr>
          <p:cNvPr id="12" name="Shape 9"/>
          <p:cNvSpPr/>
          <p:nvPr/>
        </p:nvSpPr>
        <p:spPr>
          <a:xfrm>
            <a:off x="548640" y="5715000"/>
            <a:ext cx="11094415" cy="777240"/>
          </a:xfrm>
          <a:prstGeom prst="roundRect">
            <a:avLst>
              <a:gd name="adj" fmla="val 11765"/>
            </a:avLst>
          </a:prstGeom>
          <a:solidFill>
            <a:srgbClr val="FAF5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" y="5760720"/>
            <a:ext cx="10728655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在連續世界裡積分換成離散世界的求和，其餘一步都不用改；這就是為什麼說「bound 一字不改地成立」。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U4.1 §4 ＋ Details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網路該輸出什麼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585216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4" name="Image 0" descr="/mnt/user-data/uploads/site/src/content/notes/research-areas/diffusion-models-and-their-applications/week-6/imgs/w6-1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1389888"/>
            <a:ext cx="5568696" cy="371246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83680" y="1280160"/>
            <a:ext cx="5150815" cy="1874520"/>
          </a:xfrm>
          <a:prstGeom prst="roundRect">
            <a:avLst>
              <a:gd name="adj" fmla="val 5854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720840" y="1389888"/>
            <a:ext cx="487649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最直接的想法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702552" y="1712976"/>
            <a:ext cx="4913071" cy="710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讓網路直接輸出 xₜ₋₁ 的 K 個 logits。D3PM 的選擇不同——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6583680" y="3337560"/>
            <a:ext cx="5150815" cy="1874520"/>
          </a:xfrm>
          <a:prstGeom prst="roundRect">
            <a:avLst>
              <a:gd name="adj" fmla="val 5854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720840" y="3447288"/>
            <a:ext cx="487649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x₀-parametrization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702552" y="3770376"/>
            <a:ext cx="4913071" cy="1011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網路輸出 p_θ(x̃₀ | xₜ) 的 logits（每個位置 K 個數）；q(xₜ₋₁ | xₜ, x̃₀) 是上面那個 closed form，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不用學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。這就是 U1.2 x₀-prediction 的離散翻譯——「預測 x₀」從輸出一個向量變成輸出一個類別分佈。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5349240"/>
            <a:ext cx="11277295" cy="1051560"/>
          </a:xfrm>
          <a:prstGeom prst="roundRect">
            <a:avLst>
              <a:gd name="adj" fmla="val 8696"/>
            </a:avLst>
          </a:prstGeom>
          <a:solidFill>
            <a:srgbClr val="EAF4FD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94360" y="5404104"/>
            <a:ext cx="11002975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中心式</a:t>
            </a:r>
            <a:endParaRPr lang="en-US" sz="1200" dirty="0"/>
          </a:p>
        </p:txBody>
      </p:sp>
      <p:pic>
        <p:nvPicPr>
          <p:cNvPr id="13" name="Image 1" descr="/tmp/claude-0/-home-claude/c4ae4d00-ecec-599d-99af-5b416eb8503d/scratchpad/build/math/23b28cd1c7c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4752" y="5733722"/>
            <a:ext cx="4462192" cy="53862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U4.1 §5 · imgs/w6-1-1.png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0" y="2148840"/>
            <a:ext cx="8168335" cy="0"/>
          </a:xfrm>
          <a:prstGeom prst="line">
            <a:avLst/>
          </a:prstGeom>
          <a:noFill/>
          <a:ln w="15875">
            <a:solidFill>
              <a:srgbClr val="D9E0E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14400" y="2286000"/>
            <a:ext cx="10362895" cy="2011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30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讓網路預測 x₀，再用已知的 posterior 把它折回 xₜ₋₁。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011680" y="4434840"/>
            <a:ext cx="8168335" cy="0"/>
          </a:xfrm>
          <a:prstGeom prst="line">
            <a:avLst/>
          </a:prstGeom>
          <a:noFill/>
          <a:ln w="15875">
            <a:solidFill>
              <a:srgbClr val="D9E0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5486400"/>
            <a:ext cx="9997135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x₀-parametrization——這一篇最該記的一句。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c4ae4d00-ecec-599d-99af-5b416eb8503d/scratchpad/build/w2media/slide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1874520"/>
          </a:xfrm>
          <a:prstGeom prst="rect">
            <a:avLst/>
          </a:prstGeom>
          <a:solidFill>
            <a:srgbClr val="FBFCFE"/>
          </a:solidFill>
          <a:ln w="12700">
            <a:solidFill>
              <a:srgbClr val="FBFCF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1874520"/>
            <a:ext cx="12191695" cy="274320"/>
          </a:xfrm>
          <a:prstGeom prst="rect">
            <a:avLst/>
          </a:prstGeom>
          <a:solidFill>
            <a:srgbClr val="FBFCFE">
              <a:alpha val="55000"/>
            </a:srgbClr>
          </a:solidFill>
          <a:ln w="12700">
            <a:solidFill>
              <a:srgbClr val="FBFCFE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82880"/>
            <a:ext cx="11094415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2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U1.2 說 x₀／ε／v 三個座標可以互換。</a:t>
            </a:r>
            <a:endParaRPr lang="en-US" sz="2600" dirty="0"/>
          </a:p>
          <a:p>
            <a:pPr algn="ctr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2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離散世界為什麼只剩 x₀-parametrization 這一種選擇？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1417320"/>
            <a:ext cx="10362895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Q1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Q1：沒有 affine 關係可以解回去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576218" cy="4050792"/>
          </a:xfrm>
          <a:prstGeom prst="roundRect">
            <a:avLst>
              <a:gd name="adj" fmla="val 3580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互換靠的是什麼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1752600"/>
            <a:ext cx="3283610" cy="23027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xₜ = √ᾱₜ x₀ + σₜ ε 這條 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affine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關係——知道 xₜ 與任一個，就能解出另外兩個。離散世界沒有它：xₜ 是從 x₀ 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抽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出來的一個類別，沒有一個叫「ε」的連續量被加上去，也就沒有東西可以被解回來。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307738" y="1234440"/>
            <a:ext cx="3576218" cy="4050792"/>
          </a:xfrm>
          <a:prstGeom prst="roundRect">
            <a:avLst>
              <a:gd name="adj" fmla="val 3580"/>
            </a:avLst>
          </a:prstGeom>
          <a:solidFill>
            <a:srgbClr val="F2EE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472330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直接輸出 xₜ₋₁ 為什麼不好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454042" y="1752600"/>
            <a:ext cx="3283610" cy="3258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一、分工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：x₀-parametrization 把已知的結構（posterior）交給公式，只讓網路學它必須學的東西，在每個 t 面對同一個目標。
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二、跳步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：把 q(xₜ₋₁ | xₜ, x̃₀) 換成 q(xₜ₋ₖ | xₜ, x̃₀)（同樣有 closed form）就能一次走 k 步——下一篇幾步就取樣完的基礎。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8158277" y="1234440"/>
            <a:ext cx="3576218" cy="4050792"/>
          </a:xfrm>
          <a:prstGeom prst="roundRect">
            <a:avLst>
              <a:gd name="adj" fmla="val 3580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2869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D3PM 的輔助項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304581" y="1752600"/>
            <a:ext cx="3283610" cy="23027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實務上 D3PM 在 ELBO 外面加了 λ 𝔼[−log p_θ(x₀ | xₜ)]，讓網路直接對「預測 x₀」負責。下一篇會看到：對 absorbing 鏈，ELBO 本身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就會塌成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這種形式，輔助項變得多餘。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U4.1 Q1 ＋ §5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c4ae4d00-ecec-599d-99af-5b416eb8503d/scratchpad/build/w2media/slide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1874520"/>
          </a:xfrm>
          <a:prstGeom prst="rect">
            <a:avLst/>
          </a:prstGeom>
          <a:solidFill>
            <a:srgbClr val="FBFCFE"/>
          </a:solidFill>
          <a:ln w="12700">
            <a:solidFill>
              <a:srgbClr val="FBFCF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1874520"/>
            <a:ext cx="12191695" cy="274320"/>
          </a:xfrm>
          <a:prstGeom prst="rect">
            <a:avLst/>
          </a:prstGeom>
          <a:solidFill>
            <a:srgbClr val="FBFCFE">
              <a:alpha val="55000"/>
            </a:srgbClr>
          </a:solidFill>
          <a:ln w="12700">
            <a:solidFill>
              <a:srgbClr val="FBFCFE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82880"/>
            <a:ext cx="11094415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30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上一篇那個一般的 ELBO，</a:t>
            </a:r>
            <a:endParaRPr lang="en-US" sz="3000" dirty="0"/>
          </a:p>
          <a:p>
            <a:pPr algn="ctr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30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 absorbing 鏈上會塌成什麼？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1417320"/>
            <a:ext cx="10362895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U4.2 Masked Diffusion：用手算完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619695" y="5623560"/>
            <a:ext cx="4206240" cy="914400"/>
          </a:xfrm>
          <a:prstGeom prst="roundRect">
            <a:avLst>
              <a:gd name="adj" fmla="val 100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11135" y="5650992"/>
            <a:ext cx="402336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固定一個位置 ℓ，ᾱₜ 是它到第 t 步還沒被遮的機率。位置 ℓ 在 xₜ 裡只有兩種可能，分開看。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情形一：位置 ℓ 沒被遮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78992"/>
            <a:ext cx="11277295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posterior 與 model 都是確定分佈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960120" cy="66878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後驗</a:t>
            </a:r>
            <a:endParaRPr lang="en-US" sz="1500" dirty="0"/>
          </a:p>
        </p:txBody>
      </p:sp>
      <p:pic>
        <p:nvPicPr>
          <p:cNvPr id="5" name="Image 0" descr="/tmp/claude-0/-home-claude/c4ae4d00-ecec-599d-99af-5b416eb8503d/scratchpad/build/math/7daf50e14b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737360"/>
            <a:ext cx="6981684" cy="48590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174175" y="1806577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265615" y="1806577"/>
            <a:ext cx="24688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上一篇說過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369570"/>
            <a:ext cx="960120" cy="659837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</a:t>
            </a:r>
            <a:endParaRPr lang="en-US" sz="1500" dirty="0"/>
          </a:p>
        </p:txBody>
      </p:sp>
      <p:pic>
        <p:nvPicPr>
          <p:cNvPr id="9" name="Image 1" descr="/tmp/claude-0/-home-claude/c4ae4d00-ecec-599d-99af-5b416eb8503d/scratchpad/build/math/2ec461f27b8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2461010"/>
            <a:ext cx="6948508" cy="476957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9174175" y="2525753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9265615" y="2525753"/>
            <a:ext cx="24688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一個顯然的規則：照抄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1554480" y="3111703"/>
            <a:ext cx="5943600" cy="562356"/>
          </a:xfrm>
          <a:prstGeom prst="roundRect">
            <a:avLst>
              <a:gd name="adj" fmla="val 13008"/>
            </a:avLst>
          </a:prstGeom>
          <a:solidFill>
            <a:srgbClr val="FEF6E9"/>
          </a:solidFill>
          <a:ln w="12700">
            <a:solidFill>
              <a:srgbClr val="FEF6E9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1664208" y="3111703"/>
            <a:ext cx="5760720" cy="5623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755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兩個相同的分佈，KL 是多少？</a:t>
            </a:r>
            <a:endParaRPr lang="en-US" sz="1755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3756355"/>
            <a:ext cx="960120" cy="64702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KL</a:t>
            </a:r>
            <a:endParaRPr lang="en-US" sz="1500" dirty="0"/>
          </a:p>
        </p:txBody>
      </p:sp>
      <p:pic>
        <p:nvPicPr>
          <p:cNvPr id="15" name="Image 2" descr="/tmp/claude-0/-home-claude/c4ae4d00-ecec-599d-99af-5b416eb8503d/scratchpad/build/math/b8fdf6d8fa9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3847795"/>
            <a:ext cx="2606674" cy="464149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9174175" y="3906134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9265615" y="3906134"/>
            <a:ext cx="24688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零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548640" y="5715000"/>
            <a:ext cx="11094415" cy="777240"/>
          </a:xfrm>
          <a:prstGeom prst="roundRect">
            <a:avLst>
              <a:gd name="adj" fmla="val 11765"/>
            </a:avLst>
          </a:prstGeom>
          <a:solidFill>
            <a:srgbClr val="FAF5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731520" y="5760720"/>
            <a:ext cx="10728655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這個位置對 loss 沒有貢獻。</a:t>
            </a:r>
            <a:endParaRPr lang="en-US" sz="1350" dirty="0"/>
          </a:p>
        </p:txBody>
      </p:sp>
      <p:sp>
        <p:nvSpPr>
          <p:cNvPr id="20" name="Text 15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U4.2 §1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情形二：位置 ℓ 是 [MASK]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78992"/>
            <a:ext cx="11277295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posterior 是一枚硬幣；model 是同一枚硬幣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960120" cy="131445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後驗</a:t>
            </a:r>
            <a:endParaRPr lang="en-US" sz="1500" dirty="0"/>
          </a:p>
        </p:txBody>
      </p:sp>
      <p:pic>
        <p:nvPicPr>
          <p:cNvPr id="5" name="Image 0" descr="/tmp/claude-0/-home-claude/c4ae4d00-ecec-599d-99af-5b416eb8503d/scratchpad/build/math/690e8a1f43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681515"/>
            <a:ext cx="4574601" cy="124325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174175" y="2129409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265615" y="2129409"/>
            <a:ext cx="24688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 t 被遮的前提下，t−1 已被遮的機率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015234"/>
            <a:ext cx="960120" cy="733477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</a:t>
            </a:r>
            <a:endParaRPr lang="en-US" sz="1500" dirty="0"/>
          </a:p>
        </p:txBody>
      </p:sp>
      <p:pic>
        <p:nvPicPr>
          <p:cNvPr id="9" name="Image 1" descr="/tmp/claude-0/-home-claude/c4ae4d00-ecec-599d-99af-5b416eb8503d/scratchpad/build/math/4919fcda723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3106674"/>
            <a:ext cx="4534958" cy="550597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9174175" y="3208236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9265615" y="3208236"/>
            <a:ext cx="24688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留在 [MASK] 的機率對任何 x̃₀ 相同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1554480" y="3831007"/>
            <a:ext cx="5943600" cy="470916"/>
          </a:xfrm>
          <a:prstGeom prst="roundRect">
            <a:avLst>
              <a:gd name="adj" fmla="val 15534"/>
            </a:avLst>
          </a:prstGeom>
          <a:solidFill>
            <a:srgbClr val="FEF6E9"/>
          </a:solidFill>
          <a:ln w="12700">
            <a:solidFill>
              <a:srgbClr val="FEF6E9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1664208" y="3831007"/>
            <a:ext cx="5760720" cy="4709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95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兩枚硬幣「留在 [MASK]」那一面完全相同——KL 裡剩下什麼？</a:t>
            </a:r>
            <a:endParaRPr lang="en-US" sz="1495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4384219"/>
            <a:ext cx="960120" cy="84089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翻開那一面</a:t>
            </a:r>
            <a:endParaRPr lang="en-US" sz="1500" dirty="0"/>
          </a:p>
        </p:txBody>
      </p:sp>
      <p:pic>
        <p:nvPicPr>
          <p:cNvPr id="15" name="Image 2" descr="/tmp/claude-0/-home-claude/c4ae4d00-ecec-599d-99af-5b416eb8503d/scratchpad/build/math/c1cd3900df4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4475659"/>
            <a:ext cx="4760018" cy="658014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9174175" y="463093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9265615" y="4630930"/>
            <a:ext cx="24688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點分佈對 p_θ 的 KL ＝ −log p_θ(x₀)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548640" y="5715000"/>
            <a:ext cx="11094415" cy="777240"/>
          </a:xfrm>
          <a:prstGeom prst="roundRect">
            <a:avLst>
              <a:gd name="adj" fmla="val 11765"/>
            </a:avLst>
          </a:prstGeom>
          <a:solidFill>
            <a:srgbClr val="FAF5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731520" y="5760720"/>
            <a:ext cx="10728655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posterior 的翻開面集中在 x₀ℓ 的一個點，model 的翻開面是 p_θ(· | xₜ)；點分佈對任意分佈的 KL 就是 −log p_θ(x₀ℓ | xₜ)，乘上翻開的機率。L₀ 剛好也是這個形式（t = 1、ᾱ₀ = 1 得權重 1）。</a:t>
            </a:r>
            <a:endParaRPr lang="en-US" sz="1350" dirty="0"/>
          </a:p>
        </p:txBody>
      </p:sp>
      <p:sp>
        <p:nvSpPr>
          <p:cNvPr id="20" name="Text 15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U4.2 §1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ELBO 為什麼會塌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585216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4" name="Image 0" descr="/mnt/user-data/uploads/site/src/content/notes/research-areas/diffusion-models-and-their-applications/week-6/imgs/w6-2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" y="1389888"/>
            <a:ext cx="5020056" cy="33467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83680" y="1280160"/>
            <a:ext cx="5150815" cy="1691640"/>
          </a:xfrm>
          <a:prstGeom prst="roundRect">
            <a:avLst>
              <a:gd name="adj" fmla="val 6486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720840" y="1389888"/>
            <a:ext cx="487649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沒被遮 → 0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702552" y="1712976"/>
            <a:ext cx="4913071" cy="710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posterior 與 model 都照抄，KL 為零。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6583680" y="3154680"/>
            <a:ext cx="5150815" cy="1691640"/>
          </a:xfrm>
          <a:prstGeom prst="roundRect">
            <a:avLst>
              <a:gd name="adj" fmla="val 6486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720840" y="3264408"/>
            <a:ext cx="487649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被遮 → 加權 CE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702552" y="3587496"/>
            <a:ext cx="4913071" cy="710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每個被遮位置的 cross-entropy，經時間權重匯成一條式子。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457200" y="4983480"/>
            <a:ext cx="11277295" cy="1417320"/>
          </a:xfrm>
          <a:prstGeom prst="roundRect">
            <a:avLst>
              <a:gd name="adj" fmla="val 6452"/>
            </a:avLst>
          </a:prstGeom>
          <a:solidFill>
            <a:srgbClr val="EAF4FD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94360" y="5038344"/>
            <a:ext cx="11002975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中心式</a:t>
            </a:r>
            <a:endParaRPr lang="en-US" sz="1200" dirty="0"/>
          </a:p>
        </p:txBody>
      </p:sp>
      <p:pic>
        <p:nvPicPr>
          <p:cNvPr id="13" name="Image 1" descr="/tmp/claude-0/-home-claude/c4ae4d00-ecec-599d-99af-5b416eb8503d/scratchpad/build/math/918d441bd8f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994" y="5439074"/>
            <a:ext cx="6247707" cy="76216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U4.2 §1 · imgs/w6-2-1.png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0" y="2148840"/>
            <a:ext cx="8168335" cy="0"/>
          </a:xfrm>
          <a:prstGeom prst="line">
            <a:avLst/>
          </a:prstGeom>
          <a:noFill/>
          <a:ln w="15875">
            <a:solidFill>
              <a:srgbClr val="D9E0E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14400" y="2286000"/>
            <a:ext cx="10362895" cy="2011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2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抽一個 t、按 ᾱₜ 隨機遮掉一些位置、</a:t>
            </a:r>
            <a:endParaRPr lang="en-US" sz="2600" dirty="0"/>
          </a:p>
          <a:p>
            <a:pPr algn="ctr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2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對被遮的位置做 cross-entropy、乘上一個只跟 t 有關的權重。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0" y="4434840"/>
            <a:ext cx="8168335" cy="0"/>
          </a:xfrm>
          <a:prstGeom prst="line">
            <a:avLst/>
          </a:prstGeom>
          <a:noFill/>
          <a:ln w="15875">
            <a:solidFill>
              <a:srgbClr val="D9E0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5486400"/>
            <a:ext cx="9997135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 KL、沒有 posterior、沒有輔助 loss——簡單到會讓人懷疑是不是算錯了。D3PM 額外加的 λ 項在這裡變成多餘的：ELBO 本身就是這個形狀。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Details：連續時間的極限，與線性 schedule 下的 1/t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78992"/>
            <a:ext cx="11277295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符號卡：從這裡到 U5，αₜ 指的都是這裡的 ᾱₜ——連續時間沒有「這一步」，橫線省掉</a:t>
            </a:r>
            <a:endParaRPr lang="en-US" sz="16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1127729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步驟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內容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7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 → ∞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權重 (α_{t−Δ} − αₜ)／(1 − αₜ) → (−α̇ₜ)／(1 − αₜ) dt；L_MDM = ∫₀¹ (−α̇ₜ)/(1−αₜ) 𝔼[Σ_被遮 −log p_θ] dt（α̇ₜ &lt; 0，權重為正）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線性 αₜ = 1 − 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權重 = </a:t>
                      </a:r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1/t</a:t>
                      </a:r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；t 時刻平均有 tL 個位置被遮，1/t 大致把「每個被遮位置的平均 CE」拉成等權——loss 本質上是對「遮罩比例」取平均的 cross-entropy（MDLM、MD4）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換 schedule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連續時間下換任何一條 αₜ 只是時間重參數化，loss 最小值不變；只影響訓練時 t 的取樣密度——U2.4 的第四個旋鈕：訓練端的加權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實務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很多實作把權重改掉（常數或別的 t 分布）——代價是</a:t>
                      </a:r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失去 likelihood 的界</a:t>
                      </a:r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，不能再報 perplexity；和 DDPM 故意丟掉理論加權是同一件事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U4.2 Details ＋ Remark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28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和 BERT 差在哪：兩件事，把預訓練目標變成合法的生成模型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576218" cy="4734052"/>
          </a:xfrm>
          <a:prstGeom prst="roundRect">
            <a:avLst>
              <a:gd name="adj" fmla="val 3580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362456"/>
            <a:ext cx="3247034" cy="5608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一、遮罩比例隨機，且要對所有比例都學會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1996440"/>
            <a:ext cx="3283610" cy="23027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BERT 固定遮 15%；masked diffusion 的 t 從 1 到 T 都抽，對應遮 0% 到 100%。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必要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：取樣時模型要從全部被遮一路走到全部翻開，中間每個比例都會遇到。MaskGIT 最早把這件事做成生成器。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307738" y="1234440"/>
            <a:ext cx="3576218" cy="4734052"/>
          </a:xfrm>
          <a:prstGeom prst="roundRect">
            <a:avLst>
              <a:gd name="adj" fmla="val 3580"/>
            </a:avLst>
          </a:prstGeom>
          <a:solidFill>
            <a:srgbClr val="F2EE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472330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二、每個 t 有一個權重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454042" y="1752600"/>
            <a:ext cx="3283610" cy="23027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(ᾱₜ₋₁ − ᾱₜ)/(1 − ᾱₜ) 是 ELBO 給的，讓加總起來的 loss 是 −log p_θ(x₀) 的上界——訓出來的模型有 likelihood 可以報、可以和 AR 比 perplexity。BERT 沒有這一層。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8158277" y="1234440"/>
            <a:ext cx="3576218" cy="4734052"/>
          </a:xfrm>
          <a:prstGeom prst="roundRect">
            <a:avLst>
              <a:gd name="adj" fmla="val 3580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2869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和 U3.5 的加權是同一件事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304581" y="1752600"/>
            <a:ext cx="3283610" cy="2621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只是「noise level」變成了「遮掉的比例」。Kingma &amp; Gao：連續世界各種 diffusion loss 都是「ELBO 加上對 noise level 的權重函數」；masked diffusion 是這句話在離散世界最乾淨的例子。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8304581" y="4465320"/>
            <a:ext cx="3283610" cy="12288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Details（附錄）：網路其實不需要看 t——p(x₀ℓ | xₜ) 只依賴哪些位置被遮、沒被遮的是什麼字。absorbing diffusion 學的就是乾淨資料的所有條件分佈（Ou et al.）。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U4.2 §2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取樣：從全 [MASK] 出發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6219073" cy="3232785"/>
          </a:xfrm>
          <a:prstGeom prst="roundRect">
            <a:avLst>
              <a:gd name="adj" fmla="val 3960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362456"/>
            <a:ext cx="5889889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每一步 t → t−1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1752600"/>
            <a:ext cx="5926465" cy="3916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對每個仍是 [MASK] 的位置擲那枚硬幣：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21792" y="2235708"/>
            <a:ext cx="5889889" cy="660654"/>
          </a:xfrm>
          <a:prstGeom prst="roundRect">
            <a:avLst>
              <a:gd name="adj" fmla="val 8304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94944" y="2253996"/>
            <a:ext cx="5743585" cy="62407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以機率 (ᾱₜ₋₁ − ᾱₜ)/(1 − ᾱₜ) </a:t>
            </a:r>
            <a:pPr algn="l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翻開</a:t>
            </a:r>
            <a:pPr algn="l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：從 p_θ(· | xₜ) 抽一個字填進去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1792" y="2987802"/>
            <a:ext cx="5889889" cy="403479"/>
          </a:xfrm>
          <a:prstGeom prst="roundRect">
            <a:avLst>
              <a:gd name="adj" fmla="val 13598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94944" y="3006090"/>
            <a:ext cx="5743585" cy="36690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否則留在 [MASK]，下一步再說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03504" y="3482721"/>
            <a:ext cx="5926465" cy="710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已經翻開的位置不再改變——不是額外的規定，是 absorbing 鏈的 posterior 說的。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950593" y="1234440"/>
            <a:ext cx="4783902" cy="3232785"/>
          </a:xfrm>
          <a:prstGeom prst="roundRect">
            <a:avLst>
              <a:gd name="adj" fmla="val 3960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115185" y="1362456"/>
            <a:ext cx="4454718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跳步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096897" y="1752600"/>
            <a:ext cx="4491294" cy="1347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 t → t−1 換成 t → t−k，硬幣機率換成 (ᾱₜ₋ₖ − ᾱₜ)/(1 − ᾱₜ)，其餘不變。所以 masked diffusion 可以訓練時用 T = 1000、取樣只走 8 或 16 步。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U4.2 §3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從全 [MASK] 出發，每步翻開一部分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6766560" cy="5166360"/>
          </a:xfrm>
          <a:prstGeom prst="roundRect">
            <a:avLst>
              <a:gd name="adj" fmla="val 2124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4" name="Image 0" descr="/tmp/claude-0/-home-claude/c4ae4d00-ecec-599d-99af-5b416eb8503d/scratchpad/build/shots/w6-2-sampl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1429" y="1389888"/>
            <a:ext cx="4478103" cy="49469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98080" y="1280160"/>
            <a:ext cx="4236415" cy="2491740"/>
          </a:xfrm>
          <a:prstGeom prst="roundRect">
            <a:avLst>
              <a:gd name="adj" fmla="val 4404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635240" y="1389888"/>
            <a:ext cx="396209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demo：toy 文法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616952" y="1712976"/>
            <a:ext cx="3998671" cy="16657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長度 16、字典 `A B ( )`，A 與 B 交替且括號配對。按「下一步」看每一步翻開哪些格子——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機率只跟 t 有關，和內容無關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。步數從 16 降到 1，每步同時翻開的格子越來越多。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7498080" y="3954780"/>
            <a:ext cx="4236415" cy="2491740"/>
          </a:xfrm>
          <a:prstGeom prst="roundRect">
            <a:avLst>
              <a:gd name="adj" fmla="val 4404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635240" y="4064508"/>
            <a:ext cx="396209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兩個開關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616952" y="4387596"/>
            <a:ext cx="3998671" cy="16657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點一個還被遮的格子看它的分佈：翻開時是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從那幾根柱子抽的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，不是取 argmax。</a:t>
            </a:r>
            <a:endParaRPr lang="en-US" sz="1900" dirty="0"/>
          </a:p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按 BERT 對照：BERT 只在一個固定比例上訓練、權重是常數。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 w6-2-sampling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c4ae4d00-ecec-599d-99af-5b416eb8503d/scratchpad/build/w2media/slide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1874520"/>
          </a:xfrm>
          <a:prstGeom prst="rect">
            <a:avLst/>
          </a:prstGeom>
          <a:solidFill>
            <a:srgbClr val="FBFCFE"/>
          </a:solidFill>
          <a:ln w="12700">
            <a:solidFill>
              <a:srgbClr val="FBFCF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1874520"/>
            <a:ext cx="12191695" cy="274320"/>
          </a:xfrm>
          <a:prstGeom prst="rect">
            <a:avLst/>
          </a:prstGeom>
          <a:solidFill>
            <a:srgbClr val="FBFCFE">
              <a:alpha val="55000"/>
            </a:srgbClr>
          </a:solidFill>
          <a:ln w="12700">
            <a:solidFill>
              <a:srgbClr val="FBFCFE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82880"/>
            <a:ext cx="11094415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28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取樣時翻開的字是從 p_θ(· | xₜ) 抽出來的。</a:t>
            </a:r>
            <a:endParaRPr lang="en-US" sz="2800" dirty="0"/>
          </a:p>
          <a:p>
            <a:pPr algn="ctr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28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如果改成每次都取 argmax，會怎樣？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1417320"/>
            <a:ext cx="10362895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Q1</a:t>
            </a:r>
            <a:endParaRPr lang="en-US" sz="15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Q1：失去多樣性，也失去正確性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576218" cy="2776728"/>
          </a:xfrm>
          <a:prstGeom prst="roundRect">
            <a:avLst>
              <a:gd name="adj" fmla="val 4610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多樣性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1752600"/>
            <a:ext cx="3283610" cy="16657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從同一個全 [MASK] 出發、每步都 argmax，整個程序變成確定性的（除了硬幣決定翻開哪些位置），所有樣本擠向同一批「最安全」的句子。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307738" y="1234440"/>
            <a:ext cx="3576218" cy="2776728"/>
          </a:xfrm>
          <a:prstGeom prst="roundRect">
            <a:avLst>
              <a:gd name="adj" fmla="val 4610"/>
            </a:avLst>
          </a:prstGeom>
          <a:solidFill>
            <a:srgbClr val="F2EE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472330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正確性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454042" y="1752600"/>
            <a:ext cx="3283610" cy="1984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p_θ(x₀ℓ | xₜ) 是一個 conditional distribution，argmax 只在它非常尖的時候才接近「從中抽樣」；遮罩比例大時它通常很平，argmax 偏得很遠。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8158277" y="1234440"/>
            <a:ext cx="3576218" cy="2776728"/>
          </a:xfrm>
          <a:prstGeom prst="roundRect">
            <a:avLst>
              <a:gd name="adj" fmla="val 4610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2869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一個實務變種要留著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304581" y="1752600"/>
            <a:ext cx="3283610" cy="1984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MaskGIT：每步先對所有被遮位置抽樣，再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只保留信心最高的那幾個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，其餘遮回去。那不是 argmax，而是在「哪些位置翻開」上做選擇——它其實在偷偷處理下一篇要談的問題。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457200" y="4239768"/>
            <a:ext cx="11277295" cy="868680"/>
          </a:xfrm>
          <a:prstGeom prst="roundRect">
            <a:avLst>
              <a:gd name="adj" fmla="val 10526"/>
            </a:avLst>
          </a:prstGeom>
          <a:solidFill>
            <a:srgbClr val="EAF4FD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4399788"/>
            <a:ext cx="1417320" cy="548640"/>
          </a:xfrm>
          <a:prstGeom prst="roundRect">
            <a:avLst>
              <a:gd name="adj" fmla="val 20000"/>
            </a:avLst>
          </a:prstGeom>
          <a:solidFill>
            <a:srgbClr val="0E2F74"/>
          </a:solidFill>
          <a:ln w="12700">
            <a:solidFill>
              <a:srgbClr val="0E2F7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4399788"/>
            <a:ext cx="141732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重點結論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331720" y="4376928"/>
            <a:ext cx="0" cy="594360"/>
          </a:xfrm>
          <a:prstGeom prst="line">
            <a:avLst/>
          </a:prstGeom>
          <a:noFill/>
          <a:ln w="12700">
            <a:solidFill>
              <a:srgbClr val="D9E0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514600" y="4285488"/>
            <a:ext cx="8991295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步數越少、每步同時翻開越多——哪裡會出錯？答案是離散世界的「曲率」。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U4.2 Q1 ＋ Bridge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c4ae4d00-ecec-599d-99af-5b416eb8503d/scratchpad/build/w2pages/p-3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9010" y="0"/>
            <a:ext cx="11513675" cy="647395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65760" y="6492240"/>
            <a:ext cx="11460175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沿用 Week 2 #31 · 每一次翻多格，這樣可以嗎？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c4ae4d00-ecec-599d-99af-5b416eb8503d/scratchpad/build/w2media/slide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1874520"/>
          </a:xfrm>
          <a:prstGeom prst="rect">
            <a:avLst/>
          </a:prstGeom>
          <a:solidFill>
            <a:srgbClr val="FBFCFE"/>
          </a:solidFill>
          <a:ln w="12700">
            <a:solidFill>
              <a:srgbClr val="FBFCF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1874520"/>
            <a:ext cx="12191695" cy="274320"/>
          </a:xfrm>
          <a:prstGeom prst="rect">
            <a:avLst/>
          </a:prstGeom>
          <a:solidFill>
            <a:srgbClr val="FBFCFE">
              <a:alpha val="55000"/>
            </a:srgbClr>
          </a:solidFill>
          <a:ln w="12700">
            <a:solidFill>
              <a:srgbClr val="FBFCFE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82880"/>
            <a:ext cx="11094415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30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上一篇說步數可以壓到 8 步、甚至 1 步。</a:t>
            </a:r>
            <a:endParaRPr lang="en-US" sz="3000" dirty="0"/>
          </a:p>
          <a:p>
            <a:pPr algn="ctr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30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那同時翻開很多格，代價是什麼？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1417320"/>
            <a:ext cx="10362895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U4.3 因子化誤差：離散世界的曲率</a:t>
            </a:r>
            <a:endParaRPr lang="en-US" sz="15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網路給的是什麼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786584" cy="3316224"/>
          </a:xfrm>
          <a:prstGeom prst="roundRect">
            <a:avLst>
              <a:gd name="adj" fmla="val 3860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362456"/>
            <a:ext cx="3457400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逐位置的 marginal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1752600"/>
            <a:ext cx="3493976" cy="23027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網路看到 xₜ，對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被遮的位置 ℓ 輸出 p_θ(x₀ℓ | xₜ)——「在看到 xₜ 的前提下，位置 ℓ 單獨來看是哪個字的機率」。它沒有告訴我們 ℓ 和 ℓ′ 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一起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會是什麼；網路沒有輸出任何 joint。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518104" y="1234440"/>
            <a:ext cx="3786584" cy="3316224"/>
          </a:xfrm>
          <a:prstGeom prst="roundRect">
            <a:avLst>
              <a:gd name="adj" fmla="val 3860"/>
            </a:avLst>
          </a:prstGeom>
          <a:solidFill>
            <a:srgbClr val="F2EE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82696" y="1362456"/>
            <a:ext cx="3457400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同時翻開一組 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682696" y="1752600"/>
            <a:ext cx="3457400" cy="581256"/>
          </a:xfrm>
          <a:prstGeom prst="roundRect">
            <a:avLst>
              <a:gd name="adj" fmla="val 12585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9" name="Image 0" descr="/tmp/claude-0/-home-claude/c4ae4d00-ecec-599d-99af-5b416eb8503d/scratchpad/build/math/f31d9cabdf5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4136" y="1858347"/>
            <a:ext cx="3274520" cy="369763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4664408" y="2425296"/>
            <a:ext cx="3493976" cy="1347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相等的條件：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給定 xₜ，S 裡的位置彼此 conditionally independent。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語言裡幾乎從不成立。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8579008" y="1234440"/>
            <a:ext cx="3155487" cy="3316224"/>
          </a:xfrm>
          <a:prstGeom prst="roundRect">
            <a:avLst>
              <a:gd name="adj" fmla="val 4057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743600" y="1362456"/>
            <a:ext cx="2826303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今天想吃 [MASK] [MASK]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725312" y="1752600"/>
            <a:ext cx="2862879" cy="16657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「牛肉／麵」和「壽／司」各自都合理，「牛肉／司」不合理——marginal 的乘積會以不小的機率生出它。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8725312" y="3509772"/>
            <a:ext cx="2862879" cy="7665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【待生圖】三格漫畫：兩個空格 → 合理的兩組填法 → 乘積生出「牛肉／司」；字用疊圖。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57200" y="4779264"/>
            <a:ext cx="11277295" cy="868680"/>
          </a:xfrm>
          <a:prstGeom prst="roundRect">
            <a:avLst>
              <a:gd name="adj" fmla="val 10526"/>
            </a:avLst>
          </a:prstGeom>
          <a:solidFill>
            <a:srgbClr val="EAF4FD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85800" y="4939284"/>
            <a:ext cx="1417320" cy="548640"/>
          </a:xfrm>
          <a:prstGeom prst="roundRect">
            <a:avLst>
              <a:gd name="adj" fmla="val 20000"/>
            </a:avLst>
          </a:prstGeom>
          <a:solidFill>
            <a:srgbClr val="0E2F74"/>
          </a:solidFill>
          <a:ln w="12700">
            <a:solidFill>
              <a:srgbClr val="0E2F7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85800" y="4939284"/>
            <a:ext cx="141732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重點結論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2331720" y="4916424"/>
            <a:ext cx="0" cy="594360"/>
          </a:xfrm>
          <a:prstGeom prst="line">
            <a:avLst/>
          </a:prstGeom>
          <a:noFill/>
          <a:ln w="12700">
            <a:solidFill>
              <a:srgbClr val="D9E0E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2514600" y="4824984"/>
            <a:ext cx="8991295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同時翻開多個 token 的全部代價：用乘積代替了 joint，忽略了條件相依。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U4.3 §1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c4ae4d00-ecec-599d-99af-5b416eb8503d/scratchpad/build/w2media/slide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1874520"/>
          </a:xfrm>
          <a:prstGeom prst="rect">
            <a:avLst/>
          </a:prstGeom>
          <a:solidFill>
            <a:srgbClr val="FBFCFE"/>
          </a:solidFill>
          <a:ln w="12700">
            <a:solidFill>
              <a:srgbClr val="FBFCF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1874520"/>
            <a:ext cx="12191695" cy="274320"/>
          </a:xfrm>
          <a:prstGeom prst="rect">
            <a:avLst/>
          </a:prstGeom>
          <a:solidFill>
            <a:srgbClr val="FBFCFE">
              <a:alpha val="55000"/>
            </a:srgbClr>
          </a:solidFill>
          <a:ln w="12700">
            <a:solidFill>
              <a:srgbClr val="FBFCFE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82880"/>
            <a:ext cx="11094415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2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最省事的做法——一步全翻——會壞到什麼程度？</a:t>
            </a:r>
            <a:endParaRPr lang="en-US" sz="2400" dirty="0"/>
          </a:p>
          <a:p>
            <a:pPr algn="ctr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2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先在小例子上算：長度 8 的 0/1 序列、偶數個 1（128 條均勻）、完美網路。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1417320"/>
            <a:ext cx="10362895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Q1：一步全翻？每步一個走 8 步？每步兩個走 4 步？</a:t>
            </a:r>
            <a:endParaRPr lang="en-US" sz="15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Parity toy：三個數字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78992"/>
            <a:ext cx="11277295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完美網路：輸出的 marginal 就是真實的 conditional marginal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960120" cy="54750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一步全翻</a:t>
            </a:r>
            <a:endParaRPr lang="en-US" sz="1500" dirty="0"/>
          </a:p>
        </p:txBody>
      </p:sp>
      <p:pic>
        <p:nvPicPr>
          <p:cNvPr id="5" name="Image 0" descr="/tmp/claude-0/-home-claude/c4ae4d00-ecec-599d-99af-5b416eb8503d/scratchpad/build/math/6bf68681d8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745356"/>
            <a:ext cx="7391095" cy="34863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174175" y="1745935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265615" y="1745935"/>
            <a:ext cx="24688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一半的樣本不合法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48287"/>
            <a:ext cx="960120" cy="53856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每步一個</a:t>
            </a:r>
            <a:endParaRPr lang="en-US" sz="1500" dirty="0"/>
          </a:p>
        </p:txBody>
      </p:sp>
      <p:pic>
        <p:nvPicPr>
          <p:cNvPr id="9" name="Image 1" descr="/tmp/claude-0/-home-claude/c4ae4d00-ecec-599d-99af-5b416eb8503d/scratchpad/build/math/b56b7811846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2360173"/>
            <a:ext cx="7391095" cy="31479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9174175" y="2343835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9265615" y="2343835"/>
            <a:ext cx="24688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8 格必須補成偶數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1554480" y="2869152"/>
            <a:ext cx="5943600" cy="562356"/>
          </a:xfrm>
          <a:prstGeom prst="roundRect">
            <a:avLst>
              <a:gd name="adj" fmla="val 13008"/>
            </a:avLst>
          </a:prstGeom>
          <a:solidFill>
            <a:srgbClr val="FEF6E9"/>
          </a:solidFill>
          <a:ln w="12700">
            <a:solidFill>
              <a:srgbClr val="FEF6E9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1664208" y="2869152"/>
            <a:ext cx="5760720" cy="5623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755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每步兩個、走 4 步——前三步都沒問題，最後一步呢？</a:t>
            </a:r>
            <a:endParaRPr lang="en-US" sz="1755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3513804"/>
            <a:ext cx="960120" cy="53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每步兩個</a:t>
            </a:r>
            <a:endParaRPr lang="en-US" sz="1500" dirty="0"/>
          </a:p>
        </p:txBody>
      </p:sp>
      <p:pic>
        <p:nvPicPr>
          <p:cNvPr id="15" name="Image 2" descr="/tmp/claude-0/-home-claude/c4ae4d00-ecec-599d-99af-5b416eb8503d/scratchpad/build/math/a0b4b7f743f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3625479"/>
            <a:ext cx="7391095" cy="311553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9174175" y="360752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9265615" y="3607520"/>
            <a:ext cx="24688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和一步全翻一樣差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548640" y="5715000"/>
            <a:ext cx="11094415" cy="777240"/>
          </a:xfrm>
          <a:prstGeom prst="roundRect">
            <a:avLst>
              <a:gd name="adj" fmla="val 11765"/>
            </a:avLst>
          </a:prstGeom>
          <a:solidFill>
            <a:srgbClr val="FAF5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731520" y="5760720"/>
            <a:ext cx="10728655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誤差</a:t>
            </a:r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不是</a:t>
            </a:r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由步數均勻決定，它出現在「同時翻開的位置有條件相依」的那一步——parity 的相依全藏在最後一個自由度。真實語言的相依散在各處（相鄰字、主謂一致、括號配對），所以每一步都會漏一點：</a:t>
            </a:r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步數越少、每步翻開越多，漏掉的相依越多。</a:t>
            </a:r>
            <a:endParaRPr lang="en-US" sz="1350" dirty="0"/>
          </a:p>
        </p:txBody>
      </p:sp>
      <p:sp>
        <p:nvSpPr>
          <p:cNvPr id="20" name="Text 15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U4.3 Q1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把誤差寫成一個數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512064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4" name="Image 0" descr="/tmp/claude-0/-home-claude/c4ae4d00-ecec-599d-99af-5b416eb8503d/scratchpad/build/shots/w6-3-par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9570" y="1389888"/>
            <a:ext cx="3355900" cy="371246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852160" y="1280160"/>
            <a:ext cx="5882335" cy="1874520"/>
          </a:xfrm>
          <a:prstGeom prst="roundRect">
            <a:avLst>
              <a:gd name="adj" fmla="val 5854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89320" y="1389888"/>
            <a:ext cx="560801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total correlation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971032" y="1712976"/>
            <a:ext cx="5644591" cy="91805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68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多變數版本的 mutual information：一組變數「合起來看」比「分開看」多知道多少。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68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≥ 0；= 0 若且唯若 S 在給定 xₜ 下條件獨立；|S| = 1 時恆為零。</a:t>
            </a:r>
            <a:endParaRPr lang="en-US" sz="1680" dirty="0"/>
          </a:p>
        </p:txBody>
      </p:sp>
      <p:sp>
        <p:nvSpPr>
          <p:cNvPr id="8" name="Shape 5"/>
          <p:cNvSpPr/>
          <p:nvPr/>
        </p:nvSpPr>
        <p:spPr>
          <a:xfrm>
            <a:off x="5852160" y="3337560"/>
            <a:ext cx="5882335" cy="1874520"/>
          </a:xfrm>
          <a:prstGeom prst="roundRect">
            <a:avLst>
              <a:gd name="adj" fmla="val 5854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89320" y="3447288"/>
            <a:ext cx="560801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Details：它和 loss 的關係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971032" y="3770376"/>
            <a:ext cx="5644591" cy="1011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KL(p ‖ p̃) = Σ_steps 𝔼 FE(S | xₜ)——生成分佈與真實分佈的差距就是所有步的因子化誤差之和（網路完美時）。而且這個誤差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不在訓練 loss 裡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：ELBO 是對「每步翻開一個」的鏈算的，因子化誤差純粹是取樣時「一步走太大」造成的——和 U3.2 一模一樣。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5349240"/>
            <a:ext cx="11277295" cy="1051560"/>
          </a:xfrm>
          <a:prstGeom prst="roundRect">
            <a:avLst>
              <a:gd name="adj" fmla="val 8696"/>
            </a:avLst>
          </a:prstGeom>
          <a:solidFill>
            <a:srgbClr val="EAF4FD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94360" y="5404104"/>
            <a:ext cx="11002975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中心式</a:t>
            </a:r>
            <a:endParaRPr lang="en-US" sz="1200" dirty="0"/>
          </a:p>
        </p:txBody>
      </p:sp>
      <p:pic>
        <p:nvPicPr>
          <p:cNvPr id="13" name="Image 1" descr="/tmp/claude-0/-home-claude/c4ae4d00-ecec-599d-99af-5b416eb8503d/scratchpad/build/math/fc1863f8775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7161" y="5724515"/>
            <a:ext cx="4497374" cy="557041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U4.3 §2 · demo w6-3-parity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marginal 的乘積 vs 真實的 joint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6766560" cy="5166360"/>
          </a:xfrm>
          <a:prstGeom prst="roundRect">
            <a:avLst>
              <a:gd name="adj" fmla="val 2124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4" name="Image 0" descr="/tmp/claude-0/-home-claude/c4ae4d00-ecec-599d-99af-5b416eb8503d/scratchpad/build/shots/w6-3-par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4591" y="1389888"/>
            <a:ext cx="4471778" cy="49469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98080" y="1280160"/>
            <a:ext cx="4236415" cy="1600200"/>
          </a:xfrm>
          <a:prstGeom prst="roundRect">
            <a:avLst>
              <a:gd name="adj" fmla="val 6857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635240" y="1389888"/>
            <a:ext cx="396209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demo：k = 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616952" y="1712976"/>
            <a:ext cx="3998671" cy="710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每一步只翻開一格，FE 一直是 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，跑 1000 次合法率 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100%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7498080" y="3063240"/>
            <a:ext cx="4236415" cy="1600200"/>
          </a:xfrm>
          <a:prstGeom prst="roundRect">
            <a:avLst>
              <a:gd name="adj" fmla="val 6857"/>
            </a:avLst>
          </a:prstGeom>
          <a:solidFill>
            <a:srgbClr val="F2EE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635240" y="3172968"/>
            <a:ext cx="396209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 = 2／4／8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616952" y="3496056"/>
            <a:ext cx="3998671" cy="1011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FE 前面幾步還是 0，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只有最後那一步跳到 log 2 ≈ 0.693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，合法率掉到 50% 上下（實測 k = 2 是 49.8%、k = 4 是 48.3%、k = 8 是 52.6%）。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498080" y="4846320"/>
            <a:ext cx="4236415" cy="1600200"/>
          </a:xfrm>
          <a:prstGeom prst="roundRect">
            <a:avLst>
              <a:gd name="adj" fmla="val 6857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635240" y="4956048"/>
            <a:ext cx="396209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 = 8 的兩張表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616952" y="5279136"/>
            <a:ext cx="3998671" cy="98846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82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真實 joint 的 256 個組合裡只有 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82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128 個機率不是 0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82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，marginal 的乘積卻 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82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256 個都有值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82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820" dirty="0"/>
          </a:p>
        </p:txBody>
      </p:sp>
      <p:sp>
        <p:nvSpPr>
          <p:cNvPr id="14" name="Text 11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 w6-3-parity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這是離散世界的曲率——本單元最重要的一張</a:t>
            </a:r>
            <a:endParaRPr lang="en-US" sz="320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729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023360"/>
                <a:gridCol w="4507992"/>
              </a:tblGrid>
              <a:tr h="693420">
                <a:tc>
                  <a:txBody>
                    <a:bodyPr/>
                    <a:lstStyle/>
                    <a:p>
                      <a:endParaRPr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連續（U3）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離散（本單元）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74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訓練學到的物件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精確的速度場 uₜ(x)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精確的 marginal p(x₀ℓ | xₜ)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一步走太大時假設了什麼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軌跡在這一步內是</a:t>
                      </a:r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直線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這一步翻開的位置</a:t>
                      </a:r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條件獨立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誤差的來源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曲率 ∫‖ẍₜ‖dt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條件相依（total correlation）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何時為零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軌跡是直線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每步只翻開一個位置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減少誤差的做法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多走幾步；拉直軌跡（reflow、OT 配對）；高階 solver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多走幾步；挑「相依弱」的位置先翻（信心排序）；顯式建模相依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5669280"/>
            <a:ext cx="11277295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有限步取樣的誤差，在兩個世界裡都來自「一步之內假設了太簡單的結構」。連續世界的「拉直」在離散沒有直接對應——</a:t>
            </a:r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沒有「直的配對」這回事</a:t>
            </a:r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——所以離散世界的手段主要落在最後一格的後兩項（MaskGIT 信心排序；Discrete Copula Diffusion 補回相依）。這條線還在發展中。</a:t>
            </a:r>
            <a:endParaRPr lang="en-US" sz="135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U4.3 §3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那不如直接用 autoregressive？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6217920" cy="5166360"/>
          </a:xfrm>
          <a:prstGeom prst="roundRect">
            <a:avLst>
              <a:gd name="adj" fmla="val 2124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4" name="Image 0" descr="/mnt/user-data/uploads/site/src/content/notes/research-areas/diffusion-models-and-their-applications/week-6/imgs/w6-3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863852"/>
            <a:ext cx="5998464" cy="399897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949440" y="1280160"/>
            <a:ext cx="4785055" cy="1600200"/>
          </a:xfrm>
          <a:prstGeom prst="roundRect">
            <a:avLst>
              <a:gd name="adj" fmla="val 6857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086600" y="1389888"/>
            <a:ext cx="451073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每步翻一個 ＝ 任意順序 AR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068312" y="1712976"/>
            <a:ext cx="4547311" cy="1011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absorbing diffusion 學到的 p(x₀ℓ | xₜ) 是乾淨資料的所有 conditional（Ou et al.、ARDM）；每步翻一個的 masked diffusion 就是一個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任意順序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的 AR 模型。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949440" y="3063240"/>
            <a:ext cx="4785055" cy="1600200"/>
          </a:xfrm>
          <a:prstGeom prst="roundRect">
            <a:avLst>
              <a:gd name="adj" fmla="val 6857"/>
            </a:avLst>
          </a:prstGeom>
          <a:solidFill>
            <a:srgbClr val="F2EE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086600" y="3172968"/>
            <a:ext cx="451073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取捨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068312" y="3496056"/>
            <a:ext cx="4547311" cy="124465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AR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：一次一個、固定順序，factorization 精確；代價 L 次網路呼叫，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無法平行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
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Masked diffusion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：任意順序、一步可翻很多個、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可以平行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，L/k 次呼叫；代價是因子化誤差。此外天生能做填空（雙向 context）。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949440" y="4846320"/>
            <a:ext cx="4785055" cy="1600200"/>
          </a:xfrm>
          <a:prstGeom prst="roundRect">
            <a:avLst>
              <a:gd name="adj" fmla="val 6857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086600" y="4956048"/>
            <a:ext cx="451073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比較時的陷阱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068312" y="5279136"/>
            <a:ext cx="4547311" cy="84764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54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Zheng et al.：步數不夠、或類別抽樣的數值實作不精確，會把因子化誤差誤讀成別的東西。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54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「每步翻開幾個」要當成明確的實驗變數。</a:t>
            </a:r>
            <a:endParaRPr lang="en-US" sz="1540" dirty="0"/>
          </a:p>
        </p:txBody>
      </p:sp>
      <p:sp>
        <p:nvSpPr>
          <p:cNvPr id="14" name="Text 11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U4.3 §4 · imgs/w6-3-1.png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0" y="2148840"/>
            <a:ext cx="8168335" cy="0"/>
          </a:xfrm>
          <a:prstGeom prst="line">
            <a:avLst/>
          </a:prstGeom>
          <a:noFill/>
          <a:ln w="15875">
            <a:solidFill>
              <a:srgbClr val="D9E0E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14400" y="2286000"/>
            <a:ext cx="10362895" cy="2011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28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有限步取樣的誤差，在兩個世界裡都來自</a:t>
            </a:r>
            <a:endParaRPr lang="en-US" sz="2800" dirty="0"/>
          </a:p>
          <a:p>
            <a:pPr algn="ctr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28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「一步之內假設了太簡單的結構」。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011680" y="4434840"/>
            <a:ext cx="8168335" cy="0"/>
          </a:xfrm>
          <a:prstGeom prst="line">
            <a:avLst/>
          </a:prstGeom>
          <a:noFill/>
          <a:ln w="15875">
            <a:solidFill>
              <a:srgbClr val="D9E0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5486400"/>
            <a:ext cx="9997135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連續世界假設直線，離散世界假設獨立。還有一個上一篇埋下的問題沒處理：翻錯的字能不能改？absorbing 說不能，uniform 說可以。</a:t>
            </a:r>
            <a:endParaRPr lang="en-US" sz="14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c4ae4d00-ecec-599d-99af-5b416eb8503d/scratchpad/build/w2media/slide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1874520"/>
          </a:xfrm>
          <a:prstGeom prst="rect">
            <a:avLst/>
          </a:prstGeom>
          <a:solidFill>
            <a:srgbClr val="FBFCFE"/>
          </a:solidFill>
          <a:ln w="12700">
            <a:solidFill>
              <a:srgbClr val="FBFCF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1874520"/>
            <a:ext cx="12191695" cy="274320"/>
          </a:xfrm>
          <a:prstGeom prst="rect">
            <a:avLst/>
          </a:prstGeom>
          <a:solidFill>
            <a:srgbClr val="FBFCFE">
              <a:alpha val="55000"/>
            </a:srgbClr>
          </a:solidFill>
          <a:ln w="12700">
            <a:solidFill>
              <a:srgbClr val="FBFCFE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82880"/>
            <a:ext cx="11094415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30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如果第三步就把一個字填錯了，</a:t>
            </a:r>
            <a:endParaRPr lang="en-US" sz="3000" dirty="0"/>
          </a:p>
          <a:p>
            <a:pPr algn="ctr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30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後面還有機會改回來嗎？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1417320"/>
            <a:ext cx="10362895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U4.4 Absorbing 與 Uniform：翻錯的字能不能改？</a:t>
            </a:r>
            <a:endParaRPr lang="en-US" sz="15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反向的時候，兩條鏈差在哪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576218" cy="3413760"/>
          </a:xfrm>
          <a:prstGeom prst="roundRect">
            <a:avLst>
              <a:gd name="adj" fmla="val 3750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Absorbing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1752600"/>
            <a:ext cx="3283610" cy="2621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每一步只對仍是 [MASK] 的位置做事。已翻開的位置，posterior 說「機率 1 保持原字」，反向過程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碰都不會碰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。第 2 步填成「牛肉／司」，之後的 6 步只能在這個錯字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旁邊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繼續填——錯誤留下來，而且成為後面的 context。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307738" y="1234440"/>
            <a:ext cx="3576218" cy="3413760"/>
          </a:xfrm>
          <a:prstGeom prst="roundRect">
            <a:avLst>
              <a:gd name="adj" fmla="val 3750"/>
            </a:avLst>
          </a:prstGeom>
          <a:solidFill>
            <a:srgbClr val="F2EE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472330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Uniform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72330" y="1752600"/>
            <a:ext cx="3247034" cy="443749"/>
          </a:xfrm>
          <a:prstGeom prst="roundRect">
            <a:avLst>
              <a:gd name="adj" fmla="val 16485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9" name="Image 0" descr="/tmp/claude-0/-home-claude/c4ae4d00-ecec-599d-99af-5b416eb8503d/scratchpad/build/math/289cfb15194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63770" y="1856699"/>
            <a:ext cx="3064154" cy="23555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4454042" y="2287789"/>
            <a:ext cx="3283610" cy="1984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位置都可能給出與 xₜ 不同的字：forward 每步都可能把任何字換成任何字，反向每步也就可能。早期填錯的位置，之後仍有機會換成更合理的字——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自我修正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8158277" y="1234440"/>
            <a:ext cx="3576218" cy="3413760"/>
          </a:xfrm>
          <a:prstGeom prst="roundRect">
            <a:avLst>
              <a:gd name="adj" fmla="val 3750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22869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對回 U3.1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304581" y="1752600"/>
            <a:ext cx="3283610" cy="16657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ODE 取樣器沒有噴聲、沒有修正，每步誤差直接累積；SDE 每步注入噴聲、再由 score 拉回 pₜ。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Absorbing 像 ODE，uniform 像 SDE。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U4.4 §1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翻錯的字，之後改得回來嗎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6766560" cy="5166360"/>
          </a:xfrm>
          <a:prstGeom prst="roundRect">
            <a:avLst>
              <a:gd name="adj" fmla="val 2124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4" name="Image 0" descr="/tmp/claude-0/-home-claude/c4ae4d00-ecec-599d-99af-5b416eb8503d/scratchpad/build/shots/w6-4-corre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2934" y="1389888"/>
            <a:ext cx="4595092" cy="49469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98080" y="1280160"/>
            <a:ext cx="4236415" cy="2491740"/>
          </a:xfrm>
          <a:prstGeom prst="roundRect">
            <a:avLst>
              <a:gd name="adj" fmla="val 4404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635240" y="1389888"/>
            <a:ext cx="396209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616952" y="1712976"/>
            <a:ext cx="3998671" cy="162214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54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長度 16 的 0/1 序列（相鄰格以機率 0.9 相同），網路是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54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精確算出來的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54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conditional marginal——看到的全部是兩條鏈本身的差別。按「植入一個錯誤」再一路走完：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54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absorbing 那排的紅框永遠不變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54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，uniform 那排常在後面幾步被改掉、變成綠框。</a:t>
            </a:r>
            <a:endParaRPr lang="en-US" sz="1540" dirty="0"/>
          </a:p>
        </p:txBody>
      </p:sp>
      <p:sp>
        <p:nvSpPr>
          <p:cNvPr id="8" name="Shape 5"/>
          <p:cNvSpPr/>
          <p:nvPr/>
        </p:nvSpPr>
        <p:spPr>
          <a:xfrm>
            <a:off x="7498080" y="3954780"/>
            <a:ext cx="4236415" cy="2491740"/>
          </a:xfrm>
          <a:prstGeom prst="roundRect">
            <a:avLst>
              <a:gd name="adj" fmla="val 4404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635240" y="4064508"/>
            <a:ext cx="396209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數字與代價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616952" y="4387596"/>
            <a:ext cx="3998671" cy="1481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68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200 次修正率：absorbing 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68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0.0%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68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、uniform 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68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62%～67%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68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。代價在「視角」按鈕——打開就看到 uniform 的 xₜ 裡噴聲字和原字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68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長得一模一樣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68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，那些虛線框是讀者看得到、模型看不到的。</a:t>
            </a:r>
            <a:endParaRPr lang="en-US" sz="1680" dirty="0"/>
          </a:p>
        </p:txBody>
      </p:sp>
      <p:sp>
        <p:nvSpPr>
          <p:cNvPr id="11" name="Text 8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 w6-4-correction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c4ae4d00-ecec-599d-99af-5b416eb8503d/scratchpad/build/w2media/slide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1874520"/>
          </a:xfrm>
          <a:prstGeom prst="rect">
            <a:avLst/>
          </a:prstGeom>
          <a:solidFill>
            <a:srgbClr val="FBFCFE"/>
          </a:solidFill>
          <a:ln w="12700">
            <a:solidFill>
              <a:srgbClr val="FBFCF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1874520"/>
            <a:ext cx="12191695" cy="274320"/>
          </a:xfrm>
          <a:prstGeom prst="rect">
            <a:avLst/>
          </a:prstGeom>
          <a:solidFill>
            <a:srgbClr val="FBFCFE">
              <a:alpha val="55000"/>
            </a:srgbClr>
          </a:solidFill>
          <a:ln w="12700">
            <a:solidFill>
              <a:srgbClr val="FBFCFE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82880"/>
            <a:ext cx="11094415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28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那 uniform 應該更好——</a:t>
            </a:r>
            <a:endParaRPr lang="en-US" sz="2800" dirty="0"/>
          </a:p>
          <a:p>
            <a:pPr algn="ctr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28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為什麼實務上 absorbing 的 perplexity 明顯更好？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1417320"/>
            <a:ext cx="10362895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U4.4 §2 · D3PM 在文字上的實驗、SEDD 用連續時間重做，都是 absorbing 贏</a:t>
            </a:r>
            <a:endParaRPr lang="en-US" sz="15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今天想吃壽貓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603504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4" name="Image 0" descr="/mnt/user-data/uploads/site/src/content/notes/research-areas/diffusion-models-and-their-applications/week-6/imgs/w6-4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" y="1389888"/>
            <a:ext cx="5568696" cy="371246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766560" y="1280160"/>
            <a:ext cx="4967935" cy="1188720"/>
          </a:xfrm>
          <a:prstGeom prst="roundRect">
            <a:avLst>
              <a:gd name="adj" fmla="val 9231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903720" y="1389888"/>
            <a:ext cx="469361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uniform 每步每位置要先判斷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885432" y="1712976"/>
            <a:ext cx="4730191" cy="76276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「貓」是噴聲還是原文的一部分？判斷會錯兩方向——把原字當噴聲改掉、把噴聲當原字留下。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修正能力是有了，但修正本身會引入新的錯誤。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766560" y="2651760"/>
            <a:ext cx="4967935" cy="1188720"/>
          </a:xfrm>
          <a:prstGeom prst="roundRect">
            <a:avLst>
              <a:gd name="adj" fmla="val 9231"/>
            </a:avLst>
          </a:prstGeom>
          <a:solidFill>
            <a:srgbClr val="F2EE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903720" y="2761488"/>
            <a:ext cx="469361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absorbing 把判斷完全拿掉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885432" y="3084576"/>
            <a:ext cx="4730191" cy="76276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[MASK] 一眼可辨，沒被遮的字一定是對的。模型的全部容量都用在「這個空格該填什麼」。所有不確定性集中在一種符號上，而不是散在字典的每個字裡。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766560" y="4023360"/>
            <a:ext cx="4967935" cy="1188720"/>
          </a:xfrm>
          <a:prstGeom prst="roundRect">
            <a:avLst>
              <a:gd name="adj" fmla="val 9231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903720" y="4133088"/>
            <a:ext cx="469361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手續費不隨步數變小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885432" y="4456176"/>
            <a:ext cx="4730191" cy="76276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和 SDE 不同：SDE 自帶的離散化誤差隨步數變小；uniform 付的是「每步都要重新判斷什麼是噴聲」，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不隨步數變小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，不會在步數多的那一端自己消失。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57200" y="5349240"/>
            <a:ext cx="11277295" cy="1051560"/>
          </a:xfrm>
          <a:prstGeom prst="roundRect">
            <a:avLst>
              <a:gd name="adj" fmla="val 8696"/>
            </a:avLst>
          </a:prstGeom>
          <a:solidFill>
            <a:srgbClr val="EAF4FD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94360" y="5404104"/>
            <a:ext cx="11002975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取捨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594360" y="5696712"/>
            <a:ext cx="11002975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修正能力</a:t>
            </a:r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25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（uniform 有、absorbing 沒有）對上 </a:t>
            </a:r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乾淨的 context</a:t>
            </a:r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25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（absorbing 有、uniform 沒有）。經驗上第二項更重要——至少在語言上、在目前的模型規模下。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U4.4 §2 · imgs/w6-4-1.png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c4ae4d00-ecec-599d-99af-5b416eb8503d/scratchpad/build/w2media/slide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1874520"/>
          </a:xfrm>
          <a:prstGeom prst="rect">
            <a:avLst/>
          </a:prstGeom>
          <a:solidFill>
            <a:srgbClr val="FBFCFE"/>
          </a:solidFill>
          <a:ln w="12700">
            <a:solidFill>
              <a:srgbClr val="FBFCF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1874520"/>
            <a:ext cx="12191695" cy="274320"/>
          </a:xfrm>
          <a:prstGeom prst="rect">
            <a:avLst/>
          </a:prstGeom>
          <a:solidFill>
            <a:srgbClr val="FBFCFE">
              <a:alpha val="55000"/>
            </a:srgbClr>
          </a:solidFill>
          <a:ln w="12700">
            <a:solidFill>
              <a:srgbClr val="FBFCFE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82880"/>
            <a:ext cx="11094415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2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有沒有辦法兩個都要——</a:t>
            </a:r>
            <a:endParaRPr lang="en-US" sz="2600" dirty="0"/>
          </a:p>
          <a:p>
            <a:pPr algn="ctr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2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保留 [MASK] 的乾淨 context，又讓早期填錯的字有機會被改？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1417320"/>
            <a:ext cx="10362895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Q1：用這個單元的語言描述你會怎麼設計 forward chain</a:t>
            </a:r>
            <a:endParaRPr lang="en-US" sz="15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Q1：在 absorbing 鏈上加一點「回到 [MASK]」的機會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576218" cy="4138803"/>
          </a:xfrm>
          <a:prstGeom prst="roundRect">
            <a:avLst>
              <a:gd name="adj" fmla="val 3580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remasking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1752600"/>
            <a:ext cx="3283610" cy="2621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一個已經翻開的字，以某個小機率被重新遮起來，之後再重填。噴聲仍然只有一種符號（context 依然乾淨），但錯字不再永遠固定；重新被遮的位置會用當時更完整的 context 重新填一次。ReMDM 正是這麼做的。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307738" y="1234440"/>
            <a:ext cx="3576218" cy="4138803"/>
          </a:xfrm>
          <a:prstGeom prst="roundRect">
            <a:avLst>
              <a:gd name="adj" fmla="val 3580"/>
            </a:avLst>
          </a:prstGeom>
          <a:solidFill>
            <a:srgbClr val="F2EE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472330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三個要說清楚的問題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72330" y="1752600"/>
            <a:ext cx="3247034" cy="403479"/>
          </a:xfrm>
          <a:prstGeom prst="roundRect">
            <a:avLst>
              <a:gd name="adj" fmla="val 13598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45482" y="1770888"/>
            <a:ext cx="3100730" cy="36690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重新遮的機率該是多少？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472330" y="2247519"/>
            <a:ext cx="3247034" cy="660654"/>
          </a:xfrm>
          <a:prstGeom prst="roundRect">
            <a:avLst>
              <a:gd name="adj" fmla="val 8304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45482" y="2265807"/>
            <a:ext cx="3100730" cy="62407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它會不會改變 q(xₜ | x₀)、讓訓好的模型不再適用？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472330" y="2999613"/>
            <a:ext cx="3247034" cy="660654"/>
          </a:xfrm>
          <a:prstGeom prst="roundRect">
            <a:avLst>
              <a:gd name="adj" fmla="val 8304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45482" y="3017901"/>
            <a:ext cx="3100730" cy="62407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「每步翻開的比例」和「每步重遮的比例」怎麼平衡？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454042" y="3751707"/>
            <a:ext cx="3283610" cy="1347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用離散時間、transition matrix 的語言答起來很笨拙——每個問題都要重算一次矩陣連乘。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8158277" y="1234440"/>
            <a:ext cx="3576218" cy="4138803"/>
          </a:xfrm>
          <a:prstGeom prst="roundRect">
            <a:avLst>
              <a:gd name="adj" fmla="val 3580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2869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下一個單元換語言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04581" y="1752600"/>
            <a:ext cx="3283610" cy="2621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連續時間，用 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rate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描述「每單位時間有多少機率從一個狀態流到另一個」。在那個語言裡 remasking 只是多加一個 rate，對應到 U3.1「訓練噴聲與取樣噴聲是兩個旋鈕」裡取樣器的 ε。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答案會變得很短。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U4.4 Q1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對照：兩個世界，同一組取捨</a:t>
            </a:r>
            <a:endParaRPr lang="en-US" sz="3200" dirty="0"/>
          </a:p>
        </p:txBody>
      </p:sp>
      <p:graphicFrame>
        <p:nvGraphicFramePr>
          <p:cNvPr id="5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729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657600"/>
                <a:gridCol w="4325112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連續（U3）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離散（U4）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共同點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7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ODE 取樣器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absorbing 反向鏈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沒有修正，誤差累積；context／軌跡乾淨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SDE 取樣器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uniform 反向鏈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有自我修正；每步付一筆手續費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訓練噴聲 γₜ vs 取樣噴聲 εₜ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forward chain vs 取樣時的 remasking rate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兩個旋鈕，不是一個——U5 把 remasking 寫成 rate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U4.4 預告表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U4.5 實作：為什麼是這兩個 toy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6217920" cy="5166360"/>
          </a:xfrm>
          <a:prstGeom prst="roundRect">
            <a:avLst>
              <a:gd name="adj" fmla="val 2124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4" name="Image 0" descr="/mnt/user-data/uploads/site/src/content/notes/research-areas/diffusion-models-and-their-applications/week-6/imgs/w6-5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863852"/>
            <a:ext cx="5998464" cy="399897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949440" y="1280160"/>
            <a:ext cx="4785055" cy="1600200"/>
          </a:xfrm>
          <a:prstGeom prst="roundRect">
            <a:avLst>
              <a:gd name="adj" fmla="val 6857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086600" y="1389888"/>
            <a:ext cx="451073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離散版「月牙」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068312" y="1712976"/>
            <a:ext cx="4547311" cy="84764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54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狀態空間小到能把所有 conditional marginal p(x₀ℓ | xₜ) 用查表算出來——網路學得好不好有標準答案，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54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模型誤差與因子化誤差分得開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54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540" dirty="0"/>
          </a:p>
        </p:txBody>
      </p:sp>
      <p:sp>
        <p:nvSpPr>
          <p:cNvPr id="8" name="Shape 5"/>
          <p:cNvSpPr/>
          <p:nvPr/>
        </p:nvSpPr>
        <p:spPr>
          <a:xfrm>
            <a:off x="6949440" y="3063240"/>
            <a:ext cx="4785055" cy="1600200"/>
          </a:xfrm>
          <a:prstGeom prst="roundRect">
            <a:avLst>
              <a:gd name="adj" fmla="val 6857"/>
            </a:avLst>
          </a:prstGeom>
          <a:solidFill>
            <a:srgbClr val="F2EE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086600" y="3172968"/>
            <a:ext cx="451073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Parity toy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068312" y="3496056"/>
            <a:ext cx="4547311" cy="84764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54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 = 8 的 0/1 序列，全部 128 條偶數 parity 均勻。相依全部藏在「最後一個自由度」——U4.3 的三個數字（½、1、½）可以直接驗證。</a:t>
            </a:r>
            <a:endParaRPr lang="en-US" sz="1540" dirty="0"/>
          </a:p>
        </p:txBody>
      </p:sp>
      <p:sp>
        <p:nvSpPr>
          <p:cNvPr id="11" name="Shape 8"/>
          <p:cNvSpPr/>
          <p:nvPr/>
        </p:nvSpPr>
        <p:spPr>
          <a:xfrm>
            <a:off x="6949440" y="4846320"/>
            <a:ext cx="4785055" cy="1600200"/>
          </a:xfrm>
          <a:prstGeom prst="roundRect">
            <a:avLst>
              <a:gd name="adj" fmla="val 6857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086600" y="4956048"/>
            <a:ext cx="451073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Markov toy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068312" y="5279136"/>
            <a:ext cx="4547311" cy="66953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 = 16，第一格均勻，之後每格以機率 0.9 等於上一格。相依在相鄰位置、處處都有，曲線是漸變的。2¹⁶ 個狀態，查表仍可行。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7068312" y="6040114"/>
            <a:ext cx="4547311" cy="5323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網路：2 層、寬 64 的雙向 transformer，輸入 xₜ（K+1 = 3 類 embedding）與 t；每位置輸出 K = 2 個 logits。T = 32，ᾱₜ = 1 − t/T。notebook：dma-w6-lab.ipynb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U4.5 §1 · imgs/w6-5-1.png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 1：forward 與訓練——與 U1.5 的五行逐行對照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6949440" cy="4491990"/>
          </a:xfrm>
          <a:prstGeom prst="roundRect">
            <a:avLst>
              <a:gd name="adj" fmla="val 2443"/>
            </a:avLst>
          </a:prstGeom>
          <a:solidFill>
            <a:srgbClr val="161F28"/>
          </a:solidFill>
          <a:ln w="12700">
            <a:solidFill>
              <a:srgbClr val="161F2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6583680" cy="4217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MASK = 2                                   # 第 K+1 個符號
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q_sample(x0, t):                       # absorbing forward 的 closed form
</a:t>
            </a:r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D28A"/>
                </a:solidFill>
                <a:highlight>
                  <a:srgbClr val="3A2E1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keep = torch.rand_like(x0.float()) &lt; alpha_bar[t][:, None]
</a:t>
            </a:r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D28A"/>
                </a:solidFill>
                <a:highlight>
                  <a:srgbClr val="3A2E1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torch.where(keep, x0, torch.full_like(x0, MASK))
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weight(t):                             # (ᾱ_{t-1} − ᾱ_t) / (1 − ᾱ_t)
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(alpha_bar[t - 1] - alpha_bar[t]) / (1 - alpha_bar[t])
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step in range(n_steps):
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x0 = sample_data(batch)
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  = torch.randint(1, T + 1, (batch,))
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xt = q_sample(x0, t)
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logits = model(xt, t)                  # (batch, L, K)
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ce = F.cross_entropy(logits.transpose(1, 2), x0, reduction='none')
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masked = (xt == MASK).float()
</a:t>
            </a:r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D28A"/>
                </a:solidFill>
                <a:highlight>
                  <a:srgbClr val="3A2E1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loss = (weight(t)[:, None] * ce * masked).sum(1).mean()
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loss.backward(); opt.step(); opt.zero_grad()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680960" y="1280160"/>
            <a:ext cx="4053535" cy="4491990"/>
          </a:xfrm>
          <a:prstGeom prst="roundRect">
            <a:avLst>
              <a:gd name="adj" fmla="val 2707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18120" y="1408176"/>
            <a:ext cx="377921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只換了兩處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99832" y="1740408"/>
            <a:ext cx="3815791" cy="1481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68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`q_sample` 從「乘 √ᾱ 加噴聲」變成「以 ᾱ 的機率保留、否則遮掉」；loss 從 MSE 變成只在被遮位置計算、帶時間權重的 cross-entropy。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68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其他一行都沒變。</a:t>
            </a:r>
            <a:endParaRPr lang="en-US" sz="1680" dirty="0"/>
          </a:p>
        </p:txBody>
      </p:sp>
      <p:sp>
        <p:nvSpPr>
          <p:cNvPr id="8" name="Text 6"/>
          <p:cNvSpPr txBox="1"/>
          <p:nvPr/>
        </p:nvSpPr>
        <p:spPr>
          <a:xfrm>
            <a:off x="7799832" y="3313176"/>
            <a:ext cx="3815791" cy="204459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68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檢查點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68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：Markov toy 上把 `softmax` 與 `exact_conditional(xt)` 在被遮位置比，平均 KL 幾千步內降到 10⁻² 以下。parity toy 上「只剩一個被遮位置」的樣本，網路應學到接近確定的輸出（其他情形 marginal 都該是 0.5）。</a:t>
            </a:r>
            <a:endParaRPr lang="en-US" sz="168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U4.5 步驟 1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c4ae4d00-ecec-599d-99af-5b416eb8503d/scratchpad/build/w2media/slide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1874520"/>
          </a:xfrm>
          <a:prstGeom prst="rect">
            <a:avLst/>
          </a:prstGeom>
          <a:solidFill>
            <a:srgbClr val="FBFCFE"/>
          </a:solidFill>
          <a:ln w="12700">
            <a:solidFill>
              <a:srgbClr val="FBFCF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1874520"/>
            <a:ext cx="12191695" cy="274320"/>
          </a:xfrm>
          <a:prstGeom prst="rect">
            <a:avLst/>
          </a:prstGeom>
          <a:solidFill>
            <a:srgbClr val="FBFCFE">
              <a:alpha val="55000"/>
            </a:srgbClr>
          </a:solidFill>
          <a:ln w="12700">
            <a:solidFill>
              <a:srgbClr val="FBFCFE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82880"/>
            <a:ext cx="11094415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30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一張圖上兩種誤差，</a:t>
            </a:r>
            <a:endParaRPr lang="en-US" sz="3000" dirty="0"/>
          </a:p>
          <a:p>
            <a:pPr algn="ctr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30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怎麼一眼看出哪一段是誰的責任？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1417320"/>
            <a:ext cx="10362895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U4.5 步驟 2：模型誤差 vs 因子化誤差（圖 a）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619695" y="5623560"/>
            <a:ext cx="4206240" cy="914400"/>
          </a:xfrm>
          <a:prstGeom prst="roundRect">
            <a:avLst>
              <a:gd name="adj" fmla="val 100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11135" y="5650992"/>
            <a:ext cx="402336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模型誤差：KL(exact ‖ model) 在被遮位置的平均，對 t 畫。因子化誤差：用 exact_conditional（不用網路）取樣，每步翻 k 個，k ∈ {1, 2, 4, 8, 16}。</a:t>
            </a:r>
            <a:endParaRPr lang="en-US" sz="12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兩種誤差分開看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6766560" cy="5166360"/>
          </a:xfrm>
          <a:prstGeom prst="roundRect">
            <a:avLst>
              <a:gd name="adj" fmla="val 2124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4" name="Image 0" descr="/tmp/claude-0/-home-claude/c4ae4d00-ecec-599d-99af-5b416eb8503d/scratchpad/build/shots/w6-5-decomp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750" y="1389888"/>
            <a:ext cx="4635459" cy="49469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98080" y="1280160"/>
            <a:ext cx="4236415" cy="1600200"/>
          </a:xfrm>
          <a:prstGeom prst="roundRect">
            <a:avLst>
              <a:gd name="adj" fmla="val 6857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635240" y="1389888"/>
            <a:ext cx="396209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demo：圖 a 的標準答案版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616952" y="1712976"/>
            <a:ext cx="3998671" cy="1011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Markov toy，conditional marginal 精確算；模型誤差用一個旋鈕 ε 模擬（把 marginal 往均勻拉 ε）。縱軸是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樣本的切換率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（相鄰兩格不同的比例），資料真值 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0.10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498080" y="3063240"/>
            <a:ext cx="4236415" cy="1600200"/>
          </a:xfrm>
          <a:prstGeom prst="roundRect">
            <a:avLst>
              <a:gd name="adj" fmla="val 6857"/>
            </a:avLst>
          </a:prstGeom>
          <a:solidFill>
            <a:srgbClr val="F2EE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635240" y="3172968"/>
            <a:ext cx="396209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讀法就兩句話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616952" y="3496056"/>
            <a:ext cx="3998671" cy="124465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三條線在 k = 1 的高低差是模型誤差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（完美網路 0.09～0.11，ε = 0.15 是 0.17～0.18）。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同一條線隨 k 爬升的那一段是因子化誤差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（完美網路一路爬到 k = 16 的 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0.50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——「每格獨立擲硬幣」）。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498080" y="4846320"/>
            <a:ext cx="4236415" cy="1600200"/>
          </a:xfrm>
          <a:prstGeom prst="roundRect">
            <a:avLst>
              <a:gd name="adj" fmla="val 6857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635240" y="4956048"/>
            <a:ext cx="396209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Remark：為什麼用切換率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616952" y="5279136"/>
            <a:ext cx="3998671" cy="1011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有限樣本估 KL 偏差很大（沒出現過的序列該算多少？）。切換率有已知真值、因子化誤差恰好讓它往 0.50 移動，方向和大小都讀得出來。兩個都算：KL 確認整體，切換率看趨勢。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 w6-5-decompose</a:t>
            </a:r>
            <a:endParaRPr lang="en-US" sz="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 3：跳步取樣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6949440" cy="3063240"/>
          </a:xfrm>
          <a:prstGeom prst="roundRect">
            <a:avLst>
              <a:gd name="adj" fmla="val 3582"/>
            </a:avLst>
          </a:prstGeom>
          <a:solidFill>
            <a:srgbClr val="161F28"/>
          </a:solidFill>
          <a:ln w="12700">
            <a:solidFill>
              <a:srgbClr val="161F2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65836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@torch.no_grad()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sample(model, n, steps, chain='absorbing'):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xt = torch.full((n, L), MASK)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ts = torch.linspace(T, 0, steps + 1).long()      # 跳步：T → … → 0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t, s in zip(ts[:-1], ts[1:]):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probs = model(xt, t.expand(n)).softmax(-1)
</a:t>
            </a:r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D28A"/>
                </a:solidFill>
                <a:highlight>
                  <a:srgbClr val="3A2E1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p_open = (alpha_bar[s] - alpha_bar[t]) / (1 - alpha_bar[t])
</a:t>
            </a:r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D28A"/>
                </a:solidFill>
                <a:highlight>
                  <a:srgbClr val="3A2E1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flip  = torch.rand(n, L) &lt; p_open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new   = torch.distributions.Categorical(probs).sample()
</a:t>
            </a:r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D28A"/>
                </a:solidFill>
                <a:highlight>
                  <a:srgbClr val="3A2E1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xt = torch.where((xt == MASK) &amp; flip, new, xt)   # 翻開就固定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xt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680960" y="1280160"/>
            <a:ext cx="4053535" cy="3063240"/>
          </a:xfrm>
          <a:prstGeom prst="roundRect">
            <a:avLst>
              <a:gd name="adj" fmla="val 3582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18120" y="1408176"/>
            <a:ext cx="377921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 b：每步翻開幾個 vs 合法率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99832" y="1740408"/>
            <a:ext cx="3815791" cy="1011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Parity toy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，步數 {1, 2, 4, 8} 各抽 2000 條：1 步 50%、2 步約 52%、4 步約 64%、8 步爬到 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78–79%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——但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不是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100%。為什麼？先寫下你的猜測。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99832" y="2843784"/>
            <a:ext cx="3815791" cy="5425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倒過來，若連 1、2 步都明顯低於 50%，那才是網路本身有問題，回步驟 1 的檢查點。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99832" y="3477768"/>
            <a:ext cx="3815791" cy="1011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Markov toy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，步數 {1, 2, 4, 8, 16}，畫 `kl_to_data`——漸變下降。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把這張圖留好，U5 加上 remasking 會在同一張圖上疊新的線。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U4.5 步驟 3</a:t>
            </a:r>
            <a:endParaRPr lang="en-US" sz="9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c4ae4d00-ecec-599d-99af-5b416eb8503d/scratchpad/build/w2media/slide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1874520"/>
          </a:xfrm>
          <a:prstGeom prst="rect">
            <a:avLst/>
          </a:prstGeom>
          <a:solidFill>
            <a:srgbClr val="FBFCFE"/>
          </a:solidFill>
          <a:ln w="12700">
            <a:solidFill>
              <a:srgbClr val="FBFCF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1874520"/>
            <a:ext cx="12191695" cy="274320"/>
          </a:xfrm>
          <a:prstGeom prst="rect">
            <a:avLst/>
          </a:prstGeom>
          <a:solidFill>
            <a:srgbClr val="FBFCFE">
              <a:alpha val="55000"/>
            </a:srgbClr>
          </a:solidFill>
          <a:ln w="12700">
            <a:solidFill>
              <a:srgbClr val="FBFCFE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82880"/>
            <a:ext cx="11094415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2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步、L = 8，每步「平均翻開一格」，</a:t>
            </a:r>
            <a:endParaRPr lang="en-US" sz="2600" dirty="0"/>
          </a:p>
          <a:p>
            <a:pPr algn="ctr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2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合法率卻是 78–79% 不是 100%——哪裡出問題？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1417320"/>
            <a:ext cx="10362895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Q1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619695" y="5623560"/>
            <a:ext cx="4206240" cy="914400"/>
          </a:xfrm>
          <a:prstGeom prst="roundRect">
            <a:avLst>
              <a:gd name="adj" fmla="val 100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11135" y="5650992"/>
            <a:ext cx="402336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不是模型，也不是實作 bug。</a:t>
            </a:r>
            <a:endParaRPr lang="en-US" sz="12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Q1：「平均翻開一格」≠「每步剛好翻開一格」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78992"/>
            <a:ext cx="11277295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flip 逐位置擲硬幣 → 一步之內翻開幾格是 Binomial：期望 1，但常常是 0 或 2 以上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11094415" cy="72123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89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parity 的相依全藏在最後一個自由度：只要還有兩格以上被遮，每一格的 marginal 就恰好是 0.5——網路學得再好也只能給 0.5。所以真正該問的是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89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最後一次翻開了幾格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89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89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22017"/>
            <a:ext cx="960120" cy="90009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</a:t>
            </a:r>
            <a:endParaRPr lang="en-US" sz="1500" dirty="0"/>
          </a:p>
        </p:txBody>
      </p:sp>
      <p:pic>
        <p:nvPicPr>
          <p:cNvPr id="6" name="Image 0" descr="/tmp/claude-0/-home-claude/c4ae4d00-ecec-599d-99af-5b416eb8503d/scratchpad/build/math/0dd8b69920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2536408"/>
            <a:ext cx="7391095" cy="67130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174175" y="2698326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265615" y="2698326"/>
            <a:ext cx="24688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位置 ℓ 第一次翻開在第 i 步的機率是 1/N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1554480" y="3404403"/>
            <a:ext cx="5943600" cy="562356"/>
          </a:xfrm>
          <a:prstGeom prst="roundRect">
            <a:avLst>
              <a:gd name="adj" fmla="val 13008"/>
            </a:avLst>
          </a:prstGeom>
          <a:solidFill>
            <a:srgbClr val="FEF6E9"/>
          </a:solidFill>
          <a:ln w="12700">
            <a:solidFill>
              <a:srgbClr val="FEF6E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664208" y="3404403"/>
            <a:ext cx="5760720" cy="5623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755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「最後一次只翻一格」等價於什麼？</a:t>
            </a:r>
            <a:endParaRPr lang="en-US" sz="1755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049055"/>
            <a:ext cx="960120" cy="107439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合法率</a:t>
            </a:r>
            <a:endParaRPr lang="en-US" sz="1500" dirty="0"/>
          </a:p>
        </p:txBody>
      </p:sp>
      <p:pic>
        <p:nvPicPr>
          <p:cNvPr id="12" name="Image 1" descr="/tmp/claude-0/-home-claude/c4ae4d00-ecec-599d-99af-5b416eb8503d/scratchpad/build/math/dec9bcebde6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4191742"/>
            <a:ext cx="7391095" cy="789016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9174175" y="4412514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9265615" y="4412514"/>
            <a:ext cx="24688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 = N = 8：q = 0.5723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48640" y="5715000"/>
            <a:ext cx="11094415" cy="777240"/>
          </a:xfrm>
          <a:prstGeom prst="roundRect">
            <a:avLst>
              <a:gd name="adj" fmla="val 11765"/>
            </a:avLst>
          </a:prstGeom>
          <a:solidFill>
            <a:srgbClr val="FAF5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31520" y="5760720"/>
            <a:ext cx="10728655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這條樣本合法，等價於最後一次翻開只翻了一格。</a:t>
            </a:r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否則最後那一批全是公平銅板，parity 有一半機會湊成偶數。L = N = 8 代進去：</a:t>
            </a:r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78.6%</a:t>
            </a:r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——量到 78–79% 不是實作沒調好，那就是這個設定的天花板，剩下的 21.4% 全部是因子化誤差。</a:t>
            </a:r>
            <a:endParaRPr lang="en-US" sz="1350" dirty="0"/>
          </a:p>
        </p:txBody>
      </p:sp>
      <p:sp>
        <p:nvSpPr>
          <p:cNvPr id="17" name="Text 13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U4.5 Q1</a:t>
            </a:r>
            <a:endParaRPr lang="en-US" sz="9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三種修法，各對應不同的意思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576218" cy="2866644"/>
          </a:xfrm>
          <a:prstGeom prst="roundRect">
            <a:avLst>
              <a:gd name="adj" fmla="val 4466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強制每步剛好一格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1752600"/>
            <a:ext cx="3283610" cy="16657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在還被遮的位置裡隨機挑一個。因子化誤差嚴格是 0，合法率 100%——U4.3 demo 做的事，也等於一個任意順序的 AR 模型。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307738" y="1234440"/>
            <a:ext cx="3576218" cy="2866644"/>
          </a:xfrm>
          <a:prstGeom prst="roundRect">
            <a:avLst>
              <a:gd name="adj" fmla="val 4466"/>
            </a:avLst>
          </a:prstGeom>
          <a:solidFill>
            <a:srgbClr val="F2EE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472330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步數加大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454042" y="1752600"/>
            <a:ext cx="3283610" cy="1984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翻開機率變小、最後一次只翻一格的機會上升。同一條公式：N = 16 是 88.4%、N = 32 是 94.0%、N = 64 是 96.9%。「多走幾步」的標準答案，而且收斂得比想像中慢。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8158277" y="1234440"/>
            <a:ext cx="3576218" cy="2866644"/>
          </a:xfrm>
          <a:prstGeom prst="roundRect">
            <a:avLst>
              <a:gd name="adj" fmla="val 4466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2869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什麼都不改，記在報告裡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304581" y="1752600"/>
            <a:ext cx="3283610" cy="1984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這才是這一題真正的用意：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「步數 = L」不等於「每步一格」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。masked diffusion 的論文報數字時若只寫步數、沒寫每步實際翻開幾格，那個數字就不能直接和 AR 比。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U4.5 Q1</a:t>
            </a:r>
            <a:endParaRPr lang="en-US" sz="9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 4：absorbing vs uniform 的修正實驗（圖 c）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5501488" cy="3095244"/>
          </a:xfrm>
          <a:prstGeom prst="roundRect">
            <a:avLst>
              <a:gd name="adj" fmla="val 4136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362456"/>
            <a:ext cx="517230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做法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1752600"/>
            <a:ext cx="5208880" cy="23027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另訓一個 uniform 鏈的模型（`q_sample` 改成「以 1 − ᾱₜ 的機率換成均勻隨機字」，loss 改回 U4.1 的一般 KL 形式，參考解答提供 `d3pm_loss`）。Markov toy 上重做 U4.4 demo：第 2 步強制植入一個與鄰格相反的字，之後照常取樣，統計 200 次裡錯字最後被改掉的比例，以及最終的 `kl_to_data`。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233008" y="1234440"/>
            <a:ext cx="5501488" cy="3095244"/>
          </a:xfrm>
          <a:prstGeom prst="roundRect">
            <a:avLst>
              <a:gd name="adj" fmla="val 4136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97600" y="1362456"/>
            <a:ext cx="517230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期待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379312" y="1752600"/>
            <a:ext cx="5208880" cy="1347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absorbing 的修正率是 0%；uniform 有非零的修正率，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但整體 `kl_to_data` 未必更好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。把兩個數字並排，寫兩句話說明「修正能力 vs 乾淨 context」在這個 toy 上是哪一邊贏。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U4.5 步驟 4</a:t>
            </a:r>
            <a:endParaRPr lang="en-US" sz="9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作業（U4）</a:t>
            </a:r>
            <a:endParaRPr lang="en-US" sz="3200" dirty="0"/>
          </a:p>
        </p:txBody>
      </p:sp>
      <p:graphicFrame>
        <p:nvGraphicFramePr>
          <p:cNvPr id="6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7295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5486400"/>
                <a:gridCol w="4873752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#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題目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要看什麼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7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Uniform vs absorbing 的合法率：parity toy 上對兩條鏈各畫步數 vs 合法率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uniform 8 步是否也接近 100%？若不是，是哪一種誤差（「只剩一個不確定的位置」這個狀態，模型認得出來嗎？）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信心排序：`flip` 改成「每步翻開 entropy 最低的 k 個位置」（MaskGIT 式）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Markov toy 改善多少？parity toy 為什麼幾乎沒有幫助？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換 parametrization：網路直接預測 xₜ₋₁，用 U4.1 的一般 ELBO 訓練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(a) 是否更難收斂 (b) 能不能跳步——對應 U4.1 Q1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4（選）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拿掉 t：移除 t 輸入重訓 absorbing 模型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loss 曲線與合法率是否改變？用「網路不需要看 t」的論證解釋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U4.5 作業</a:t>
            </a:r>
            <a:endParaRPr lang="en-US" sz="9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消化一下</a:t>
            </a:r>
            <a:endParaRPr lang="en-US" sz="3200" dirty="0"/>
          </a:p>
        </p:txBody>
      </p:sp>
      <p:graphicFrame>
        <p:nvGraphicFramePr>
          <p:cNvPr id="6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7295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011680"/>
                <a:gridCol w="2743200"/>
                <a:gridCol w="2377440"/>
                <a:gridCol w="1216152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題目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7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Uniform 鏈走 t 步後仍是原字的機率 [Q̄ₜ]ᵢᵢ？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ᾱₜ + (1 − ᾱₜ)/K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ᾱₜ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1/K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1 − ᾱₜ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取樣時「已翻開的 token 不再改變」來自？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為了加速人為加的規定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網路被訓練成不改動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absorbing 鏈的 posterior：沒被遮時 xₜ₋₁ 機率 1 是同一個字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跳步的副作用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Parity toy 每步翻兩個、走 4 步的合法率是 ½，說明？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步數對誤差沒有影響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因子化誤差出現在「同時翻開的位置有條件相依」那一步——parity 的相依全藏在最後一個自由度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網路不夠好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schedule 選錯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Parity 8 步合法率 78–79% 不是 100%，最可能？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模型誤差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因子化誤差：每位置各自擲硬幣，一步翻開數是 Binomial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schedule 選錯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樣本數不夠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quiz w6-1-a / w6-2-c / w6-3-b / w6-5-b</a:t>
            </a:r>
            <a:endParaRPr lang="en-US" sz="9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這個單元把 U1 翻譯到離散狀態空間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5501488" cy="3694176"/>
          </a:xfrm>
          <a:prstGeom prst="roundRect">
            <a:avLst>
              <a:gd name="adj" fmla="val 3465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362456"/>
            <a:ext cx="517230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走過的路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1752600"/>
            <a:ext cx="5208880" cy="1984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已知的 Markov chain（uniform、absorbing）→ Q̄ₜ 的 closed form → posterior 是一枚硬幣 → x₀-parametrization → ELBO 塌成加權 masked cross-entropy → 因子化誤差當曲率 → absorbing／uniform 對上 ODE／SDE。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233008" y="1234440"/>
            <a:ext cx="5501488" cy="3694176"/>
          </a:xfrm>
          <a:prstGeom prst="roundRect">
            <a:avLst>
              <a:gd name="adj" fmla="val 3465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97600" y="1362456"/>
            <a:ext cx="517230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留下的問題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379312" y="1752600"/>
            <a:ext cx="5208880" cy="1347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翻錯的字能不能改、要付什麼代價？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下一個單元換成連續時間的語言——rate——這個問題會有一個短答案，score 與 sampler 的語言也會被重建回來。</a:t>
            </a:r>
            <a:endParaRPr lang="en-US" sz="1900" dirty="0"/>
          </a:p>
        </p:txBody>
      </p:sp>
      <p:pic>
        <p:nvPicPr>
          <p:cNvPr id="9" name="Image 0" descr="/tmp/claude-0/-home-claude/c4ae4d00-ecec-599d-99af-5b416eb8503d/scratchpad/build/w2media/bo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27755" y="3191256"/>
            <a:ext cx="3711992" cy="146304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Bridge → U5</a:t>
            </a:r>
            <a:endParaRPr lang="en-US" sz="9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課程叮嚀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576218" cy="2866644"/>
          </a:xfrm>
          <a:prstGeom prst="roundRect">
            <a:avLst>
              <a:gd name="adj" fmla="val 4466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下次上課前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1752600"/>
            <a:ext cx="3283610" cy="1347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先讀 U5 七篇；注意 U5 開頭會把時間變連續，αₜ 不再有橫線（指的就是本單元的 ᾱₜ）。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307738" y="1234440"/>
            <a:ext cx="3576218" cy="2866644"/>
          </a:xfrm>
          <a:prstGeom prst="roundRect">
            <a:avLst>
              <a:gd name="adj" fmla="val 4466"/>
            </a:avLst>
          </a:prstGeom>
          <a:solidFill>
            <a:srgbClr val="F2EE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472330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作業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454042" y="1752600"/>
            <a:ext cx="3283610" cy="10287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把步驟 3 的 Markov toy 圖 b 留好——U5 會在同一張圖上疊 remasking 的線。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8158277" y="1234440"/>
            <a:ext cx="3576218" cy="2866644"/>
          </a:xfrm>
          <a:prstGeom prst="roundRect">
            <a:avLst>
              <a:gd name="adj" fmla="val 4466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2869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NTU COOL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304581" y="1752600"/>
            <a:ext cx="3283610" cy="710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教材有錯或有問題，直接在 NTU COOL 上討論。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70</Slides>
  <Notes>70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U4 Discrete Diffusion I</dc:title>
  <dc:subject>PptxGenJS Presentation</dc:subject>
  <dc:creator>Shih-Hsin Wang</dc:creator>
  <cp:lastModifiedBy>Shih-Hsin Wang</cp:lastModifiedBy>
  <cp:revision>1</cp:revision>
  <dcterms:created xsi:type="dcterms:W3CDTF">2026-09-20T16:57:40Z</dcterms:created>
  <dcterms:modified xsi:type="dcterms:W3CDTF">2026-09-20T16:57:40Z</dcterms:modified>
</cp:coreProperties>
</file>