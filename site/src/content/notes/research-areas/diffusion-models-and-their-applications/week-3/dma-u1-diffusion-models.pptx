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notesMasterIdLst>
    <p:notesMasterId r:id="rId7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 2 分鐘。指出 W2 slide 14/15 就是本單元的主角。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符號四件組 αₜ、ᾱₜ、σₜ、SNR 到 U1.1 才展開。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五萬個點 vs 看不見的地形。生成＝從 p_data 再抽一點；密度不是機率（單點機率為 0、值可大於 1）；mode 是密度的局部最大點。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準確性紅線：EBM 卡的是 Z 的梯度，不是它的數值。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換一個角度：不學密度，直接學一台加工機器 G，把隨手可得的 Gaussian 原料變成資料。pushforward：G(z) 落在 A 的機率＝z 落在會被送進 A 的位置的機率。目標一行：找 G 使 G#N(0,I)=p_data。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洗牌：洗一千次容易、一次排回來難，但「把最後一次洗牌倒回去」不難。W2 原圖的撲克牌花色數字沒維持——重製時要修。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準確性紅線 §9.30：誤差來源是模型族限制，不是離散化。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不要說「步數少時 ODE 勝、步數多時 SDE 勝」——那個說法全課已退休。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正解：B、C、C、C（位置輪換請在上課版調整）。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image" Target="../media/image-4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image" Target="../media/image-5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97280" y="1325880"/>
            <a:ext cx="9997135" cy="3200400"/>
          </a:xfrm>
          <a:prstGeom prst="roundRect">
            <a:avLst>
              <a:gd name="adj" fmla="val 5714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371600" y="1554480"/>
            <a:ext cx="9448495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4000" b="1" dirty="0">
                <a:solidFill>
                  <a:srgbClr val="0016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 Diffusion Models：從加噪到去噪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3154680"/>
            <a:ext cx="9448495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20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Diffusion Models and Their Applications · Week 3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3794760"/>
            <a:ext cx="9448495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上次快速走過一遍；這個單元把每一步真的算出來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上次我們快速走過，這個單元慢慢把每一步算出來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501488" cy="4665472"/>
          </a:xfrm>
          <a:prstGeom prst="roundRect">
            <a:avLst>
              <a:gd name="adj" fmla="val 274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517230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2 留下的兩張圖</a:t>
            </a:r>
            <a:endParaRPr lang="en-US" sz="1600" dirty="0"/>
          </a:p>
        </p:txBody>
      </p:sp>
      <p:pic>
        <p:nvPicPr>
          <p:cNvPr id="5" name="Image 0" descr="/tmp/claude-0/-home-claude/c4ae4d00-ecec-599d-99af-5b416eb8503d/scratchpad/build/w2media/slide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964" y="1752600"/>
            <a:ext cx="4251960" cy="1417320"/>
          </a:xfrm>
          <a:prstGeom prst="rect">
            <a:avLst/>
          </a:prstGeom>
        </p:spPr>
      </p:pic>
      <p:pic>
        <p:nvPicPr>
          <p:cNvPr id="6" name="Image 1" descr="/tmp/claude-0/-home-claude/c4ae4d00-ecec-599d-99af-5b416eb8503d/scratchpad/build/w2media/slide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444" y="3261360"/>
            <a:ext cx="3086999" cy="17373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03504" y="5090160"/>
            <a:ext cx="5208880" cy="535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加一點噪聲我們會做；學 denoiser 把它倒回去——這兩句話這個單元要變成式子。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233008" y="1234440"/>
            <a:ext cx="5501488" cy="4665472"/>
          </a:xfrm>
          <a:prstGeom prst="roundRect">
            <a:avLst>
              <a:gd name="adj" fmla="val 274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397600" y="1362456"/>
            <a:ext cx="517230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這個單元的六篇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379312" y="1752600"/>
            <a:ext cx="5208880" cy="23027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U1.0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生成到底在學什麼？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U1.1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指定路徑的方法：Forward Process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U1.2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Denoising：倒著走一步，要怎麼學？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U1.3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Tweedie 公式：Denoiser 和 Data Distribution 有什麼關係？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U1.4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反向：DDPM、DDIM 與 SDE/ODE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U1.5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實作：建立這個單元的 Toy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6379312" y="4146804"/>
            <a:ext cx="5208880" cy="535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每一篇都從一個問題開始，用一個生活例子把它講成人話，再問「可以更嚴謹嗎」。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這個單元的慣例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937760"/>
                <a:gridCol w="395935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慣例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寫法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一句話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時間方向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 = 0 是資料，t = T 幾乎是純 noise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和 U2–U3 相反，屆時會再切一次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資料與狀態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x₀ ~ p_data；xₜ 是加噪 t 步後的狀態；x_T ≈ N(0, I)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x_T 只是「接近」N(0,I)，不是等於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forward 的條件核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q(·|·)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人訂的、完全已知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加噪後的邊際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pₜ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U1.2 第一次卡住時才正式定義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我們要學的東西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一個 G，把 N(0, I) 搬成 p_data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U1.0 會說為什麼是「搬」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什麼叫做「生」出一張圖片？</a:t>
            </a:r>
            <a:endParaRPr lang="en-US" sz="30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什麼又叫做「看起來像是來自同一批資料」？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U1.0 生成到底在學什麼？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pages/p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010" y="0"/>
            <a:ext cx="11513675" cy="64739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" y="6492240"/>
            <a:ext cx="11460175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沿用 Week 2 #5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拿一個神經網路 p_θ(x) 去逼近 p_data，</a:t>
            </a:r>
            <a:endParaRPr lang="en-US" sz="30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訓練好後再從 p_θ 抽樣不就好了？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Q1：這條路會遇到什麼阻礙、卡在哪裡？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Q1：卡在 normalizing constant——而且卡兩次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3750967"/>
          </a:xfrm>
          <a:prstGeom prst="roundRect">
            <a:avLst>
              <a:gd name="adj" fmla="val 3580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先寫一個最一般的密度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752600"/>
            <a:ext cx="3247034" cy="651616"/>
          </a:xfrm>
          <a:prstGeom prst="roundRect">
            <a:avLst>
              <a:gd name="adj" fmla="val 11226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6" name="Image 0" descr="/tmp/claude-0/-home-claude/c4ae4d00-ecec-599d-99af-5b416eb8503d/scratchpad/build/math/b02eb95c577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59710"/>
            <a:ext cx="3064154" cy="4373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495656"/>
            <a:ext cx="328361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E_θ 隨便挑一個網路；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Z_θ 負責把積分壓成 1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。這種寫法叫 energy-based model。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21792" y="3615796"/>
            <a:ext cx="3247034" cy="660654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4944" y="3634084"/>
            <a:ext cx="3100730" cy="6240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E_θ(x)：網路給每個位置的「能量」，越低越常出現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07738" y="1234440"/>
            <a:ext cx="3576218" cy="3750967"/>
          </a:xfrm>
          <a:prstGeom prst="roundRect">
            <a:avLst>
              <a:gd name="adj" fmla="val 3580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72330" y="1362456"/>
            <a:ext cx="3247034" cy="560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訓練：Z_θ 的值可以不算，梯度躲不掉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472330" y="1996440"/>
            <a:ext cx="3247034" cy="638959"/>
          </a:xfrm>
          <a:prstGeom prst="roundRect">
            <a:avLst>
              <a:gd name="adj" fmla="val 11449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3" name="Image 1" descr="/tmp/claude-0/-home-claude/c4ae4d00-ecec-599d-99af-5b416eb8503d/scratchpad/build/math/7532d08a37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770" y="2103367"/>
            <a:ext cx="3064154" cy="42510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54042" y="2726839"/>
            <a:ext cx="3283610" cy="1984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第二項是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對模型自己的分布取期望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——要估它，得先會從 p_θ 抽樣。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我們本來只是想訓練一個 distribution，結果訓練過程先要求我們會從它抽樣。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8158277" y="1234440"/>
            <a:ext cx="3576218" cy="3750967"/>
          </a:xfrm>
          <a:prstGeom prst="roundRect">
            <a:avLst>
              <a:gd name="adj" fmla="val 3580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取樣：真正需要的是 score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8322869" y="1752600"/>
            <a:ext cx="3247034" cy="432108"/>
          </a:xfrm>
          <a:prstGeom prst="roundRect">
            <a:avLst>
              <a:gd name="adj" fmla="val 16929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8" name="Image 2" descr="/tmp/claude-0/-home-claude/c4ae4d00-ecec-599d-99af-5b416eb8503d/scratchpad/build/math/9c2f6dac8d9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4309" y="1856530"/>
            <a:ext cx="3064154" cy="2242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04581" y="2276148"/>
            <a:ext cx="3283610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Langevin dynamics：每一步只問「往哪個方向密度增加最快」。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取樣只需要 score ∇ₓ log p，Z_θ 對 x 微分是 0。</a:t>
            </a:r>
            <a:endParaRPr lang="en-US" sz="1900" dirty="0"/>
          </a:p>
        </p:txBody>
      </p:sp>
      <p:sp>
        <p:nvSpPr>
          <p:cNvPr id="20" name="Shape 15"/>
          <p:cNvSpPr/>
          <p:nvPr/>
        </p:nvSpPr>
        <p:spPr>
          <a:xfrm>
            <a:off x="8322869" y="4033320"/>
            <a:ext cx="3247034" cy="660654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396021" y="4051608"/>
            <a:ext cx="3100730" cy="6240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score：站在地形上，上坡最陡的方向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457200" y="5214007"/>
            <a:ext cx="11277295" cy="868680"/>
          </a:xfrm>
          <a:prstGeom prst="roundRect">
            <a:avLst>
              <a:gd name="adj" fmla="val 1052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85800" y="5374027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0E2F74"/>
          </a:solidFill>
          <a:ln w="12700">
            <a:solidFill>
              <a:srgbClr val="0E2F74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85800" y="5374027"/>
            <a:ext cx="1417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重點結論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2331720" y="5351167"/>
            <a:ext cx="0" cy="59436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2514600" y="5259727"/>
            <a:ext cx="8991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density 學得接近，不代表 score 就一定也學得接近——而取樣用的正是 score。下一張算給你看。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U1.0 Q1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密度差不到 2%，坡度差到 10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在平緩的地形上鋪一層細波紋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960120" cy="599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令</a:t>
            </a:r>
            <a:endParaRPr lang="en-US" sz="1500" dirty="0"/>
          </a:p>
        </p:txBody>
      </p:sp>
      <p:pic>
        <p:nvPicPr>
          <p:cNvPr id="5" name="Image 0" descr="/tmp/claude-0/-home-claude/c4ae4d00-ecec-599d-99af-5b416eb8503d/scratchpad/build/math/d712b7972ea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37360"/>
            <a:ext cx="3677705" cy="416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74175" y="1771936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65615" y="1771936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加一層細波紋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300288"/>
            <a:ext cx="960120" cy="1027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則</a:t>
            </a:r>
            <a:endParaRPr lang="en-US" sz="1500" dirty="0"/>
          </a:p>
        </p:txBody>
      </p:sp>
      <p:pic>
        <p:nvPicPr>
          <p:cNvPr id="9" name="Image 1" descr="/tmp/claude-0/-home-claude/c4ae4d00-ecec-599d-99af-5b416eb8503d/scratchpad/build/math/779eeb1cfef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391728"/>
            <a:ext cx="5299760" cy="8448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74175" y="2640401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265615" y="2640401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密度比：差不到 2%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554480" y="3410283"/>
            <a:ext cx="5943600" cy="562356"/>
          </a:xfrm>
          <a:prstGeom prst="roundRect">
            <a:avLst>
              <a:gd name="adj" fmla="val 13008"/>
            </a:avLst>
          </a:prstGeom>
          <a:solidFill>
            <a:srgbClr val="FEF6E9"/>
          </a:solidFill>
          <a:ln w="12700">
            <a:solidFill>
              <a:srgbClr val="FEF6E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664208" y="3410283"/>
            <a:ext cx="5760720" cy="5623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755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那兩邊的 score 差多少？對 x 微分看看。</a:t>
            </a:r>
            <a:endParaRPr lang="en-US" sz="1755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4054935"/>
            <a:ext cx="960120" cy="531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微分</a:t>
            </a:r>
            <a:endParaRPr lang="en-US" sz="1500" dirty="0"/>
          </a:p>
        </p:txBody>
      </p:sp>
      <p:pic>
        <p:nvPicPr>
          <p:cNvPr id="15" name="Image 2" descr="/tmp/claude-0/-home-claude/c4ae4d00-ecec-599d-99af-5b416eb8503d/scratchpad/build/math/a800591b1a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4160505"/>
            <a:ext cx="7391095" cy="320779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174175" y="4147158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9265615" y="4147158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 x 微分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641717"/>
            <a:ext cx="960120" cy="531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振幅</a:t>
            </a:r>
            <a:endParaRPr lang="en-US" sz="1500" dirty="0"/>
          </a:p>
        </p:txBody>
      </p:sp>
      <p:pic>
        <p:nvPicPr>
          <p:cNvPr id="19" name="Image 3" descr="/tmp/claude-0/-home-claude/c4ae4d00-ecec-599d-99af-5b416eb8503d/scratchpad/build/math/b15b5738b50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4733157"/>
            <a:ext cx="2412404" cy="34903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174175" y="473394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9265615" y="4733940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差到 10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548640" y="571500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731520" y="5760720"/>
            <a:ext cx="1072865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海拔幾乎沒變，坡度完全不同。取樣走的是坡度——所以「先學好 density」不是通往取樣的路。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U1.0 Q1 波紋反例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pages/p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010" y="0"/>
            <a:ext cx="11513675" cy="64739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" y="6492240"/>
            <a:ext cx="11460175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沿用 Week 2 #8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Q2：沒有配對的 L₂，會塌成一張平均圖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2 已經推過一次，這裡只留結論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76218" cy="3602736"/>
          </a:xfrm>
          <a:prstGeom prst="roundRect">
            <a:avLst>
              <a:gd name="adj" fmla="val 3580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72821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最直覺的做法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1792" y="2118360"/>
            <a:ext cx="3247034" cy="599649"/>
          </a:xfrm>
          <a:prstGeom prst="roundRect">
            <a:avLst>
              <a:gd name="adj" fmla="val 12199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7" name="Image 0" descr="/tmp/claude-0/-home-claude/c4ae4d00-ecec-599d-99af-5b416eb8503d/scratchpad/build/math/9f64b9dce5a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224717"/>
            <a:ext cx="3064154" cy="38693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" y="2809449"/>
            <a:ext cx="328361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抽一批 z、算 G(z)，再跟隨便一張資料算 L₂——就是「傳統 prediction 的做法」。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307738" y="1600200"/>
            <a:ext cx="3576218" cy="3602736"/>
          </a:xfrm>
          <a:prstGeom prst="roundRect">
            <a:avLst>
              <a:gd name="adj" fmla="val 3580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72330" y="172821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固定一個 z 看它的最佳解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472330" y="2118360"/>
            <a:ext cx="3247034" cy="478782"/>
          </a:xfrm>
          <a:prstGeom prst="roundRect">
            <a:avLst>
              <a:gd name="adj" fmla="val 15279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2" name="Image 1" descr="/tmp/claude-0/-home-claude/c4ae4d00-ecec-599d-99af-5b416eb8503d/scratchpad/build/math/66654ea7880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770" y="2222966"/>
            <a:ext cx="3064154" cy="26957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54042" y="2688582"/>
            <a:ext cx="3283610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z 跟 x 是獨立抽的，所以模型拿到 z，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對於它可能跟哪一個 x 有關完全沒有線索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。最佳策略是不管 z 都輸出同一張平均圖。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8158277" y="1600200"/>
            <a:ext cx="3576218" cy="3602736"/>
          </a:xfrm>
          <a:prstGeom prst="roundRect">
            <a:avLst>
              <a:gd name="adj" fmla="val 3580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322869" y="172821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問題出在哪</a:t>
            </a:r>
            <a:endParaRPr lang="en-US" sz="1600" dirty="0"/>
          </a:p>
        </p:txBody>
      </p:sp>
      <p:pic>
        <p:nvPicPr>
          <p:cNvPr id="16" name="Image 2" descr="/tmp/claude-0/-home-claude/c4ae4d00-ecec-599d-99af-5b416eb8503d/scratchpad/build/w2media/slide1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7834" y="2118360"/>
            <a:ext cx="2437104" cy="1371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04581" y="3581400"/>
            <a:ext cx="328361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沒有人告言我們哪個 z 該對到哪張圖。只有兩條路：換成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分布層級的目標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，或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自己決定配對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U1.0 Q2 · Week 2 #10–12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第一種答案：Normalizing Flow，付的是什麼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3888955"/>
          </a:xfrm>
          <a:prstGeom prst="roundRect">
            <a:avLst>
              <a:gd name="adj" fmla="val 3580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560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可逆，就能寫出精確的 log p_θ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996440"/>
            <a:ext cx="3247034" cy="565613"/>
          </a:xfrm>
          <a:prstGeom prst="roundRect">
            <a:avLst>
              <a:gd name="adj" fmla="val 1293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6" name="Image 0" descr="/tmp/claude-0/-home-claude/c4ae4d00-ecec-599d-99af-5b416eb8503d/scratchpad/build/math/3faa6551ef6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102304"/>
            <a:ext cx="3064154" cy="35388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653493"/>
            <a:ext cx="328361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change of variables：G 每一步都可逆、Jacobian 算得動，likelihood 就回來了。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307738" y="1234440"/>
            <a:ext cx="3576218" cy="3888955"/>
          </a:xfrm>
          <a:prstGeom prst="roundRect">
            <a:avLst>
              <a:gd name="adj" fmla="val 3580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72330" y="1362456"/>
            <a:ext cx="3247034" cy="560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maximum likelihood 是一個下注的人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72330" y="1996440"/>
            <a:ext cx="3247034" cy="661885"/>
          </a:xfrm>
          <a:prstGeom prst="roundRect">
            <a:avLst>
              <a:gd name="adj" fmla="val 1105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1" name="Image 1" descr="/tmp/claude-0/-home-claude/c4ae4d00-ecec-599d-99af-5b416eb8503d/scratchpad/build/math/bb6e00d7f9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770" y="2103699"/>
            <a:ext cx="3064154" cy="44736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54042" y="2749765"/>
            <a:ext cx="328361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籌碼總額固定——對應 ∫ p_θ = 1；押在資料出現的位置才拿高分。這是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分布層級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的目標，Q2 的第一條出路。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4472330" y="4188421"/>
            <a:ext cx="3247034" cy="660654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545482" y="4206709"/>
            <a:ext cx="3100730" cy="6240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最大化 likelihood ＝ 最小化 KL(p_data ‖ p_θ)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158277" y="1234440"/>
            <a:ext cx="3576218" cy="3888955"/>
          </a:xfrm>
          <a:prstGeom prst="roundRect">
            <a:avLst>
              <a:gd name="adj" fmla="val 3580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梯度兩項，各自都貴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8322869" y="1752600"/>
            <a:ext cx="3247034" cy="670050"/>
          </a:xfrm>
          <a:prstGeom prst="roundRect">
            <a:avLst>
              <a:gd name="adj" fmla="val 1091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8" name="Image 2" descr="/tmp/claude-0/-home-claude/c4ae4d00-ecec-599d-99af-5b416eb8503d/scratchpad/build/math/716125957cf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4309" y="1859977"/>
            <a:ext cx="3064154" cy="4552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04581" y="2514090"/>
            <a:ext cx="3283610" cy="1984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訓練是把資料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倒推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 z（不是生成）；det 一般是 O(d³)。十年的 flow 文獻都在為這兩項付錢（coupling layer、Neural ODE／FFJORD——見附錄）。</a:t>
            </a:r>
            <a:endParaRPr lang="en-US" sz="1900" dirty="0"/>
          </a:p>
        </p:txBody>
      </p:sp>
      <p:sp>
        <p:nvSpPr>
          <p:cNvPr id="20" name="Shape 15"/>
          <p:cNvSpPr/>
          <p:nvPr/>
        </p:nvSpPr>
        <p:spPr>
          <a:xfrm>
            <a:off x="457200" y="5351995"/>
            <a:ext cx="11277295" cy="868680"/>
          </a:xfrm>
          <a:prstGeom prst="roundRect">
            <a:avLst>
              <a:gd name="adj" fmla="val 1052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85800" y="5512015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0E2F74"/>
          </a:solidFill>
          <a:ln w="12700">
            <a:solidFill>
              <a:srgbClr val="0E2F74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5512015"/>
            <a:ext cx="1417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重點結論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2331720" y="5489155"/>
            <a:ext cx="0" cy="59436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2514600" y="5397715"/>
            <a:ext cx="8991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要拿到精確的 likelihood 來當 loss，就得為 G 的每一步付出可逆性與 Jacobian 的代價。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U1.0 〈第一種答案：Normalizing Flow〉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其實有無限多個生成方式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7665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tmp/claude-0/-home-claude/c4ae4d00-ecec-599d-99af-5b416eb8503d/scratchpad/build/shots/w3-0-many-ma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2911" y="1389888"/>
            <a:ext cx="2815139" cy="37124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280160"/>
            <a:ext cx="4236415" cy="1874520"/>
          </a:xfrm>
          <a:prstGeom prst="roundRect">
            <a:avLst>
              <a:gd name="adj" fmla="val 585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38988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demo：太多 G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16952" y="1712976"/>
            <a:ext cx="3998671" cy="9180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按「換一組配對」：t=0 的 Gaussian 與 t=1 的目標分布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都不會變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，變的只有中間那團 xₜ 和每顆點走的路。</a:t>
            </a:r>
            <a:endParaRPr lang="en-US" sz="1680" dirty="0"/>
          </a:p>
        </p:txBody>
      </p:sp>
      <p:sp>
        <p:nvSpPr>
          <p:cNvPr id="8" name="Shape 5"/>
          <p:cNvSpPr/>
          <p:nvPr/>
        </p:nvSpPr>
        <p:spPr>
          <a:xfrm>
            <a:off x="7498080" y="3337560"/>
            <a:ext cx="4236415" cy="1874520"/>
          </a:xfrm>
          <a:prstGeom prst="roundRect">
            <a:avLst>
              <a:gd name="adj" fmla="val 585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35240" y="344728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Q3：搬倉庫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616952" y="3770376"/>
            <a:ext cx="3998671" cy="9716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倉庫的貨（N(0,I)）要搬成 B 倉庫的擺法（p_data）。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與其整批搬完回頭比對，不如先寫好每一箱的搬運路線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——那每個中間狀態都已知，每一步都變成回歸。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635240" y="4833474"/>
            <a:ext cx="3962095" cy="519120"/>
          </a:xfrm>
          <a:prstGeom prst="roundRect">
            <a:avLst>
              <a:gd name="adj" fmla="val 10569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08392" y="4851762"/>
            <a:ext cx="3815791" cy="4825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每箱搬到哪 ＝ z ↦ x 的配對；先寫好路線 ＝ 自己定路徑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5349240"/>
            <a:ext cx="5524348" cy="1051560"/>
          </a:xfrm>
          <a:prstGeom prst="roundRect">
            <a:avLst>
              <a:gd name="adj" fmla="val 869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5404104"/>
            <a:ext cx="525002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滿足這條式子的 G 有很多個（underdetermined）——還要為自己選的那一條付計算代價</a:t>
            </a:r>
            <a:endParaRPr lang="en-US" sz="1200" dirty="0"/>
          </a:p>
        </p:txBody>
      </p:sp>
      <p:pic>
        <p:nvPicPr>
          <p:cNvPr id="15" name="Image 1" descr="/tmp/claude-0/-home-claude/c4ae4d00-ecec-599d-99af-5b416eb8503d/scratchpad/build/math/445295ae9e2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793" y="5877792"/>
            <a:ext cx="1891162" cy="25048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210148" y="5349240"/>
            <a:ext cx="5524348" cy="1051560"/>
          </a:xfrm>
          <a:prstGeom prst="roundRect">
            <a:avLst>
              <a:gd name="adj" fmla="val 869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347308" y="5422392"/>
            <a:ext cx="5250028" cy="9052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不要一步到位，也不要讓 likelihood 自己挑路。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endParaRPr lang="en-US" sz="1250" dirty="0"/>
          </a:p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自己把路徑定下來——這就是 diffusion 的起點。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U1.0 §5 · demo w3-0-many-maps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有一個方向，我們知道怎麼走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U1.1 指定路徑的方法：Forward Process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pages/p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010" y="0"/>
            <a:ext cx="11513675" cy="64739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" y="6492240"/>
            <a:ext cx="11460175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沿用 Week 2 #13（待重製：花色與數字）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加噪的階梯</a:t>
            </a:r>
            <a:endParaRPr lang="en-US" sz="3200" dirty="0"/>
          </a:p>
        </p:txBody>
      </p:sp>
      <p:pic>
        <p:nvPicPr>
          <p:cNvPr id="3" name="Image 0" descr="/mnt/user-data/uploads/site/src/content/notes/research-areas/diffusion-models-and-their-applications/week-3/imgs/w-3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772156"/>
            <a:ext cx="6547104" cy="218236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498080" y="128016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635240" y="138988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記號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635240" y="1712976"/>
            <a:ext cx="3962095" cy="343472"/>
          </a:xfrm>
          <a:prstGeom prst="roundRect">
            <a:avLst>
              <a:gd name="adj" fmla="val 1597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08392" y="1731264"/>
            <a:ext cx="3815791" cy="306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x₀：起點，從 p_data 抽的真實圖片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635240" y="2147887"/>
            <a:ext cx="3962095" cy="343472"/>
          </a:xfrm>
          <a:prstGeom prst="roundRect">
            <a:avLst>
              <a:gd name="adj" fmla="val 1597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08392" y="2166175"/>
            <a:ext cx="3815791" cy="306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xₜ：加噪 t 步後的狀態；下標 t 也叫「時間」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635240" y="2582799"/>
            <a:ext cx="3962095" cy="343472"/>
          </a:xfrm>
          <a:prstGeom prst="roundRect">
            <a:avLst>
              <a:gd name="adj" fmla="val 1597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08392" y="2601087"/>
            <a:ext cx="3815791" cy="306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x_T：終點，幾乎純 noise；T 是總步數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635240" y="3017710"/>
            <a:ext cx="3962095" cy="540639"/>
          </a:xfrm>
          <a:prstGeom prst="roundRect">
            <a:avLst>
              <a:gd name="adj" fmla="val 1014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08392" y="3035998"/>
            <a:ext cx="3815791" cy="50406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forward process：x₀ → x_T 這條加噪的路——人訂的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498080" y="395478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35240" y="406450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這一篇的主張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616952" y="4387596"/>
            <a:ext cx="3998671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 → 噪聲，這條路我們是會做的。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利用這個方向，建立一連串很小的破壞步驟，然後去學怎麼把每一小步倒回來。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imgs/w-3-1-1.png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這條路的另一端，真的會走到純 noise 嗎？</a:t>
            </a:r>
            <a:endParaRPr lang="en-US" sz="26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走到時間 t 時，xₜ 會變成什麼樣子？</a:t>
            </a:r>
            <a:endParaRPr lang="en-US" sz="26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如果想倒著走一步，我們需要知道什麼？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前兩問這一篇回答；第三問等到 U1.2 再討論！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我們希望 forward process 替我們做到什麼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251108" cy="3722116"/>
          </a:xfrm>
          <a:prstGeom prst="roundRect">
            <a:avLst>
              <a:gd name="adj" fmla="val 3938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292192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兩個要求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2958500" cy="23027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終點是一個我們很會抽樣的分布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（這裡暫時先用 N(0, I)）。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q(xₜ | x₀) 算得出來，最好是 Gaussian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——而且最好不用真的一步一步走，就能直接寫出來。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4146804"/>
            <a:ext cx="2958500" cy="535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兩個要求其實是同一件事：第二個在 t = T 就是第一個。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982628" y="1234440"/>
            <a:ext cx="4226440" cy="3722116"/>
          </a:xfrm>
          <a:prstGeom prst="roundRect">
            <a:avLst>
              <a:gd name="adj" fmla="val 3439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47220" y="1362456"/>
            <a:ext cx="3897256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台大 → 屏東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128932" y="1752600"/>
            <a:ext cx="3933832" cy="23027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台大是起點 x₀；一條路線是 x₁=台中、x₂=台南、x₃=高雄、x₄=屏東，另一條走東部——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兩條都收在屏東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。q(x₁|x₀) 是第一步走到台中的可能性有多大；q(xₜ|x₀) 是走了 t 段後落在大概 xₜ 的機率——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不管中間怎麼走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128932" y="4146804"/>
            <a:ext cx="3933832" cy="535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【待生圖】台灣地圖，兩條路線（西部、東部）從台大出發收在同一終點屏東；無文字。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483388" y="1234440"/>
            <a:ext cx="3251108" cy="3722116"/>
          </a:xfrm>
          <a:prstGeom prst="roundRect">
            <a:avLst>
              <a:gd name="adj" fmla="val 3938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47980" y="1362456"/>
            <a:ext cx="292192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為什麼難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47980" y="1752600"/>
            <a:ext cx="2921924" cy="528787"/>
          </a:xfrm>
          <a:prstGeom prst="roundRect">
            <a:avLst>
              <a:gd name="adj" fmla="val 1383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4" name="Image 0" descr="/tmp/claude-0/-home-claude/c4ae4d00-ecec-599d-99af-5b416eb8503d/scratchpad/build/math/d431f8f97b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9420" y="1858476"/>
            <a:ext cx="2739044" cy="31703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629692" y="2372827"/>
            <a:ext cx="2958500" cy="1984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「不管中間怎麼走」＝把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所有可能的中間路線都考慮進去、全部累積起來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。一般情況下這個積分算不動——那能不能故意把路設計成一條很好算的路？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U1.1 〈我們希望 forward process 做到的事〉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第一個設計：下一步只看現在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3578352"/>
          </a:xfrm>
          <a:prstGeom prst="roundRect">
            <a:avLst>
              <a:gd name="adj" fmla="val 3580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Markov property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752600"/>
            <a:ext cx="3247034" cy="393307"/>
          </a:xfrm>
          <a:prstGeom prst="roundRect">
            <a:avLst>
              <a:gd name="adj" fmla="val 18599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6" name="Image 0" descr="/tmp/claude-0/-home-claude/c4ae4d00-ecec-599d-99af-5b416eb8503d/scratchpad/build/math/58254f7842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55968"/>
            <a:ext cx="3064154" cy="18657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237347"/>
            <a:ext cx="3283610" cy="3916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規則只讀現在這個狀態。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307738" y="1234440"/>
            <a:ext cx="3576218" cy="3578352"/>
          </a:xfrm>
          <a:prstGeom prst="roundRect">
            <a:avLst>
              <a:gd name="adj" fmla="val 3580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考試分發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454042" y="1752600"/>
            <a:ext cx="328361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分發的規則只看成績單上的分數，不看高中三年的歷程——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限定在「考試分發」這條路線才純看分數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4454042" y="3191256"/>
            <a:ext cx="328361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比喻的極限要當場說：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不是過去不重要，而是過去該留下的東西都已經濃縮在現在這個狀態裡了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，規則只需要讀它。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8158277" y="1234440"/>
            <a:ext cx="3576218" cy="3578352"/>
          </a:xfrm>
          <a:prstGeom prst="roundRect">
            <a:avLst>
              <a:gd name="adj" fmla="val 3580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整條路線拆成乘積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322869" y="1752600"/>
            <a:ext cx="3247034" cy="821243"/>
          </a:xfrm>
          <a:prstGeom prst="roundRect">
            <a:avLst>
              <a:gd name="adj" fmla="val 890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5" name="Image 1" descr="/tmp/claude-0/-home-claude/c4ae4d00-ecec-599d-99af-5b416eb8503d/scratchpad/build/math/e5559ac17ac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309" y="1862168"/>
            <a:ext cx="3064154" cy="60210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304581" y="2665283"/>
            <a:ext cx="3283610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一整條路線的可能性，等於把每一段的可能性乘起來。</a:t>
            </a:r>
            <a:endParaRPr lang="en-US" sz="1900" dirty="0"/>
          </a:p>
        </p:txBody>
      </p:sp>
      <p:sp>
        <p:nvSpPr>
          <p:cNvPr id="17" name="Shape 13"/>
          <p:cNvSpPr/>
          <p:nvPr/>
        </p:nvSpPr>
        <p:spPr>
          <a:xfrm>
            <a:off x="457200" y="5041392"/>
            <a:ext cx="11277295" cy="868680"/>
          </a:xfrm>
          <a:prstGeom prst="roundRect">
            <a:avLst>
              <a:gd name="adj" fmla="val 1052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85800" y="5201412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0E2F74"/>
          </a:solidFill>
          <a:ln w="12700">
            <a:solidFill>
              <a:srgbClr val="0E2F74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" y="5201412"/>
            <a:ext cx="1417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重點結論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2331720" y="5178552"/>
            <a:ext cx="0" cy="59436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514600" y="5087112"/>
            <a:ext cx="8991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路拆得開，不代表我們就會積分，積分結果就會好看。所以還需要第二個設計：每一步的形式要簡單。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U1.1 〈第一個設計〉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第二個設計：Linear ＋ Gaussian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3505375"/>
          </a:xfrm>
          <a:prstGeom prst="roundRect">
            <a:avLst>
              <a:gd name="adj" fmla="val 3652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每一步只做一件簡單的事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752600"/>
            <a:ext cx="3247034" cy="477642"/>
          </a:xfrm>
          <a:prstGeom prst="roundRect">
            <a:avLst>
              <a:gd name="adj" fmla="val 1531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6" name="Image 0" descr="/tmp/claude-0/-home-claude/c4ae4d00-ecec-599d-99af-5b416eb8503d/scratchpad/build/math/e10bd34410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57190"/>
            <a:ext cx="3064154" cy="26846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" y="2321682"/>
            <a:ext cx="3247034" cy="386641"/>
          </a:xfrm>
          <a:prstGeom prst="roundRect">
            <a:avLst>
              <a:gd name="adj" fmla="val 1892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1" descr="/tmp/claude-0/-home-claude/c4ae4d00-ecec-599d-99af-5b416eb8503d/scratchpad/build/math/6c9b0170ecc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424953"/>
            <a:ext cx="3064154" cy="18009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03504" y="2799763"/>
            <a:ext cx="3283610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把上一個狀態稍微縮小一點，再補上一點新的 Gaussian noise。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εₜ 是第 t 步新抽的、與過去獨立。這就是 DDPM 的 forward。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4307738" y="1234440"/>
            <a:ext cx="3576218" cy="3505375"/>
          </a:xfrm>
          <a:prstGeom prst="roundRect">
            <a:avLst>
              <a:gd name="adj" fmla="val 3652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為什麼要乘 √(1−βₜ)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472330" y="1752600"/>
            <a:ext cx="3247034" cy="443100"/>
          </a:xfrm>
          <a:prstGeom prst="roundRect">
            <a:avLst>
              <a:gd name="adj" fmla="val 16509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3" name="Image 2" descr="/tmp/claude-0/-home-claude/c4ae4d00-ecec-599d-99af-5b416eb8503d/scratchpad/build/math/046ac587133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770" y="1856689"/>
            <a:ext cx="3064154" cy="23492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454042" y="2287140"/>
            <a:ext cx="3283610" cy="1984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假設 Var(xₜ₋₁)=I：信號縮多少、噪聲補多少，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變異數總量剛好不變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——variance-preserving（VP）。不縮的話變異數會一路累積到超大然後爆掉（VE）。</a:t>
            </a:r>
            <a:endParaRPr lang="en-US" sz="1900" dirty="0"/>
          </a:p>
        </p:txBody>
      </p:sp>
      <p:sp>
        <p:nvSpPr>
          <p:cNvPr id="15" name="Shape 10"/>
          <p:cNvSpPr/>
          <p:nvPr/>
        </p:nvSpPr>
        <p:spPr>
          <a:xfrm>
            <a:off x="8158277" y="1234440"/>
            <a:ext cx="3576218" cy="3505375"/>
          </a:xfrm>
          <a:prstGeom prst="roundRect">
            <a:avLst>
              <a:gd name="adj" fmla="val 3652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為什麼 βₜ 要小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304581" y="1752600"/>
            <a:ext cx="328361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每一步只加一點點，這條路才是「切碎」的：每一小步都容易倒回來。βₜ 調大，終點更乾淨，但每步更難學。</a:t>
            </a:r>
            <a:endParaRPr lang="en-US" sz="1900" dirty="0"/>
          </a:p>
        </p:txBody>
      </p:sp>
      <p:sp>
        <p:nvSpPr>
          <p:cNvPr id="18" name="Shape 13"/>
          <p:cNvSpPr/>
          <p:nvPr/>
        </p:nvSpPr>
        <p:spPr>
          <a:xfrm>
            <a:off x="8322869" y="3191256"/>
            <a:ext cx="3247034" cy="660654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396021" y="3209544"/>
            <a:ext cx="3100730" cy="6240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βₜ ∈ (0,1)：第 t 步加多少 noise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U1.1 〈第二個設計〉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符號四件組（之後每一篇都用）</a:t>
            </a:r>
            <a:endParaRPr lang="en-US" sz="3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389120"/>
                <a:gridCol w="377647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符號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意思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備註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αₜ = 1 − βₜ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這一步留下多少信號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ᾱₜ = ∏ₛ≤ₜ αₛ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累積留下多少信號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從 1 一路降到接近 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σₜ² = 1 − ᾱₜ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累積噪聲強度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ᾱₜ + σₜ² = 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SNR(t) = ᾱₜ / (1 − ᾱₜ)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signal-to-noise ratio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 越大越小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schedule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βₜ 隨 t 怎麼變（linear、cosine…）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schedule 定了，ᾱₜ 就定了——這條路的「速度」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U1.1 Remark「符號」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訓練要很多組 (x₀, xₜ) 的配對，t 可能是 800——</a:t>
            </a:r>
            <a:endParaRPr lang="en-US" sz="30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每抽一個樣本都把遞迴跑 800 次？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Q1：有沒有辦法一步就跳到 xₜ？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65760" y="2240280"/>
            <a:ext cx="3840480" cy="2194560"/>
          </a:xfrm>
          <a:prstGeom prst="roundRect">
            <a:avLst>
              <a:gd name="adj" fmla="val 4167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2331720"/>
            <a:ext cx="356616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照定義要這樣寫：</a:t>
            </a: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x₁ = √α₁ x₀ + √(1−α₁) ε₁</a:t>
            </a: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x₂ = √α₂ x₁ + √(1−α₂) ε₂</a:t>
            </a: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⋮</a:t>
            </a: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xₜ = √αₜ xₜ₋₁ + √(1−αₜ) εₜ</a:t>
            </a: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每一行等上一行、每一行新抽一個 ε。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真的要跑 t 次嗎？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兩個獨立的 Gaussian 加起來還是 Gaussian，而且變異數相加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960120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代入</a:t>
            </a:r>
            <a:endParaRPr lang="en-US" sz="1500" dirty="0"/>
          </a:p>
        </p:txBody>
      </p:sp>
      <p:pic>
        <p:nvPicPr>
          <p:cNvPr id="5" name="Image 0" descr="/tmp/claude-0/-home-claude/c4ae4d00-ecec-599d-99af-5b416eb8503d/scratchpad/build/math/f62fec2d32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37360"/>
            <a:ext cx="6005436" cy="3566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74175" y="1741932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65615" y="1741932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x_{t−1} 代進去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40280"/>
            <a:ext cx="960120" cy="10576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整理</a:t>
            </a:r>
            <a:endParaRPr lang="en-US" sz="1500" dirty="0"/>
          </a:p>
        </p:txBody>
      </p:sp>
      <p:pic>
        <p:nvPicPr>
          <p:cNvPr id="9" name="Image 1" descr="/tmp/claude-0/-home-claude/c4ae4d00-ecec-599d-99af-5b416eb8503d/scratchpad/build/math/1894665849c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331720"/>
            <a:ext cx="5694883" cy="87473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74175" y="2595353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265615" y="2595353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Gaussian 封閉性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554480" y="3380194"/>
            <a:ext cx="5943600" cy="402336"/>
          </a:xfrm>
          <a:prstGeom prst="roundRect">
            <a:avLst>
              <a:gd name="adj" fmla="val 18182"/>
            </a:avLst>
          </a:prstGeom>
          <a:solidFill>
            <a:srgbClr val="FEF6E9"/>
          </a:solidFill>
          <a:ln w="12700">
            <a:solidFill>
              <a:srgbClr val="FEF6E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664208" y="3380194"/>
            <a:ext cx="57607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底線那兩項合起來的變異數是多少？係數平方和會是多少？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3864826"/>
            <a:ext cx="960120" cy="44142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算出</a:t>
            </a:r>
            <a:endParaRPr lang="en-US" sz="1500" dirty="0"/>
          </a:p>
        </p:txBody>
      </p:sp>
      <p:pic>
        <p:nvPicPr>
          <p:cNvPr id="15" name="Image 2" descr="/tmp/claude-0/-home-claude/c4ae4d00-ecec-599d-99af-5b416eb8503d/scratchpad/build/math/8f8dcf8ca00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3956266"/>
            <a:ext cx="4131831" cy="258547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174175" y="3911803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9265615" y="3911803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變異數相加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361117"/>
            <a:ext cx="11094415" cy="31318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係數平方和又是 1——不是巧合，是 variance-preserving 一路保下來的。同一招做 t 次：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729163"/>
            <a:ext cx="960120" cy="517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歸納</a:t>
            </a:r>
            <a:endParaRPr lang="en-US" sz="1500" dirty="0"/>
          </a:p>
        </p:txBody>
      </p:sp>
      <p:pic>
        <p:nvPicPr>
          <p:cNvPr id="20" name="Image 3" descr="/tmp/claude-0/-home-claude/c4ae4d00-ecec-599d-99af-5b416eb8503d/scratchpad/build/math/5048297c384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4820603"/>
            <a:ext cx="4738421" cy="33432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9174175" y="481403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265615" y="4814030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歸納到 t 步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48640" y="553212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4" name="Image 4" descr="/tmp/claude-0/-home-claude/c4ae4d00-ecec-599d-99af-5b416eb8503d/scratchpad/build/math/67123f79438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738214"/>
            <a:ext cx="4533698" cy="547931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949440" y="5577840"/>
            <a:ext cx="460217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任意時刻的 xₜ ＝「縮小的資料」＋「一個 Gaussian noise」。完全不需要跑那 800 步的遞迴。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U1.1 Q1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這條路長什麼樣子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7665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tmp/claude-0/-home-claude/c4ae4d00-ecec-599d-99af-5b416eb8503d/scratchpad/build/shots/w3-1-for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2992" y="1389888"/>
            <a:ext cx="2474976" cy="37124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280160"/>
            <a:ext cx="4236415" cy="1188720"/>
          </a:xfrm>
          <a:prstGeom prst="roundRect">
            <a:avLst>
              <a:gd name="adj" fmla="val 9231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38988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ε 是誰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635240" y="1712976"/>
            <a:ext cx="3962095" cy="224303"/>
          </a:xfrm>
          <a:prstGeom prst="roundRect">
            <a:avLst>
              <a:gd name="adj" fmla="val 3261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1" descr="/tmp/claude-0/-home-claude/c4ae4d00-ecec-599d-99af-5b416eb8503d/scratchpad/build/math/432d96ae054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7043" y="1767840"/>
            <a:ext cx="738489" cy="11457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616952" y="2028719"/>
            <a:ext cx="3998671" cy="4940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ε 是把前 t 步噪聲合併後重新命名的單一 N(0,I)，與 x₀ 獨立——不是任何一步的 εₜ。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下一篇的目標會針對它。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498080" y="2651760"/>
            <a:ext cx="4236415" cy="1188720"/>
          </a:xfrm>
          <a:prstGeom prst="roundRect">
            <a:avLst>
              <a:gd name="adj" fmla="val 9231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635240" y="276148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取一個訓練樣本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616952" y="3084576"/>
            <a:ext cx="3998671" cy="58948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54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只要做三件事：抽一個 t、抽一個 ε、算一次乘法與加法。</a:t>
            </a:r>
            <a:endParaRPr lang="en-US" sz="1540" dirty="0"/>
          </a:p>
        </p:txBody>
      </p:sp>
      <p:sp>
        <p:nvSpPr>
          <p:cNvPr id="13" name="Shape 9"/>
          <p:cNvSpPr/>
          <p:nvPr/>
        </p:nvSpPr>
        <p:spPr>
          <a:xfrm>
            <a:off x="7498080" y="4023360"/>
            <a:ext cx="4236415" cy="1188720"/>
          </a:xfrm>
          <a:prstGeom prst="roundRect">
            <a:avLst>
              <a:gd name="adj" fmla="val 9231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635240" y="413308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另一端真的是 noise 嗎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616952" y="4456176"/>
            <a:ext cx="3998671" cy="79796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只要 schedule 讓 ᾱ_T 小到幾乎是 0、且 1−ᾱ_T 趨近 1，x_T 比較容易落在 N(0,I) 附近（DDPM：ᾱ_T ≈ 4×10⁻⁵，仍有 prior mismatch）。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57200" y="5349240"/>
            <a:ext cx="5524348" cy="1051560"/>
          </a:xfrm>
          <a:prstGeom prst="roundRect">
            <a:avLst>
              <a:gd name="adj" fmla="val 869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94360" y="5422392"/>
            <a:ext cx="5250028" cy="9052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demo：拖 t 看 xₜ 一路變化；切換 schedule 會發現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兩端完全一樣，只有中間移動的速度不同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——linear 很早就把結構洗掉，cosine 把中間段留得久一點。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210148" y="5349240"/>
            <a:ext cx="5524348" cy="1051560"/>
          </a:xfrm>
          <a:prstGeom prst="roundRect">
            <a:avLst>
              <a:gd name="adj" fmla="val 869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347308" y="5422392"/>
            <a:ext cx="5250028" cy="9052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伏筆：(√ᾱₜ, √(1−ᾱₜ)) 其實是一組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插值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係數，平方和＝1 是 VP 的限制——U2 會把它放開。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w3-1-forward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倒著走一步，如何從 q(xₜ₋₁ | xₜ) 抽樣？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U1.2 Denoising：倒著走一步，要怎麼學？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619695" y="562356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11135" y="5650992"/>
            <a:ext cx="40233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為什麼是一個「分布」不是一個「答案」：現在在屏東，前一站可能是高雄、也可能是台東——照機率抽一個。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最直覺的想法：把加噪那一步直接反解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Q1：抽一個 εₜ ~ N(0,I) 代進去解出 xₜ₋₁ 不就好了？反正 noise 本來就是隨機抽的。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65760" y="2240280"/>
            <a:ext cx="384048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2331720"/>
            <a:ext cx="356616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xₜ = √αₜ xₜ₋₁ + √βₜ εₜ</a:t>
            </a: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⇒ xₜ₋₁ = (xₜ − √βₜ εₜ) / √αₜ</a:t>
            </a: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這樣為什麼不行？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這樣為什麼不行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「εₜ 是隨機的」在加噪時成立，在取樣時不成立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960120" cy="66477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500" dirty="0"/>
          </a:p>
        </p:txBody>
      </p:sp>
      <p:pic>
        <p:nvPicPr>
          <p:cNvPr id="5" name="Image 0" descr="/tmp/claude-0/-home-claude/c4ae4d00-ecec-599d-99af-5b416eb8503d/scratchpad/build/math/e162ea60baf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37360"/>
            <a:ext cx="6378043" cy="481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74175" y="1804571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65615" y="1804571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代入 forward 那一步</a:t>
            </a:r>
            <a:endParaRPr lang="en-US" sz="1050" dirty="0"/>
          </a:p>
        </p:txBody>
      </p:sp>
      <p:pic>
        <p:nvPicPr>
          <p:cNvPr id="8" name="Image 1" descr="/tmp/claude-0/-home-claude/c4ae4d00-ecec-599d-99af-5b416eb8503d/scratchpad/build/math/7aef4c9ded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471331"/>
            <a:ext cx="7391095" cy="41851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174175" y="250685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265615" y="2506850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Cov 線性 ＋ εₜ ⊥ xₜ₋₁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050478"/>
            <a:ext cx="11094415" cy="7212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9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εₜ 的邊際仍然是 N(0,I)，但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9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給定 xₜ 之後它的分布變了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9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：看到 xₜ 就已經帶著 εₜ 的資訊。</a:t>
            </a:r>
            <a:endParaRPr lang="en-US" sz="189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826575"/>
            <a:ext cx="11094415" cy="7212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9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洗牌只看到洗完的樣子——「有幾張還連在一起」已經透露那一次是怎麼洗的。自己隨便再洗一次，不是同一次洗牌。</a:t>
            </a:r>
            <a:endParaRPr lang="en-US" sz="1890" dirty="0"/>
          </a:p>
        </p:txBody>
      </p:sp>
      <p:sp>
        <p:nvSpPr>
          <p:cNvPr id="13" name="Shape 9"/>
          <p:cNvSpPr/>
          <p:nvPr/>
        </p:nvSpPr>
        <p:spPr>
          <a:xfrm>
            <a:off x="548640" y="571500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31520" y="5760720"/>
            <a:ext cx="1072865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一旦看到 xₜ，εₜ 不能重抽。所以倒著走一步，真的要面對那個分布 q(xₜ₋₁ | xₜ)。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U1.2 Q1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改用 Bayes——卡在兩個邊際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6219073" cy="3325368"/>
          </a:xfrm>
          <a:prstGeom prst="roundRect">
            <a:avLst>
              <a:gd name="adj" fmla="val 3850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5889889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Bayes 一行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752600"/>
            <a:ext cx="5889889" cy="952119"/>
          </a:xfrm>
          <a:prstGeom prst="roundRect">
            <a:avLst>
              <a:gd name="adj" fmla="val 768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6" name="Image 0" descr="/tmp/claude-0/-home-claude/c4ae4d00-ecec-599d-99af-5b416eb8503d/scratchpad/build/math/dcb1c2da6b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295" y="1853184"/>
            <a:ext cx="4958883" cy="7509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796159"/>
            <a:ext cx="5926465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分子 q(xₜ | xₜ₋₁) 是我們自己設計的 Gaussian，會算。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分母的兩個邊際 pₜ₋₁、pₜ 要知道整個 p_data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（但很明顯我們不知道）。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950593" y="1234440"/>
            <a:ext cx="4783902" cy="3325368"/>
          </a:xfrm>
          <a:prstGeom prst="roundRect">
            <a:avLst>
              <a:gd name="adj" fmla="val 3850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15185" y="1362456"/>
            <a:ext cx="4454718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兩個新名字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115185" y="1752600"/>
            <a:ext cx="4454718" cy="660654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88337" y="1770888"/>
            <a:ext cx="4308414" cy="6240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pₜ：資料加噪 t 步之後的邊際分布（marginal distribution）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115185" y="2504694"/>
            <a:ext cx="4454718" cy="660654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88337" y="2522982"/>
            <a:ext cx="4308414" cy="6240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不可算（intractable）：式子寫得出來、但實際上算不出來的東西——以下都這樣叫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096897" y="3256788"/>
            <a:ext cx="4491294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好消息是我們知道倒著走一步「在算什麼」了；壞消息是這個分布我們似乎還是算不出來，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也不知道怎麼求 gradient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457200" y="4788408"/>
            <a:ext cx="11277295" cy="868680"/>
          </a:xfrm>
          <a:prstGeom prst="roundRect">
            <a:avLst>
              <a:gd name="adj" fmla="val 1052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4948428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0E2F74"/>
          </a:solidFill>
          <a:ln w="12700">
            <a:solidFill>
              <a:srgbClr val="0E2F7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4948428"/>
            <a:ext cx="1417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重點結論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2331720" y="4925568"/>
            <a:ext cx="0" cy="59436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514600" y="4834128"/>
            <a:ext cx="8991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問題從「這個 distribution 要怎麼算？」換成「我要怎麼設計一個 learning problem，讓 neural network 把它學出來？」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U1.2 〈倒著走一步〉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如果算不出來，那可不可以用「學」的？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584573" cy="2866644"/>
          </a:xfrm>
          <a:prstGeom prst="roundRect">
            <a:avLst>
              <a:gd name="adj" fmla="val 4466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4255389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用一個網路逼近它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752600"/>
            <a:ext cx="4255389" cy="511424"/>
          </a:xfrm>
          <a:prstGeom prst="roundRect">
            <a:avLst>
              <a:gd name="adj" fmla="val 143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6" name="Image 0" descr="/tmp/claude-0/-home-claude/c4ae4d00-ecec-599d-99af-5b416eb8503d/scratchpad/build/math/6c50d92fc7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782" y="1853184"/>
            <a:ext cx="3687409" cy="3102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355464"/>
            <a:ext cx="4291965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p_θ 是網路參數化的 conditional distribution。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316093" y="1234440"/>
            <a:ext cx="6418402" cy="2866644"/>
          </a:xfrm>
          <a:prstGeom prst="roundRect">
            <a:avLst>
              <a:gd name="adj" fmla="val 4466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0685" y="1362456"/>
            <a:ext cx="6089218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真正想最小化的東西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0685" y="1752600"/>
            <a:ext cx="6089218" cy="654739"/>
          </a:xfrm>
          <a:prstGeom prst="roundRect">
            <a:avLst>
              <a:gd name="adj" fmla="val 1117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1" name="Image 1" descr="/tmp/claude-0/-home-claude/c4ae4d00-ecec-599d-99af-5b416eb8503d/scratchpad/build/math/8772be27356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716" y="1853184"/>
            <a:ext cx="5209157" cy="45357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62397" y="2498779"/>
            <a:ext cx="6125794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對每一個會出現的 xₜ，要求網路的一步和真實的一步一樣。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 target q(xₜ₋₁ | xₜ) 還在裡面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——我們剛剛才說它不可算。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U1.2 〈如果算不出來，那可不可以用「學」的？〉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卡住的時候，先靜下來盤點：</a:t>
            </a:r>
            <a:endParaRPr lang="en-US" sz="30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我們一開始到底有什麼資訊可以用？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Q2：forward process 給了我們什麼？其中誰能幫我們算出 q(xₜ₋₁ | xₜ)，或有一樣效果的 loss？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619695" y="562356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11135" y="5650992"/>
            <a:ext cx="40233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這是一個帶得走的習慣：走到死路，先問「手上有什麼」，再問「我以為的限制是不是真的」。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答案是：x₀。訓練的時候，我們其實多知道一件事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584573" cy="3646470"/>
          </a:xfrm>
          <a:prstGeom prst="roundRect">
            <a:avLst>
              <a:gd name="adj" fmla="val 3511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4255389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我們不是只有 xₜ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4291965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 xₜ 的時候，我們手上有創造它的整組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(x₀, ε, t)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。邊際 q(xₜ₋₁ | xₜ) 難算，是因為要考慮所有可能的 x₀——那訓練時直接把 x₀ 放進條件裡呢？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21792" y="3509772"/>
            <a:ext cx="4255389" cy="450285"/>
          </a:xfrm>
          <a:prstGeom prst="roundRect">
            <a:avLst>
              <a:gd name="adj" fmla="val 16246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7" name="Image 0" descr="/tmp/claude-0/-home-claude/c4ae4d00-ecec-599d-99af-5b416eb8503d/scratchpad/build/math/d28bebc248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613091"/>
            <a:ext cx="4072509" cy="24364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16093" y="1234440"/>
            <a:ext cx="6418402" cy="3646470"/>
          </a:xfrm>
          <a:prstGeom prst="roundRect">
            <a:avLst>
              <a:gd name="adj" fmla="val 3511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0685" y="1362456"/>
            <a:ext cx="6089218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新的目標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0685" y="1752600"/>
            <a:ext cx="6089218" cy="613710"/>
          </a:xfrm>
          <a:prstGeom prst="roundRect">
            <a:avLst>
              <a:gd name="adj" fmla="val 1192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1" name="Image 1" descr="/tmp/claude-0/-home-claude/c4ae4d00-ecec-599d-99af-5b416eb8503d/scratchpad/build/math/f35d9e65194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5" y="1856329"/>
            <a:ext cx="5906338" cy="40625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62397" y="2457750"/>
            <a:ext cx="6125794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target 看得到 x₀，模型看不到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——這樣像不像作弊？直覺上：同一個 xₜ 有可能被很多張不同的 x₀ 造出來，模型分不出這筆是哪一張，只能用一個答案應付全部，也就是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按頻率取平均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5462397" y="3896406"/>
            <a:ext cx="6125794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是。而且這裡不是 approximation。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下兩張把它證出來。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U1.2 〈訓練的時候，我們其實多知道一件事〉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先用一個國中 toy 看：「對多個目標平均」vs「對平均目標」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KL 有和 L₂ 類似的性質（不是等同）；先用 L₂ 舉例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960120" cy="610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500" dirty="0"/>
          </a:p>
        </p:txBody>
      </p:sp>
      <p:pic>
        <p:nvPicPr>
          <p:cNvPr id="5" name="Image 0" descr="/tmp/claude-0/-home-claude/c4ae4d00-ecec-599d-99af-5b416eb8503d/scratchpad/build/math/14a675c64db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37360"/>
            <a:ext cx="3063571" cy="4278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74175" y="1777568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65615" y="1777568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三個目標的平均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311552"/>
            <a:ext cx="960120" cy="122326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配方</a:t>
            </a:r>
            <a:endParaRPr lang="en-US" sz="1500" dirty="0"/>
          </a:p>
        </p:txBody>
      </p:sp>
      <p:pic>
        <p:nvPicPr>
          <p:cNvPr id="9" name="Image 1" descr="/tmp/claude-0/-home-claude/c4ae4d00-ecec-599d-99af-5b416eb8503d/scratchpad/build/math/4d248a8e59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462797"/>
            <a:ext cx="7391095" cy="92077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74175" y="2749447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265615" y="2749447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完全平方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589678"/>
            <a:ext cx="11094415" cy="7212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9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左邊：對三個目標各算一次距離再平均；右邊：只對「平均目標」算一次距離，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9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多出來的那一項不含 x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9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9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365775"/>
            <a:ext cx="11094415" cy="3971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9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所以兩邊對 x 的最佳解一模一樣——差的常數要寫出來給人看，不能只說「差一個常數」。</a:t>
            </a:r>
            <a:endParaRPr lang="en-US" sz="1890" dirty="0"/>
          </a:p>
        </p:txBody>
      </p:sp>
      <p:sp>
        <p:nvSpPr>
          <p:cNvPr id="14" name="Shape 10"/>
          <p:cNvSpPr/>
          <p:nvPr/>
        </p:nvSpPr>
        <p:spPr>
          <a:xfrm>
            <a:off x="548640" y="571500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1520" y="5760720"/>
            <a:ext cx="1072865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權重和為 1 的平均（⅓）對上真正定理裡的 𝔼_{p(x₀|xₜ)}——形狀相同。KL 版本的常數是條件互資訊，L₂ 版本是變異數。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U1.2 §3 toy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自己實際推一次：為什麼 𝒥̃(θ) = 𝒥(θ) + C 是對的？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Try 1 · 固定一個 xₜ 來看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960120" cy="96869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展開</a:t>
            </a:r>
            <a:endParaRPr lang="en-US" sz="1500" dirty="0"/>
          </a:p>
        </p:txBody>
      </p:sp>
      <p:pic>
        <p:nvPicPr>
          <p:cNvPr id="5" name="Image 0" descr="/tmp/claude-0/-home-claude/c4ae4d00-ecec-599d-99af-5b416eb8503d/scratchpad/build/math/0d25bd9d85f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645920"/>
            <a:ext cx="7276614" cy="968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74175" y="1956531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65615" y="1956531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KL＝熵 − 交叉熵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669478"/>
            <a:ext cx="960120" cy="64195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取期望</a:t>
            </a:r>
            <a:endParaRPr lang="en-US" sz="1500" dirty="0"/>
          </a:p>
        </p:txBody>
      </p:sp>
      <p:pic>
        <p:nvPicPr>
          <p:cNvPr id="9" name="Image 1" descr="/tmp/claude-0/-home-claude/c4ae4d00-ecec-599d-99af-5b416eb8503d/scratchpad/build/math/aef8f19e3bb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703161"/>
            <a:ext cx="5672023" cy="57458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74175" y="2816718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265615" y="2816718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 x₀ 取後驗期望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554480" y="3393727"/>
            <a:ext cx="5943600" cy="332613"/>
          </a:xfrm>
          <a:prstGeom prst="roundRect">
            <a:avLst>
              <a:gd name="adj" fmla="val 21993"/>
            </a:avLst>
          </a:prstGeom>
          <a:solidFill>
            <a:srgbClr val="FEF6E9"/>
          </a:solidFill>
          <a:ln w="12700">
            <a:solidFill>
              <a:srgbClr val="FEF6E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664208" y="3393727"/>
            <a:ext cx="5760720" cy="33261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 p_θ 不依賴 x₀——那可以先把 x₀ 平均掉。中括號裡會變成什麼？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3808636"/>
            <a:ext cx="960120" cy="96869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交換</a:t>
            </a:r>
            <a:endParaRPr lang="en-US" sz="1500" dirty="0"/>
          </a:p>
        </p:txBody>
      </p:sp>
      <p:pic>
        <p:nvPicPr>
          <p:cNvPr id="15" name="Image 2" descr="/tmp/claude-0/-home-claude/c4ae4d00-ecec-599d-99af-5b416eb8503d/scratchpad/build/math/9d1d9f96c36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3808636"/>
            <a:ext cx="6771430" cy="96869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174175" y="4119247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9265615" y="4119247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marginalization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832194"/>
            <a:ext cx="960120" cy="64195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得到</a:t>
            </a:r>
            <a:endParaRPr lang="en-US" sz="1500" dirty="0"/>
          </a:p>
        </p:txBody>
      </p:sp>
      <p:pic>
        <p:nvPicPr>
          <p:cNvPr id="19" name="Image 3" descr="/tmp/claude-0/-home-claude/c4ae4d00-ecec-599d-99af-5b416eb8503d/scratchpad/build/math/2785939103c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4865877"/>
            <a:ext cx="4466615" cy="57458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174175" y="4979434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9265615" y="4979434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邊際的 cross entropy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548640" y="553212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3" name="Image 4" descr="/tmp/claude-0/-home-claude/c4ae4d00-ecec-599d-99af-5b416eb8503d/scratchpad/build/math/c3769a49ae0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832575"/>
            <a:ext cx="5730270" cy="35921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949440" y="5577840"/>
            <a:ext cx="460217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只差熵那個常數。換成算得出來的目標，最佳解完全相同——這個動作叫 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conditional trick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，全課會再回來六次。</a:t>
            </a:r>
            <a:endParaRPr lang="en-US" sz="1350" dirty="0"/>
          </a:p>
        </p:txBody>
      </p:sp>
      <p:sp>
        <p:nvSpPr>
          <p:cNvPr id="25" name="Text 1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U1.2 Try 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q(xₜ₋₁ | xₜ, x₀) 算出來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先猜：配出來的 Gaussian，它的變異數會跟 x₀ 有關嗎？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960120" cy="78246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Bayes</a:t>
            </a:r>
            <a:endParaRPr lang="en-US" sz="1500" dirty="0"/>
          </a:p>
        </p:txBody>
      </p:sp>
      <p:pic>
        <p:nvPicPr>
          <p:cNvPr id="5" name="Image 0" descr="/tmp/claude-0/-home-claude/c4ae4d00-ecec-599d-99af-5b416eb8503d/scratchpad/build/math/7010ac46d58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24256"/>
            <a:ext cx="4623549" cy="6257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74175" y="1863416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65615" y="1863416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Bayes ＋ Markov 去掉 x₀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483249"/>
            <a:ext cx="11094415" cy="303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三項全是 forward 設計好的 Gaussian：N(√αₜ xₜ₋₁, βₜI)、N(√ᾱₜ₋₁ x₀, (1−ᾱₜ₋₁)I)、N(√ᾱₜ x₀, (1−ᾱₜ)I)。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841145"/>
            <a:ext cx="960120" cy="84749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只留 xₜ₋₁</a:t>
            </a:r>
            <a:endParaRPr lang="en-US" sz="1500" dirty="0"/>
          </a:p>
        </p:txBody>
      </p:sp>
      <p:pic>
        <p:nvPicPr>
          <p:cNvPr id="10" name="Image 1" descr="/tmp/claude-0/-home-claude/c4ae4d00-ecec-599d-99af-5b416eb8503d/scratchpad/build/math/4d6a452ffc6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918392"/>
            <a:ext cx="5848731" cy="693001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9174175" y="3091156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265615" y="3091156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兩個密度相乘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743504"/>
            <a:ext cx="960120" cy="83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收係數</a:t>
            </a:r>
            <a:endParaRPr lang="en-US" sz="1500" dirty="0"/>
          </a:p>
        </p:txBody>
      </p:sp>
      <p:pic>
        <p:nvPicPr>
          <p:cNvPr id="14" name="Image 2" descr="/tmp/claude-0/-home-claude/c4ae4d00-ecec-599d-99af-5b416eb8503d/scratchpad/build/math/f7c8b530699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3821027"/>
            <a:ext cx="5801068" cy="67597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174175" y="3985276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9265615" y="3985276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二次項／一次項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4629384"/>
            <a:ext cx="960120" cy="8184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配方</a:t>
            </a:r>
            <a:endParaRPr lang="en-US" sz="1500" dirty="0"/>
          </a:p>
        </p:txBody>
      </p:sp>
      <p:pic>
        <p:nvPicPr>
          <p:cNvPr id="18" name="Image 3" descr="/tmp/claude-0/-home-claude/c4ae4d00-ecec-599d-99af-5b416eb8503d/scratchpad/build/math/6e6190284d0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4732923"/>
            <a:ext cx="7391095" cy="611331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9174175" y="4864852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9265615" y="4864852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αₜᾱₜ₋₁ = ᾱₜ 化簡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48640" y="553212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Image 4" descr="/tmp/claude-0/-home-claude/c4ae4d00-ecec-599d-99af-5b416eb8503d/scratchpad/build/math/4a31010f59b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818367"/>
            <a:ext cx="4455494" cy="38762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949440" y="5577840"/>
            <a:ext cx="460217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平均是 x₀ 與 xₜ 的加權平均（一邊拉向起點、一邊留在原地）；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變異數不含 x₀ 也不含 xₜ，只是 schedule 的數字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——答案：不會。</a:t>
            </a:r>
            <a:endParaRPr lang="en-US" sz="1350" dirty="0"/>
          </a:p>
        </p:txBody>
      </p:sp>
      <p:sp>
        <p:nvSpPr>
          <p:cNvPr id="24" name="Text 17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U1.2 Try 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DDPM 的訓練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3481344"/>
          </a:xfrm>
          <a:prstGeom prst="roundRect">
            <a:avLst>
              <a:gd name="adj" fmla="val 3677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560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模型族：照抄形狀，缺的 x₀ 換網路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996440"/>
            <a:ext cx="3247034" cy="452056"/>
          </a:xfrm>
          <a:prstGeom prst="roundRect">
            <a:avLst>
              <a:gd name="adj" fmla="val 1618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6" name="Image 0" descr="/tmp/claude-0/-home-claude/c4ae4d00-ecec-599d-99af-5b416eb8503d/scratchpad/build/math/b4d705f3e7d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100659"/>
            <a:ext cx="3064154" cy="2436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539936"/>
            <a:ext cx="328361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變異數照抄、平均照抄形狀，模型唯一缺的是 x₀——就讓網路 x̂_θ(xₜ, t) 去猜它。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307738" y="1234440"/>
            <a:ext cx="3576218" cy="3481344"/>
          </a:xfrm>
          <a:prstGeom prst="roundRect">
            <a:avLst>
              <a:gd name="adj" fmla="val 3677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72330" y="1362456"/>
            <a:ext cx="3247034" cy="560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同變異數 Gaussian 的 KL 只剩兩個平均的距離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72330" y="1996440"/>
            <a:ext cx="3247034" cy="1324884"/>
          </a:xfrm>
          <a:prstGeom prst="roundRect">
            <a:avLst>
              <a:gd name="adj" fmla="val 552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1" name="Image 1" descr="/tmp/claude-0/-home-claude/c4ae4d00-ecec-599d-99af-5b416eb8503d/scratchpad/build/math/e61eb2cb318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770" y="2113305"/>
            <a:ext cx="3064154" cy="109115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54042" y="3412764"/>
            <a:ext cx="328361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μ̃ₜ 對 x₀ 是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affine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的，所以兩個平均的距離就是兩張圖的距離乘一個係數。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8158277" y="1234440"/>
            <a:ext cx="3576218" cy="3481344"/>
          </a:xfrm>
          <a:prstGeom prst="roundRect">
            <a:avLst>
              <a:gd name="adj" fmla="val 3677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加權 MSE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322869" y="1752600"/>
            <a:ext cx="3247034" cy="554987"/>
          </a:xfrm>
          <a:prstGeom prst="roundRect">
            <a:avLst>
              <a:gd name="adj" fmla="val 1318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6" name="Image 2" descr="/tmp/claude-0/-home-claude/c4ae4d00-ecec-599d-99af-5b416eb8503d/scratchpad/build/math/98945ed5afa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4309" y="1858310"/>
            <a:ext cx="3064154" cy="34356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322869" y="2399027"/>
            <a:ext cx="3247034" cy="791367"/>
          </a:xfrm>
          <a:prstGeom prst="roundRect">
            <a:avLst>
              <a:gd name="adj" fmla="val 924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8" name="Image 3" descr="/tmp/claude-0/-home-claude/c4ae4d00-ecec-599d-99af-5b416eb8503d/scratchpad/build/math/0ca32b73da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4891" y="2499611"/>
            <a:ext cx="3022989" cy="59019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304581" y="3281834"/>
            <a:ext cx="328361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沒有對抗、沒有 Z。U1.0 說「路徑自定，每一步變回歸」，指的就是這一行。</a:t>
            </a:r>
            <a:endParaRPr lang="en-US" sz="1900" dirty="0"/>
          </a:p>
        </p:txBody>
      </p:sp>
      <p:sp>
        <p:nvSpPr>
          <p:cNvPr id="20" name="Shape 14"/>
          <p:cNvSpPr/>
          <p:nvPr/>
        </p:nvSpPr>
        <p:spPr>
          <a:xfrm>
            <a:off x="457200" y="4944384"/>
            <a:ext cx="11277295" cy="868680"/>
          </a:xfrm>
          <a:prstGeom prst="roundRect">
            <a:avLst>
              <a:gd name="adj" fmla="val 1052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85800" y="5104404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0E2F74"/>
          </a:solidFill>
          <a:ln w="12700">
            <a:solidFill>
              <a:srgbClr val="0E2F74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85800" y="5104404"/>
            <a:ext cx="1417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重點結論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2331720" y="5081544"/>
            <a:ext cx="0" cy="59436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2514600" y="4990104"/>
            <a:ext cx="8991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這一篇只有一個取捨：把 p_θ 限制成固定變異數的 Gaussian（不是離散化）。條件化那一步是恆等式，配方那一步只是代數。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U1.2 〈DDPM 的訓練〉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L₂ 不是才剛被我們否決過嗎？</a:t>
            </a:r>
            <a:endParaRPr lang="en-US" sz="30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為什麼這一次它就可以了？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Q3：U1.0 算過，拿 L₂ 比對 x₀ 與 G_θ(z)，最佳解是一張平均圖。現在也是 L₂、也是拿 x̂_θ(xₜ,t) 比對 x₀。這一次為什麼不會出問題？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差別只有一個：這一次有配對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3953256"/>
          </a:xfrm>
          <a:prstGeom prst="roundRect">
            <a:avLst>
              <a:gd name="adj" fmla="val 3580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開店：情報 z 決定顧客分布</a:t>
            </a:r>
            <a:endParaRPr lang="en-US" sz="1600" dirty="0"/>
          </a:p>
        </p:txBody>
      </p:sp>
      <p:pic>
        <p:nvPicPr>
          <p:cNvPr id="5" name="Image 0" descr="/tmp/claude-0/-home-claude/c4ae4d00-ecec-599d-99af-5b416eb8503d/scratchpad/build/w2media/slide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283" y="1752600"/>
            <a:ext cx="2762052" cy="1554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3504" y="3398520"/>
            <a:ext cx="328361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xₜ 就是情報。同一個 xₜ 底下顧客（x₀）的分布是後驗 p(x₀ | xₜ)，店要開在它的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重心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4307738" y="1234440"/>
            <a:ext cx="3576218" cy="3953256"/>
          </a:xfrm>
          <a:prstGeom prst="roundRect">
            <a:avLst>
              <a:gd name="adj" fmla="val 3580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最佳解是一個函數，不是常數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472330" y="1752600"/>
            <a:ext cx="3247034" cy="573283"/>
          </a:xfrm>
          <a:prstGeom prst="roundRect">
            <a:avLst>
              <a:gd name="adj" fmla="val 1276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0" name="Image 1" descr="/tmp/claude-0/-home-claude/c4ae4d00-ecec-599d-99af-5b416eb8503d/scratchpad/build/math/d54f166c1fa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568" y="1853184"/>
            <a:ext cx="2820558" cy="37211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54042" y="2417323"/>
            <a:ext cx="328361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 小時後驗幾乎只剩原圖，x̂ ≈ x₀；t 大時是很多張圖的加權平均。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w(t) 不影響每個 t 的最佳解。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4472330" y="3855979"/>
            <a:ext cx="3247034" cy="503512"/>
          </a:xfrm>
          <a:prstGeom prst="roundRect">
            <a:avLst>
              <a:gd name="adj" fmla="val 1452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3" name="Image 2" descr="/tmp/claude-0/-home-claude/c4ae4d00-ecec-599d-99af-5b416eb8503d/scratchpad/build/math/664877e9ad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770" y="3958424"/>
            <a:ext cx="3064154" cy="29862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158277" y="1234440"/>
            <a:ext cx="3576218" cy="3953256"/>
          </a:xfrm>
          <a:prstGeom prst="roundRect">
            <a:avLst>
              <a:gd name="adj" fmla="val 3580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視力檢查表上的那個 E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8304581" y="1752600"/>
            <a:ext cx="3283610" cy="23027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畫面清楚時直接說出開口朝哪邊；糊到只剩輪廓時只能在上下左右之間以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1/4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盲猜——猜幾次之後就跟給出「所有可能的平均」沒兩樣。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 大時 x̂₀ 模糊是正確答案，不是學壞。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304581" y="4146804"/>
            <a:ext cx="3283610" cy="7665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【待生圖】視力表 E 三個版本並排：清晰、略糊、只剩輪廓；糊的旁邊四個灰箭頭；無文字。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57200" y="5416296"/>
            <a:ext cx="11277295" cy="868680"/>
          </a:xfrm>
          <a:prstGeom prst="roundRect">
            <a:avLst>
              <a:gd name="adj" fmla="val 1052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85800" y="5576316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0E2F74"/>
          </a:solidFill>
          <a:ln w="12700">
            <a:solidFill>
              <a:srgbClr val="0E2F74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85800" y="5576316"/>
            <a:ext cx="1417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重點結論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2331720" y="5553456"/>
            <a:ext cx="0" cy="59436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2514600" y="5462016"/>
            <a:ext cx="8991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雖然同樣是做 L₂ norm minimization，上一次的最佳解是一個常數，而這一次是一個取決於當下 state xₜ 的函數。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U1.2 Q3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 xₜ 可以來自很多張圖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03504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mnt/user-data/uploads/site/src/content/notes/research-areas/diffusion-models-and-their-applications/week-3/imgs/w-3-2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82496"/>
            <a:ext cx="5815584" cy="43616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1280160"/>
            <a:ext cx="4967935" cy="5166360"/>
          </a:xfrm>
          <a:prstGeom prst="roundRect">
            <a:avLst>
              <a:gd name="adj" fmla="val 2209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903720" y="1389888"/>
            <a:ext cx="469361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demo：去噪一個點</a:t>
            </a:r>
            <a:endParaRPr lang="en-US" sz="1400" dirty="0"/>
          </a:p>
        </p:txBody>
      </p:sp>
      <p:pic>
        <p:nvPicPr>
          <p:cNvPr id="7" name="Image 1" descr="/tmp/claude-0/-home-claude/c4ae4d00-ecec-599d-99af-5b416eb8503d/scratchpad/build/shots/w3-2-posteri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3645" y="1712976"/>
            <a:ext cx="1793766" cy="21945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85432" y="3998976"/>
            <a:ext cx="4730191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在平面上點一個位置當 xₜ、拖 t。每個資料點的大小是它的後驗權重；箭頭指向 𝔼[x₀|xₜ]。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 小只有一兩個點亮著、箭頭幾乎原地；t 大整批點都亮，箭頭指向一個平均的位置。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imgs/w-3-2-1.png · demo w3-2-posterior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學完之後，怎麼真的走回去？——以及憑什麼保證好？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584573" cy="3233486"/>
          </a:xfrm>
          <a:prstGeom prst="roundRect">
            <a:avLst>
              <a:gd name="adj" fmla="val 3959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4255389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取樣時跑的那一行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752600"/>
            <a:ext cx="4255389" cy="568773"/>
          </a:xfrm>
          <a:prstGeom prst="roundRect">
            <a:avLst>
              <a:gd name="adj" fmla="val 128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6" name="Image 0" descr="/tmp/claude-0/-home-claude/c4ae4d00-ecec-599d-99af-5b416eb8503d/scratchpad/build/math/b3f734ed658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57220"/>
            <a:ext cx="4072509" cy="35953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412813"/>
            <a:ext cx="4291965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x_T ~ N(0,I) 出發，重複 T 次：x_T → x_{T−1} → ⋯ → x₁ → x₀。這回答了開頭的問題：倒著走一步，就是代 x̂_θ 進 posterior mean 再抽一次。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316093" y="1234440"/>
            <a:ext cx="6418402" cy="3233486"/>
          </a:xfrm>
          <a:prstGeom prst="roundRect">
            <a:avLst>
              <a:gd name="adj" fmla="val 3959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0685" y="1362456"/>
            <a:ext cx="6089218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這樣的 regression，憑什麼保證生成出來的東西是好的？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0685" y="1752600"/>
            <a:ext cx="6089218" cy="764381"/>
          </a:xfrm>
          <a:prstGeom prst="roundRect">
            <a:avLst>
              <a:gd name="adj" fmla="val 957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1" name="Image 1" descr="/tmp/claude-0/-home-claude/c4ae4d00-ecec-599d-99af-5b416eb8503d/scratchpad/build/math/c44e1075654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206" y="1853184"/>
            <a:ext cx="4422176" cy="56321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62397" y="2608421"/>
            <a:ext cx="6125794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三拍：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Jensen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給上界（ELBO）→ 對 x₀ 取期望變成整條 path 的 KL＋常數 →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Markov structure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把 path KL 拆成每一步的 transition mismatch。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5480685" y="3728561"/>
            <a:ext cx="6089218" cy="465045"/>
          </a:xfrm>
          <a:prstGeom prst="roundRect">
            <a:avLst>
              <a:gd name="adj" fmla="val 1573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4" name="Image 2" descr="/tmp/claude-0/-home-claude/c4ae4d00-ecec-599d-99af-5b416eb8503d/scratchpad/build/math/ffaa47bb298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25" y="3831157"/>
            <a:ext cx="5906338" cy="25985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57200" y="4696526"/>
            <a:ext cx="11277295" cy="868680"/>
          </a:xfrm>
          <a:prstGeom prst="roundRect">
            <a:avLst>
              <a:gd name="adj" fmla="val 1052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85800" y="4856546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0E2F74"/>
          </a:solidFill>
          <a:ln w="12700">
            <a:solidFill>
              <a:srgbClr val="0E2F74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85800" y="4856546"/>
            <a:ext cx="1417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三個伏筆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2331720" y="4833686"/>
            <a:ext cx="0" cy="59436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2514600" y="4742246"/>
            <a:ext cx="8991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Gaussian 族逼近多好？noise 一定要加回去嗎？把步切細了會怎樣？——這些等到 U1.4 再討論！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U1.2 §7–8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 reverse step，不一定要學 x₀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4069091"/>
          </a:xfrm>
          <a:prstGeom prst="roundRect">
            <a:avLst>
              <a:gd name="adj" fmla="val 3580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知道其一，另一個就算得出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752600"/>
            <a:ext cx="3247034" cy="660611"/>
          </a:xfrm>
          <a:prstGeom prst="roundRect">
            <a:avLst>
              <a:gd name="adj" fmla="val 1107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6" name="Image 0" descr="/tmp/claude-0/-home-claude/c4ae4d00-ecec-599d-99af-5b416eb8503d/scratchpad/build/math/a22fde1832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59841"/>
            <a:ext cx="3064154" cy="446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504651"/>
            <a:ext cx="3283610" cy="3916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所以也可以讓網路猜 ε：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21792" y="2987759"/>
            <a:ext cx="3247034" cy="586938"/>
          </a:xfrm>
          <a:prstGeom prst="roundRect">
            <a:avLst>
              <a:gd name="adj" fmla="val 1246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9" name="Image 1" descr="/tmp/claude-0/-home-claude/c4ae4d00-ecec-599d-99af-5b416eb8503d/scratchpad/build/math/1a26037f32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093932"/>
            <a:ext cx="3064154" cy="3745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07738" y="1234440"/>
            <a:ext cx="3576218" cy="4069091"/>
          </a:xfrm>
          <a:prstGeom prst="roundRect">
            <a:avLst>
              <a:gd name="adj" fmla="val 3580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472330" y="1362456"/>
            <a:ext cx="3247034" cy="560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v-prediction：垂直的那個方向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472330" y="1996440"/>
            <a:ext cx="3247034" cy="330211"/>
          </a:xfrm>
          <a:prstGeom prst="roundRect">
            <a:avLst>
              <a:gd name="adj" fmla="val 2215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3" name="Image 2" descr="/tmp/claude-0/-home-claude/c4ae4d00-ecec-599d-99af-5b416eb8503d/scratchpad/build/math/5c1bf39dec7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770" y="2098894"/>
            <a:ext cx="3064154" cy="12530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454042" y="2418091"/>
            <a:ext cx="3283610" cy="1984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√ᾱₜ 寫成 cos φₜ、σₜ 寫成 sin φₜ：xₜ 是 (x₀, ε) 平面上角度 φₜ 的位置向量，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 是它的垂直座標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（xₜ 對 φₜ 的導數），兩端都不退化。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4454042" y="4493779"/>
            <a:ext cx="3283610" cy="535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【待生圖】(x₀, ε) 平面，xₜ 為角度 φₜ 的向量、v 與之垂直；無文字。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158277" y="1234440"/>
            <a:ext cx="3576218" cy="4069091"/>
          </a:xfrm>
          <a:prstGeom prst="roundRect">
            <a:avLst>
              <a:gd name="adj" fmla="val 3580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322869" y="1362456"/>
            <a:ext cx="3247034" cy="560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三者之間全是 affine transformation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04581" y="1996440"/>
            <a:ext cx="3283610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parametrization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：網路輸出要用哪一種表示方式。x₀／ε／v 之間只依賴 t 的轉換就能互換——表達的資訊相同。那訓練出來會一樣嗎？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U1.2 〈同一個 reverse step，不一定要學 x₀〉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表示上等價，但訓練上不相同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3011490"/>
          </a:xfrm>
          <a:prstGeom prst="roundRect">
            <a:avLst>
              <a:gd name="adj" fmla="val 4251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換 target 等於換權重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752600"/>
            <a:ext cx="3247034" cy="595350"/>
          </a:xfrm>
          <a:prstGeom prst="roundRect">
            <a:avLst>
              <a:gd name="adj" fmla="val 1228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6" name="Image 0" descr="/tmp/claude-0/-home-claude/c4ae4d00-ecec-599d-99af-5b416eb8503d/scratchpad/build/math/3e0c985fb69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58895"/>
            <a:ext cx="3064154" cy="38275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439390"/>
            <a:ext cx="328361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對應回同一個 quantity 時，不同 noise level 的誤差會被乘上不同的權重。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21792" y="3559530"/>
            <a:ext cx="3247034" cy="392928"/>
          </a:xfrm>
          <a:prstGeom prst="roundRect">
            <a:avLst>
              <a:gd name="adj" fmla="val 1861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9" name="Image 1" descr="/tmp/claude-0/-home-claude/c4ae4d00-ecec-599d-99af-5b416eb8503d/scratchpad/build/math/a53b129da74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662892"/>
            <a:ext cx="3064154" cy="18620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07738" y="1234440"/>
            <a:ext cx="3576218" cy="3011490"/>
          </a:xfrm>
          <a:prstGeom prst="roundRect">
            <a:avLst>
              <a:gd name="adj" fmla="val 4251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DDPM 實際訓的是 L_simple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472330" y="1752600"/>
            <a:ext cx="3247034" cy="461838"/>
          </a:xfrm>
          <a:prstGeom prst="roundRect">
            <a:avLst>
              <a:gd name="adj" fmla="val 15839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3" name="Image 2" descr="/tmp/claude-0/-home-claude/c4ae4d00-ecec-599d-99af-5b416eb8503d/scratchpad/build/math/aa1739a146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770" y="1856961"/>
            <a:ext cx="3064154" cy="25311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454042" y="2305878"/>
            <a:ext cx="3283610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刻意丟掉 w(t) 的均勻 ε-MSE。最小值點同一個，但有限預算下重視的 t 不同——代價是 ELBO 那個不等式不再成立。</a:t>
            </a:r>
            <a:endParaRPr lang="en-US" sz="1900" dirty="0"/>
          </a:p>
        </p:txBody>
      </p:sp>
      <p:sp>
        <p:nvSpPr>
          <p:cNvPr id="15" name="Shape 10"/>
          <p:cNvSpPr/>
          <p:nvPr/>
        </p:nvSpPr>
        <p:spPr>
          <a:xfrm>
            <a:off x="8158277" y="1234440"/>
            <a:ext cx="3576218" cy="3011490"/>
          </a:xfrm>
          <a:prstGeom prst="roundRect">
            <a:avLst>
              <a:gd name="adj" fmla="val 4251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訓練核心其實就這五行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8322869" y="1752600"/>
            <a:ext cx="3247034" cy="1188720"/>
          </a:xfrm>
          <a:prstGeom prst="roundRect">
            <a:avLst>
              <a:gd name="adj" fmla="val 4615"/>
            </a:avLst>
          </a:prstGeom>
          <a:solidFill>
            <a:srgbClr val="161F28"/>
          </a:solidFill>
          <a:ln w="12700">
            <a:solidFill>
              <a:srgbClr val="161F28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414309" y="1807464"/>
            <a:ext cx="306415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x0  = sample_data(B)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  = randint(1, T+1, (B,))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eps = randn_like(x0)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  = sqrt(ab[t])*x0 + sqrt(1-ab[t])*eps
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D28A"/>
                </a:solidFill>
                <a:highlight>
                  <a:srgbClr val="3A2E1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loss = ((model(xt, t) - eps)**2).mean()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8304581" y="3032760"/>
            <a:ext cx="3283610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預告：loss 會停在一個非零的數字——U1.3 說為什麼。</a:t>
            </a:r>
            <a:endParaRPr lang="en-US" sz="1900" dirty="0"/>
          </a:p>
        </p:txBody>
      </p:sp>
      <p:sp>
        <p:nvSpPr>
          <p:cNvPr id="20" name="Shape 15"/>
          <p:cNvSpPr/>
          <p:nvPr/>
        </p:nvSpPr>
        <p:spPr>
          <a:xfrm>
            <a:off x="457200" y="4474530"/>
            <a:ext cx="11277295" cy="868680"/>
          </a:xfrm>
          <a:prstGeom prst="roundRect">
            <a:avLst>
              <a:gd name="adj" fmla="val 1052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85800" y="4634550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0E2F74"/>
          </a:solidFill>
          <a:ln w="12700">
            <a:solidFill>
              <a:srgbClr val="0E2F74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4634550"/>
            <a:ext cx="1417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重點結論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2331720" y="4611690"/>
            <a:ext cx="0" cy="59436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2514600" y="4520250"/>
            <a:ext cx="8991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forward process 決定我們怎麼製造不同 noise level 的資料；weighting 決定 training 時多重視哪些 noise level。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U1.2 〈表示上等價，但訓練上不相同〉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一個看起來只是做 denoising regression 的 neural network，</a:t>
            </a:r>
            <a:endParaRPr lang="en-US" sz="26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到底學到了多少關於 data distribution 的資訊？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U1.3 Tweedie 公式：Denoiser 和 Data Distribution 有什麼關係？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619695" y="562356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11135" y="5650992"/>
            <a:ext cx="40233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ELBO 解釋的是 weighted 版，實際訓的是 L_simple——而它從頭到尾沒有寫出 p_data。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那個 simple MSE，到底在學什麼？先固定一個 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6418402" cy="2941320"/>
          </a:xfrm>
          <a:prstGeom prst="roundRect">
            <a:avLst>
              <a:gd name="adj" fmla="val 4352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6089218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一堆互不干擾的小問題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752600"/>
            <a:ext cx="6089218" cy="849455"/>
          </a:xfrm>
          <a:prstGeom prst="roundRect">
            <a:avLst>
              <a:gd name="adj" fmla="val 861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6" name="Image 0" descr="/tmp/claude-0/-home-claude/c4ae4d00-ecec-599d-99af-5b416eb8503d/scratchpad/build/math/864cdc37f8b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384" y="1853184"/>
            <a:ext cx="5754033" cy="6482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693495"/>
            <a:ext cx="6125794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每一個 t 自己一項。加權只是每一項前面的常數，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不改變每個 t 的最佳解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——加權那件事也因此可以先放下。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149922" y="1234440"/>
            <a:ext cx="4584573" cy="2941320"/>
          </a:xfrm>
          <a:prstGeom prst="roundRect">
            <a:avLst>
              <a:gd name="adj" fmla="val 4352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4514" y="1362456"/>
            <a:ext cx="4255389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匾額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296226" y="1752600"/>
            <a:ext cx="4291965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固定一個 t，min 𝔼‖ε_θ(xₜ,t) − ε‖² 的最佳解是什麼？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296226" y="2554224"/>
            <a:ext cx="4291965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這是一個 MSE regression：輸入 X = xₜ、目標 Y = ε。MSE 有一個已知的最佳解公式——下一張用開店的例子講為什麼。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U1.3 〈固定一個 t〉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MSE 的最佳解是條件期望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6601785" cy="3924300"/>
          </a:xfrm>
          <a:prstGeom prst="roundRect">
            <a:avLst>
              <a:gd name="adj" fmla="val 3262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6272601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在一條街上開店</a:t>
            </a:r>
            <a:endParaRPr lang="en-US" sz="1600" dirty="0"/>
          </a:p>
        </p:txBody>
      </p:sp>
      <p:pic>
        <p:nvPicPr>
          <p:cNvPr id="5" name="Image 0" descr="/tmp/claude-0/-home-claude/c4ae4d00-ecec-599d-99af-5b416eb8503d/scratchpad/build/w2media/slide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0883" y="1752600"/>
            <a:ext cx="3574420" cy="2011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3504" y="3855720"/>
            <a:ext cx="6309177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代價是距離的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平方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，所以最好的位置不是人最多的那一點，而是所有顧客的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重心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；情報 z 換了，重心跟著換——最佳解是一個隨情報變的函數。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7333305" y="1234440"/>
            <a:ext cx="4401190" cy="3924300"/>
          </a:xfrm>
          <a:prstGeom prst="roundRect">
            <a:avLst>
              <a:gd name="adj" fmla="val 3262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7897" y="1362456"/>
            <a:ext cx="4072006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兩個期望值取的對象不一樣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497897" y="1752600"/>
            <a:ext cx="4072006" cy="817152"/>
          </a:xfrm>
          <a:prstGeom prst="roundRect">
            <a:avLst>
              <a:gd name="adj" fmla="val 895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0" name="Image 1" descr="/tmp/claude-0/-home-claude/c4ae4d00-ecec-599d-99af-5b416eb8503d/scratchpad/build/math/cfa4e6820e6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337" y="1860259"/>
            <a:ext cx="3889126" cy="60183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79609" y="2661192"/>
            <a:ext cx="4108582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左邊得到一個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數值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；右邊得到一個隨給定的 X 改變的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函數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f(X)。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7479609" y="3462816"/>
            <a:ext cx="4108582" cy="3916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套回來：X = xₜ、Y = ε——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7497897" y="3945924"/>
            <a:ext cx="4072006" cy="492033"/>
          </a:xfrm>
          <a:prstGeom prst="roundRect">
            <a:avLst>
              <a:gd name="adj" fmla="val 1486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4" name="Image 2" descr="/tmp/claude-0/-home-claude/c4ae4d00-ecec-599d-99af-5b416eb8503d/scratchpad/build/math/93ace8cc7a2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9330" y="4046508"/>
            <a:ext cx="2729141" cy="29086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U1.3 · Week 2 #11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所以理想上，模型夠強、訓練到收斂的話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3385491"/>
          </a:xfrm>
          <a:prstGeom prst="roundRect">
            <a:avLst>
              <a:gd name="adj" fmla="val 3781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學到的是後驗加權平均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1984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模型不是記住哪一個 ε，而是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看到這個 xₜ 之後，所有可能的 ε 按 posterior 加權之後的平均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。這個量已經和整批資料有關，不只和某一筆 training pair 有關。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3385491"/>
          </a:xfrm>
          <a:prstGeom prst="roundRect">
            <a:avLst>
              <a:gd name="adj" fmla="val 3781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x₀ 版本（不用 Gaussian）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72330" y="1752600"/>
            <a:ext cx="3247034" cy="835839"/>
          </a:xfrm>
          <a:prstGeom prst="roundRect">
            <a:avLst>
              <a:gd name="adj" fmla="val 875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9" name="Image 0" descr="/tmp/claude-0/-home-claude/c4ae4d00-ecec-599d-99af-5b416eb8503d/scratchpad/build/math/270c6cdf89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3770" y="1862379"/>
            <a:ext cx="3064154" cy="6162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454042" y="2679879"/>
            <a:ext cx="3283610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xₜ 對 (x₀, ε) 是 affine 的，條件期望又是線性的——這補上了 U1.2 缺的證明，而且只用了 MSE。這是 conditional trick 的 MSE 版本。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8158277" y="1234440"/>
            <a:ext cx="3576218" cy="3385491"/>
          </a:xfrm>
          <a:prstGeom prst="roundRect">
            <a:avLst>
              <a:gd name="adj" fmla="val 3781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loss 停住的高度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322869" y="1752600"/>
            <a:ext cx="3247034" cy="526197"/>
          </a:xfrm>
          <a:prstGeom prst="roundRect">
            <a:avLst>
              <a:gd name="adj" fmla="val 1390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4" name="Image 1" descr="/tmp/claude-0/-home-claude/c4ae4d00-ecec-599d-99af-5b416eb8503d/scratchpad/build/math/65bbbb3c7e9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309" y="1857893"/>
            <a:ext cx="3064154" cy="31561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304581" y="2370237"/>
            <a:ext cx="328361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 loss 不會到 0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——停住的高度是「看到 xₜ 後 ε 剩多少不確定性」。U1.5 會量到它。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U1.3 §2 ＋ Remark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05840"/>
            <a:ext cx="10728655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 posterior mean 跟整個分布有什麼關係？先把「整個分布」正式寫下來：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011680" y="2148840"/>
            <a:ext cx="8168335" cy="0"/>
          </a:xfrm>
          <a:prstGeom prst="line">
            <a:avLst/>
          </a:prstGeom>
          <a:noFill/>
          <a:ln w="15875">
            <a:solidFill>
              <a:srgbClr val="D9E0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2286000"/>
            <a:ext cx="10362895" cy="1609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𝔼[ε | xₜ] 和 pₜ(xₜ) 有什麼關係嗎？</a:t>
            </a:r>
            <a:endParaRPr lang="en-US" sz="3000" dirty="0"/>
          </a:p>
        </p:txBody>
      </p:sp>
      <p:pic>
        <p:nvPicPr>
          <p:cNvPr id="5" name="Image 0" descr="/tmp/claude-0/-home-claude/c4ae4d00-ecec-599d-99af-5b416eb8503d/scratchpad/build/math/10c5841996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6044" y="4061359"/>
            <a:ext cx="4899607" cy="74696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011680" y="5166360"/>
            <a:ext cx="8168335" cy="0"/>
          </a:xfrm>
          <a:prstGeom prst="line">
            <a:avLst/>
          </a:prstGeom>
          <a:noFill/>
          <a:ln w="15875">
            <a:solidFill>
              <a:srgbClr val="D9E0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5486400"/>
            <a:ext cx="9997135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pₜ 是 xₜ 的分布，也是 U1.2 那個 Bayes 的分母。我們透過已知的 q(xₜ|x₀) 觀察它——下一張：對 xₜ 微分看看。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Tweedie 公式：對 xₜ 微分看看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960120" cy="74105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500" dirty="0"/>
          </a:p>
        </p:txBody>
      </p:sp>
      <p:pic>
        <p:nvPicPr>
          <p:cNvPr id="4" name="Image 0" descr="/tmp/claude-0/-home-claude/c4ae4d00-ecec-599d-99af-5b416eb8503d/scratchpad/build/math/c6de30b6bf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363395"/>
            <a:ext cx="4860836" cy="57458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74175" y="1476952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265615" y="1476952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pₜ 的定義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76081"/>
            <a:ext cx="960120" cy="84494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微分</a:t>
            </a:r>
            <a:endParaRPr lang="en-US" sz="1500" dirty="0"/>
          </a:p>
        </p:txBody>
      </p:sp>
      <p:pic>
        <p:nvPicPr>
          <p:cNvPr id="8" name="Image 1" descr="/tmp/claude-0/-home-claude/c4ae4d00-ecec-599d-99af-5b416eb8503d/scratchpad/build/math/51f91bf5db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158166"/>
            <a:ext cx="6908292" cy="68077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174175" y="2324816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265615" y="2324816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 Gaussian 被微分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1554480" y="3003318"/>
            <a:ext cx="5943600" cy="392432"/>
          </a:xfrm>
          <a:prstGeom prst="roundRect">
            <a:avLst>
              <a:gd name="adj" fmla="val 18641"/>
            </a:avLst>
          </a:prstGeom>
          <a:solidFill>
            <a:srgbClr val="FEF6E9"/>
          </a:solidFill>
          <a:ln w="12700">
            <a:solidFill>
              <a:srgbClr val="FEF6E9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664208" y="3003318"/>
            <a:ext cx="5760720" cy="392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兩邊除以 pₜ(xₜ)。右邊被積函數裡那個比值 𝒩·p_data / pₜ 是誰？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478046"/>
            <a:ext cx="960120" cy="111823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除以 pₜ</a:t>
            </a:r>
            <a:endParaRPr lang="en-US" sz="1500" dirty="0"/>
          </a:p>
        </p:txBody>
      </p:sp>
      <p:pic>
        <p:nvPicPr>
          <p:cNvPr id="14" name="Image 2" descr="/tmp/claude-0/-home-claude/c4ae4d00-ecec-599d-99af-5b416eb8503d/scratchpad/build/math/3f80ea27e7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3503785"/>
            <a:ext cx="6375425" cy="106676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174175" y="3863429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9265615" y="3863429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正好就是後驟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4651149"/>
            <a:ext cx="960120" cy="79428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認出</a:t>
            </a:r>
            <a:endParaRPr lang="en-US" sz="1500" dirty="0"/>
          </a:p>
        </p:txBody>
      </p:sp>
      <p:pic>
        <p:nvPicPr>
          <p:cNvPr id="18" name="Image 3" descr="/tmp/claude-0/-home-claude/c4ae4d00-ecec-599d-99af-5b416eb8503d/scratchpad/build/math/63e09a847b0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4733795"/>
            <a:ext cx="7291769" cy="628993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9174175" y="4874556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9265615" y="4874556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被積函數就是造出 xₜ 的噪聲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48640" y="553212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Image 4" descr="/tmp/claude-0/-home-claude/c4ae4d00-ecec-599d-99af-5b416eb8503d/scratchpad/build/math/5f3c764ff53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608587"/>
            <a:ext cx="3600907" cy="80718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949440" y="5577840"/>
            <a:ext cx="460217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左邊是 pₜ 的 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score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；右邊是 denoising regression 學到的那個量。</a:t>
            </a:r>
            <a:endParaRPr lang="en-US" sz="1350" dirty="0"/>
          </a:p>
        </p:txBody>
      </p:sp>
      <p:sp>
        <p:nvSpPr>
          <p:cNvPr id="24" name="Text 17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U1.3 §4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訓好的 denoiser 就是 pₜ 的 score function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40080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mnt/user-data/uploads/site/src/content/notes/research-areas/diffusion-models-and-their-applications/week-3/imgs/w-3-3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123913"/>
            <a:ext cx="6181344" cy="347885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0" y="1280160"/>
            <a:ext cx="4602175" cy="1600200"/>
          </a:xfrm>
          <a:prstGeom prst="roundRect">
            <a:avLst>
              <a:gd name="adj" fmla="val 6857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269480" y="1389888"/>
            <a:ext cx="432785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x₀ 版本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269480" y="1712976"/>
            <a:ext cx="4327855" cy="851992"/>
          </a:xfrm>
          <a:prstGeom prst="roundRect">
            <a:avLst>
              <a:gd name="adj" fmla="val 8586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1" descr="/tmp/claude-0/-home-claude/c4ae4d00-ecec-599d-99af-5b416eb8503d/scratchpad/build/math/5b46bfd1ceb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5766" y="1813560"/>
            <a:ext cx="3495283" cy="65082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132320" y="3063240"/>
            <a:ext cx="4602175" cy="1600200"/>
          </a:xfrm>
          <a:prstGeom prst="roundRect">
            <a:avLst>
              <a:gd name="adj" fmla="val 6857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269480" y="3172968"/>
            <a:ext cx="432785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網路直接翻成 score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269480" y="3496056"/>
            <a:ext cx="4327855" cy="782006"/>
          </a:xfrm>
          <a:prstGeom prst="roundRect">
            <a:avLst>
              <a:gd name="adj" fmla="val 935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2" name="Image 2" descr="/tmp/claude-0/-home-claude/c4ae4d00-ecec-599d-99af-5b416eb8503d/scratchpad/build/math/ba45b921045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3598673"/>
            <a:ext cx="4144975" cy="576773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132320" y="4846320"/>
            <a:ext cx="4602175" cy="1600200"/>
          </a:xfrm>
          <a:prstGeom prst="roundRect">
            <a:avLst>
              <a:gd name="adj" fmla="val 6857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269480" y="4956048"/>
            <a:ext cx="432785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denoising 的方向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7269480" y="5279136"/>
            <a:ext cx="4327855" cy="515031"/>
          </a:xfrm>
          <a:prstGeom prst="roundRect">
            <a:avLst>
              <a:gd name="adj" fmla="val 1420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6" name="Image 3" descr="/tmp/claude-0/-home-claude/c4ae4d00-ecec-599d-99af-5b416eb8503d/scratchpad/build/math/7010f519999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2965" y="5336364"/>
            <a:ext cx="2240886" cy="40057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251192" y="5885607"/>
            <a:ext cx="4364431" cy="5425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同一個方向，長度差 σₜ² 倍；t 太大時 x̂₀ 退化成平均臉——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公式沒有變壞，是 xₜ 裡的資訊變少了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imgs/w-3-3-1.png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原來 denoiser 學到的是 pₜ 的局部幾何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21792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mnt/user-data/uploads/site/src/content/notes/research-areas/diffusion-models-and-their-applications/week-3/imgs/w-3-3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551176"/>
            <a:ext cx="5998464" cy="2624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49440" y="1280160"/>
            <a:ext cx="4785055" cy="2491740"/>
          </a:xfrm>
          <a:prstGeom prst="roundRect">
            <a:avLst>
              <a:gd name="adj" fmla="val 440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086600" y="1389888"/>
            <a:ext cx="451073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廣場上的人群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068312" y="1712976"/>
            <a:ext cx="4547311" cy="15986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2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t=T 時大家均勻散開（≈N(0,I)）；t 往 0 走，人群聚成一團團（資料的 mode）。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2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 就是這場聚集進行到哪裡。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2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你站在 xₜ，看周遭的人平均往哪去——那個平均就是 𝔼[x₀|xₜ]，也是哪邊比較擠的方向。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6949440" y="3954780"/>
            <a:ext cx="4785055" cy="2491740"/>
          </a:xfrm>
          <a:prstGeom prst="roundRect">
            <a:avLst>
              <a:gd name="adj" fmla="val 440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086600" y="4064508"/>
            <a:ext cx="451073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density vs score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068312" y="4387596"/>
            <a:ext cx="4547311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density 要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從空中數整個廣場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（連空角落）；score 只要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站在原地看左右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。網路沒有記住任何一張圖，而是把「每個時刻、每個位置，人群往哪邊變密」整片記了下來。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imgs/w-3-3-2.png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為什麼學 score，而不是直接學 density？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Q1：訓一個網路去表示 pₜ，然後對它微分——這條路會走到哪裡去？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76218" cy="3116807"/>
          </a:xfrm>
          <a:prstGeom prst="roundRect">
            <a:avLst>
              <a:gd name="adj" fmla="val 4107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72821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會走回那面牆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2118360"/>
            <a:ext cx="3283610" cy="1984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密度要積分為 1，就有 Z_θ；訓練需要 ∇_θ log Z_θ = 𝔼_{p_θ}[∇_θ E_θ]，也就是要先會從 p_θ 抽樣——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我們想做的事，變成做這件事的前提。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07738" y="1600200"/>
            <a:ext cx="3576218" cy="3116807"/>
          </a:xfrm>
          <a:prstGeom prst="roundRect">
            <a:avLst>
              <a:gd name="adj" fmla="val 4107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72330" y="1728216"/>
            <a:ext cx="3247034" cy="560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score 對 normalizing constant 免疫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72330" y="2362200"/>
            <a:ext cx="3247034" cy="641831"/>
          </a:xfrm>
          <a:prstGeom prst="roundRect">
            <a:avLst>
              <a:gd name="adj" fmla="val 1139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0" name="Image 0" descr="/tmp/claude-0/-home-claude/c4ae4d00-ecec-599d-99af-5b416eb8503d/scratchpad/build/math/33add045937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3770" y="2469169"/>
            <a:ext cx="3064154" cy="42789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454042" y="3095471"/>
            <a:ext cx="328361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Z_θ 對 x 是常數。Tweedie 的真正意義：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我們要的那個量，剛好是那面牆管不到的量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，而且五行回歸就能拿到。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8158277" y="1600200"/>
            <a:ext cx="3576218" cy="3116807"/>
          </a:xfrm>
          <a:prstGeom prst="roundRect">
            <a:avLst>
              <a:gd name="adj" fmla="val 4107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22869" y="172821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繞過，不是解決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304581" y="2118360"/>
            <a:ext cx="3283610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我們沒有解出 density estimation，我們繞過了它。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代價：拿不到 likelihood（U2.4 會用另一條路把它換回來）。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U1.3 Q1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 score field 長什麼樣？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76656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tmp/claude-0/-home-claude/c4ae4d00-ecec-599d-99af-5b416eb8503d/scratchpad/build/shots/w3-3-sc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6671" y="1389888"/>
            <a:ext cx="4007618" cy="4946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28016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38988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16952" y="1712976"/>
            <a:ext cx="3998671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箭頭是網格上每一點的 ∇log pₜ（用資料樣本當混合 Gaussian 精確算）。切到「denoising 方向」：兩組箭頭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方向完全一樣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，只差 σₜ² 倍。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498080" y="395478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35240" y="406450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616952" y="4387596"/>
            <a:ext cx="3998671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t 拉大，箭頭慢慢變成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整片指向原點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——那時 pₜ 已接近 N(0,I)、score ≈ −x；把 t 拉小，箭頭擠向資料所在的細帶子。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w3-3-score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訓練時我們把路切成一千小步；</a:t>
            </a:r>
            <a:endParaRPr lang="en-US" sz="30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生成時，可以自己決定走幾步、每一步走多遠嗎？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U1.4 反向：DDPM、DDIM 與 SDE/ODE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x̂₀ 已經是後驗平均了，代進去抽出來的 xₜ₋₁</a:t>
            </a:r>
            <a:endParaRPr lang="en-US" sz="26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平均也就會是對的——那還有什麼好擔心的？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Q1：這個推理對嗎？如果對，那錯的是什麼？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65760" y="224028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2331720"/>
            <a:ext cx="356616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真實的 q(xₜ₋₁|xₜ) = ∫ q(xₜ₋₁|xₜ,x₀) p(x₀|xₜ) dx₀ 是一堆 Gaussian 按後驗權重疊起來——一個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混合 Gaussian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，一般不是 Gaussian。</a:t>
            </a: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但我們的取樣器只抽一個 N(μ̃ₜ(xₜ, x̂₀), β̃ₜI)。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算帳：平均精確，變異數缺一項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law of total variance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960120" cy="60150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平均</a:t>
            </a:r>
            <a:endParaRPr lang="en-US" sz="1500" dirty="0"/>
          </a:p>
        </p:txBody>
      </p:sp>
      <p:pic>
        <p:nvPicPr>
          <p:cNvPr id="5" name="Image 0" descr="/tmp/claude-0/-home-claude/c4ae4d00-ecec-599d-99af-5b416eb8503d/scratchpad/build/math/4159b9b966c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37360"/>
            <a:ext cx="4730991" cy="41862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74175" y="1772939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65615" y="1772939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μ̃ₜ 對 x₀ affine → 精確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302293"/>
            <a:ext cx="960120" cy="104149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變異數</a:t>
            </a:r>
            <a:endParaRPr lang="en-US" sz="1500" dirty="0"/>
          </a:p>
        </p:txBody>
      </p:sp>
      <p:pic>
        <p:nvPicPr>
          <p:cNvPr id="9" name="Image 1" descr="/tmp/claude-0/-home-claude/c4ae4d00-ecec-599d-99af-5b416eb8503d/scratchpad/build/math/e44d015a08a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443090"/>
            <a:ext cx="7391095" cy="75990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74175" y="2649305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265615" y="2649305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total variance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398652"/>
            <a:ext cx="11094415" cy="7212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9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多出來的那一項是「x₀ 是誰」的不確定性漏進來；取樣器把它丟掉了。c₀ ∝ βₜ、β̃ₜ ∝ βₜ，所以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9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丟掉的那一項相對於保留的那一項是 O(βₜ)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9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9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174749"/>
            <a:ext cx="11094415" cy="7212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9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linear schedule 實算（丟掉／保留）：t=10 → 17%；t=50 → 3.7%；t=100 → 1.8%；t=300 → 0.4%；t=500 → 0.09%；t≥700 → &lt;0.01%。</a:t>
            </a:r>
            <a:endParaRPr lang="en-US" sz="1890" dirty="0"/>
          </a:p>
        </p:txBody>
      </p:sp>
      <p:sp>
        <p:nvSpPr>
          <p:cNvPr id="14" name="Shape 10"/>
          <p:cNvSpPr/>
          <p:nvPr/>
        </p:nvSpPr>
        <p:spPr>
          <a:xfrm>
            <a:off x="548640" y="571500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1520" y="5760720"/>
            <a:ext cx="1072865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平均值是精確的；錯的只有變異數，而那個錯是 O(βₜ)。這就是「把一件難事切成很多小步」真正的數學內容——步數一少，這筆帳就變大。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U1.4 Q1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DDPM：扣掉一點，再抖一下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417682" cy="4271772"/>
          </a:xfrm>
          <a:prstGeom prst="roundRect">
            <a:avLst>
              <a:gd name="adj" fmla="val 2997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4088498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ancestral sampling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752600"/>
            <a:ext cx="4088498" cy="701772"/>
          </a:xfrm>
          <a:prstGeom prst="roundRect">
            <a:avLst>
              <a:gd name="adj" fmla="val 104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6" name="Image 0" descr="/tmp/claude-0/-home-claude/c4ae4d00-ecec-599d-99af-5b416eb8503d/scratchpad/build/math/3be6df3172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58910"/>
            <a:ext cx="3905618" cy="4891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545812"/>
            <a:ext cx="4125074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x̂₀ = (xₜ − σₜε_θ)/√ᾱₜ 代進 μ̃ₜ 整理：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先用網路猜噪聲、扣掉一部分，再加回一點新的隨機噪聲。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149202" y="1234440"/>
            <a:ext cx="3155487" cy="4271772"/>
          </a:xfrm>
          <a:prstGeom prst="roundRect">
            <a:avLst>
              <a:gd name="adj" fmla="val 4057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13794" y="1362456"/>
            <a:ext cx="2826303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為什麼又要加噪？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295506" y="1752600"/>
            <a:ext cx="2862879" cy="2621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回到廣場：每個人只朝周遭的平均去向走，附近的人看到的是同一個方向，走完會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疊到同一點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（塌）。加回噪聲＝走完之後再隨機挪一下，讓人群重新散開到 pₜ₋₁ 該有的寬度。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5295506" y="4465320"/>
            <a:ext cx="2862879" cy="7665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【待生圖】廣場人群兩格：朝平均走疊成一點 vs 走完再挪開恢復寬度；無文字。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579008" y="1234440"/>
            <a:ext cx="3155487" cy="4271772"/>
          </a:xfrm>
          <a:prstGeom prst="roundRect">
            <a:avLst>
              <a:gd name="adj" fmla="val 4057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743600" y="1362456"/>
            <a:ext cx="2826303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一個要小心的區別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725312" y="1752600"/>
            <a:ext cx="2862879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「照平均走會塌」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不等於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「確定性的取樣一定會塌」。下一張的 DDIM 完全不加噪，也不會塌。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U1.4 〈DDPM〉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DDIM：同一個網路，完全不加噪聲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3886831"/>
          </a:xfrm>
          <a:prstGeom prst="roundRect">
            <a:avLst>
              <a:gd name="adj" fmla="val 3580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560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每個 xₛ 都能由 (x₀, ε) 直接寫出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996440"/>
            <a:ext cx="3247034" cy="592211"/>
          </a:xfrm>
          <a:prstGeom prst="roundRect">
            <a:avLst>
              <a:gd name="adj" fmla="val 1235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6" name="Image 0" descr="/tmp/claude-0/-home-claude/c4ae4d00-ecec-599d-99af-5b416eb8503d/scratchpad/build/math/8ea76eceb6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490" y="2097024"/>
            <a:ext cx="2591638" cy="3910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680091"/>
            <a:ext cx="3283610" cy="3916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所以把估計直接代進去：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21792" y="3163199"/>
            <a:ext cx="3247034" cy="563612"/>
          </a:xfrm>
          <a:prstGeom prst="roundRect">
            <a:avLst>
              <a:gd name="adj" fmla="val 12979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9" name="Image 1" descr="/tmp/claude-0/-home-claude/c4ae4d00-ecec-599d-99af-5b416eb8503d/scratchpad/build/math/0048ce42483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269034"/>
            <a:ext cx="3064154" cy="3519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03504" y="3818251"/>
            <a:ext cx="328361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構造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，不是相信：若 x̂₀、ε_θ 等於真值，就精確落在 xₛ 上。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4307738" y="1234440"/>
            <a:ext cx="3576218" cy="3886831"/>
          </a:xfrm>
          <a:prstGeom prst="roundRect">
            <a:avLst>
              <a:gd name="adj" fmla="val 3580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兩個性質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454042" y="1752600"/>
            <a:ext cx="328361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完全確定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：同一個 x_T 永遠給同一張圖。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可以跳步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：s 不必是 t−1，任何 s &lt; t 都寫得出來。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8158277" y="1234440"/>
            <a:ext cx="3576218" cy="3886831"/>
          </a:xfrm>
          <a:prstGeom prst="roundRect">
            <a:avLst>
              <a:gd name="adj" fmla="val 3580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和 DDPM 共用什麼、差在哪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8304581" y="1752600"/>
            <a:ext cx="3283610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 ε_θ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（兩者都只需要 score）；依據不同：DDPM 用相鄰兩步的條件分布，DDIM 用 xₛ 與 (x₀, ε) 的關係。</a:t>
            </a:r>
            <a:endParaRPr lang="en-US" sz="1900" dirty="0"/>
          </a:p>
        </p:txBody>
      </p:sp>
      <p:sp>
        <p:nvSpPr>
          <p:cNvPr id="17" name="Shape 13"/>
          <p:cNvSpPr/>
          <p:nvPr/>
        </p:nvSpPr>
        <p:spPr>
          <a:xfrm>
            <a:off x="457200" y="5349871"/>
            <a:ext cx="11277295" cy="868680"/>
          </a:xfrm>
          <a:prstGeom prst="roundRect">
            <a:avLst>
              <a:gd name="adj" fmla="val 1052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85800" y="5509891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0E2F74"/>
          </a:solidFill>
          <a:ln w="12700">
            <a:solidFill>
              <a:srgbClr val="0E2F74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" y="5509891"/>
            <a:ext cx="1417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重點結論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2331720" y="5487031"/>
            <a:ext cx="0" cy="59436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514600" y="5395591"/>
            <a:ext cx="8991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走幾步、每一步走多遠，是取樣時才決定的事，和訓練無關。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U1.4 〈DDIM〉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DDIM 的一般式：η 控制每步補回多少隨機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Try · 兩行就能驗：為什麼 η = 1 會退回 DDPM？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960120" cy="611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一般式</a:t>
            </a:r>
            <a:endParaRPr lang="en-US" sz="1500" dirty="0"/>
          </a:p>
        </p:txBody>
      </p:sp>
      <p:pic>
        <p:nvPicPr>
          <p:cNvPr id="5" name="Image 0" descr="/tmp/claude-0/-home-claude/c4ae4d00-ecec-599d-99af-5b416eb8503d/scratchpad/build/math/1b7d69e39f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37360"/>
            <a:ext cx="6089332" cy="42891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74175" y="1778079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65615" y="1778079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η ∈ [0,1]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312575"/>
            <a:ext cx="960120" cy="117214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其中</a:t>
            </a:r>
            <a:endParaRPr lang="en-US" sz="1500" dirty="0"/>
          </a:p>
        </p:txBody>
      </p:sp>
      <p:pic>
        <p:nvPicPr>
          <p:cNvPr id="9" name="Image 1" descr="/tmp/claude-0/-home-claude/c4ae4d00-ecec-599d-99af-5b416eb8503d/scratchpad/build/math/d881626877b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404015"/>
            <a:ext cx="3515582" cy="98926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74175" y="2724912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265615" y="2724912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每步注入的噪聲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554480" y="3567017"/>
            <a:ext cx="5943600" cy="516636"/>
          </a:xfrm>
          <a:prstGeom prst="roundRect">
            <a:avLst>
              <a:gd name="adj" fmla="val 14159"/>
            </a:avLst>
          </a:prstGeom>
          <a:solidFill>
            <a:srgbClr val="FEF6E9"/>
          </a:solidFill>
          <a:ln w="12700">
            <a:solidFill>
              <a:srgbClr val="FEF6E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664208" y="3567017"/>
            <a:ext cx="5760720" cy="5166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25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 η = 1、s = t−1，σ̃² 會變成誰？</a:t>
            </a:r>
            <a:endParaRPr lang="en-US" sz="1625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4165949"/>
            <a:ext cx="960120" cy="943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代入</a:t>
            </a:r>
            <a:endParaRPr lang="en-US" sz="1500" dirty="0"/>
          </a:p>
        </p:txBody>
      </p:sp>
      <p:pic>
        <p:nvPicPr>
          <p:cNvPr id="15" name="Image 2" descr="/tmp/claude-0/-home-claude/c4ae4d00-ecec-599d-99af-5b416eb8503d/scratchpad/build/math/205f32296bb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4257389"/>
            <a:ext cx="6816995" cy="76095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174175" y="4464129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9265615" y="4464129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ᾱₜ/ᾱₜ₋₁ = αₜ、1−αₜ = βₜ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571500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31520" y="5760720"/>
            <a:ext cx="1072865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η = 0 是 DDIM、η = 1 是 DDPM——它們是同一族取樣器裡的兩個點。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U1.4 Remark「符號」 ＋ Try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兩種走法，看得見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76656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tmp/claude-0/-home-claude/c4ae4d00-ecec-599d-99af-5b416eb8503d/scratchpad/build/shots/w3-4-sampl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0518" y="1389888"/>
            <a:ext cx="3879925" cy="4946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280160"/>
            <a:ext cx="4236415" cy="1600200"/>
          </a:xfrm>
          <a:prstGeom prst="roundRect">
            <a:avLst>
              <a:gd name="adj" fmla="val 6857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38988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16952" y="1712976"/>
            <a:ext cx="3998671" cy="98846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2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兩邊用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2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2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score（精確算出，相當於訓到最佳）、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2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同一組起點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2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，只有 η 不同。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7498080" y="3063240"/>
            <a:ext cx="4236415" cy="1600200"/>
          </a:xfrm>
          <a:prstGeom prst="roundRect">
            <a:avLst>
              <a:gd name="adj" fmla="val 6857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35240" y="317296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616952" y="3496056"/>
            <a:ext cx="3998671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η 從 1 拉到 0：軌跡從抖動變光滑，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終點都落在資料上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。步數從 200 降到 50、25、10：終點離資料越遠，η=0 通常掉得慢一些。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498080" y="4846320"/>
            <a:ext cx="4236415" cy="1600200"/>
          </a:xfrm>
          <a:prstGeom prst="roundRect">
            <a:avLst>
              <a:gd name="adj" fmla="val 6857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495604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伏筆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616952" y="5279136"/>
            <a:ext cx="3998671" cy="98846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2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η=0 的軌跡明顯是彎的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2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——為什麼彎，U2 會回答。demo 的 score 精確，所以看不到「加噪拉回」那一面。</a:t>
            </a:r>
            <a:endParaRPr lang="en-US" sz="1820" dirty="0"/>
          </a:p>
        </p:txBody>
      </p:sp>
      <p:sp>
        <p:nvSpPr>
          <p:cNvPr id="14" name="Text 11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w3-4-samplers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如果步長縮到 0 呢？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Δt = 1/T，βₜ → β(t)Δt，把遞迴代進去取極限</a:t>
            </a:r>
            <a:endParaRPr lang="en-US" sz="15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三條方程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4170132"/>
          </a:xfrm>
          <a:prstGeom prst="roundRect">
            <a:avLst>
              <a:gd name="adj" fmla="val 3580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forward SDE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752600"/>
            <a:ext cx="3247034" cy="944964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6" name="Image 0" descr="/tmp/claude-0/-home-claude/c4ae4d00-ecec-599d-99af-5b416eb8503d/scratchpad/build/math/67178b255e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63961"/>
            <a:ext cx="3064154" cy="7222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789004"/>
            <a:ext cx="328361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往原點縮一點、灌一點噪聲——就是 forward process 的連續版。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307738" y="1234440"/>
            <a:ext cx="3576218" cy="4170132"/>
          </a:xfrm>
          <a:prstGeom prst="roundRect">
            <a:avLst>
              <a:gd name="adj" fmla="val 3580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reverse SDE（Anderson）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72330" y="1752600"/>
            <a:ext cx="3247034" cy="961052"/>
          </a:xfrm>
          <a:prstGeom prst="roundRect">
            <a:avLst>
              <a:gd name="adj" fmla="val 761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1" name="Image 1" descr="/tmp/claude-0/-home-claude/c4ae4d00-ecec-599d-99af-5b416eb8503d/scratchpad/build/math/37e8e4f0bf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770" y="1864194"/>
            <a:ext cx="3064154" cy="73786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54042" y="2805092"/>
            <a:ext cx="328361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把時間倒過來，它仍然是一條 SDE：drift 多一個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score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項。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8158277" y="1234440"/>
            <a:ext cx="3576218" cy="4170132"/>
          </a:xfrm>
          <a:prstGeom prst="roundRect">
            <a:avLst>
              <a:gd name="adj" fmla="val 3580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322869" y="1362456"/>
            <a:ext cx="3247034" cy="560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probability-flow ODE（Song）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322869" y="1996440"/>
            <a:ext cx="3247034" cy="624546"/>
          </a:xfrm>
          <a:prstGeom prst="roundRect">
            <a:avLst>
              <a:gd name="adj" fmla="val 1171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6" name="Image 2" descr="/tmp/claude-0/-home-claude/c4ae4d00-ecec-599d-99af-5b416eb8503d/scratchpad/build/math/1a0d64ba865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4309" y="2103158"/>
            <a:ext cx="3064154" cy="41110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04581" y="2712426"/>
            <a:ext cx="3283610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沒有隨機項，邊際和 SDE 每個時刻都相同。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score 的係數：SDE 是 β，ODE 只有一半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（少的那一半去哪了，見附錄）。</a:t>
            </a:r>
            <a:endParaRPr lang="en-US" sz="1900" dirty="0"/>
          </a:p>
        </p:txBody>
      </p:sp>
      <p:sp>
        <p:nvSpPr>
          <p:cNvPr id="18" name="Shape 13"/>
          <p:cNvSpPr/>
          <p:nvPr/>
        </p:nvSpPr>
        <p:spPr>
          <a:xfrm>
            <a:off x="8322869" y="4469598"/>
            <a:ext cx="3247034" cy="660654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396021" y="4487886"/>
            <a:ext cx="3100730" cy="6240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通式：dx = fₜx dt + gₜ dWₜ；DDPM 是 fₜ = −β/2、gₜ = √β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U1.4 〈如果步長縮到 0 呢？〉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同一組邊際，兩種走法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3093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mnt/user-data/uploads/site/src/content/notes/research-areas/diffusion-models-and-their-applications/week-3/imgs/w-3-4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32424"/>
            <a:ext cx="6089904" cy="34273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40880" y="1280160"/>
            <a:ext cx="4693615" cy="1874520"/>
          </a:xfrm>
          <a:prstGeom prst="roundRect">
            <a:avLst>
              <a:gd name="adj" fmla="val 585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78040" y="1389888"/>
            <a:ext cx="44192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三者關係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159752" y="1712976"/>
            <a:ext cx="4455871" cy="11996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邊際相同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：forward SDE ／ reverse SDE ／ PF-ODE 在每個時刻推動的分布一樣。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軌跡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：隨機 ／ 隨機 ／ 確定。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離散版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：加噪 ／ DDPM ／ DDIM。</a:t>
            </a:r>
            <a:endParaRPr lang="en-US" sz="1680" dirty="0"/>
          </a:p>
        </p:txBody>
      </p:sp>
      <p:sp>
        <p:nvSpPr>
          <p:cNvPr id="8" name="Shape 5"/>
          <p:cNvSpPr/>
          <p:nvPr/>
        </p:nvSpPr>
        <p:spPr>
          <a:xfrm>
            <a:off x="7040880" y="3337560"/>
            <a:ext cx="4693615" cy="1874520"/>
          </a:xfrm>
          <a:prstGeom prst="roundRect">
            <a:avLst>
              <a:gd name="adj" fmla="val 585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78040" y="3447288"/>
            <a:ext cx="44192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廣場拍照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59752" y="3770376"/>
            <a:ext cx="4455871" cy="11996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一組人邊走邊晃、一組人走筆直；每隔一段時間對整個廣場拍一張照，兩組人的照片一模一樣。差別不在最後停在哪裡，而在路上抖不抖。</a:t>
            </a:r>
            <a:endParaRPr lang="en-US" sz="1680" dirty="0"/>
          </a:p>
        </p:txBody>
      </p:sp>
      <p:sp>
        <p:nvSpPr>
          <p:cNvPr id="11" name="Shape 8"/>
          <p:cNvSpPr/>
          <p:nvPr/>
        </p:nvSpPr>
        <p:spPr>
          <a:xfrm>
            <a:off x="457200" y="5349240"/>
            <a:ext cx="11277295" cy="1051560"/>
          </a:xfrm>
          <a:prstGeom prst="roundRect">
            <a:avLst>
              <a:gd name="adj" fmla="val 869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5422392"/>
            <a:ext cx="11002975" cy="9052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DDPM 是 reverse SDE 的一階離散，DDIM 是 PF-ODE 的一階離散。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endParaRPr lang="en-US" sz="1250" dirty="0"/>
          </a:p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這裡出現了第二套誤差帳：用直線代替曲線，O(Δt)。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imgs/w-3-4-1.png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Q2：那它們的取樣結果會一樣嗎？步數少的時候，哪一個比較好？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3896868"/>
          </a:xfrm>
          <a:prstGeom prst="roundRect">
            <a:avLst>
              <a:gd name="adj" fmla="val 3580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560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1.「邊際相同」是連續時間的敘述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996440"/>
            <a:ext cx="328361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無限步的極限才成立。有限步離散化之後，兩者的誤差行為不同。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3896868"/>
          </a:xfrm>
          <a:prstGeom prst="roundRect">
            <a:avLst>
              <a:gd name="adj" fmla="val 3580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兩種誤差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54042" y="1752600"/>
            <a:ext cx="3283610" cy="23027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ODE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：誤差來自軌跡是彎的——割線代曲線，步數少差距大。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SDE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：也有離散誤差，但 score 項會把偏離的樣本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拉回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pₜ（自我修正）；代價是每步注入的噪聲本身也是誤差來源。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158277" y="1234440"/>
            <a:ext cx="3576218" cy="3896868"/>
          </a:xfrm>
          <a:prstGeom prst="roundRect">
            <a:avLst>
              <a:gd name="adj" fmla="val 3580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判準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04581" y="1752600"/>
            <a:ext cx="3283610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模型誤差大的時候，SDE 的修正有東西可修；模型幾乎沒有誤差的時候，剩下的只有離散化，SDE 的噪聲就只是多餘的抖動。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04581" y="3509772"/>
            <a:ext cx="328361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同一個判準會給兩次相反的結論：toy 上精確 score → 確定性不輸；真實模型 → 帶噪聲往往更好。都對。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457200" y="5359908"/>
            <a:ext cx="11277295" cy="868680"/>
          </a:xfrm>
          <a:prstGeom prst="roundRect">
            <a:avLst>
              <a:gd name="adj" fmla="val 1052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5519928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0E2F74"/>
          </a:solidFill>
          <a:ln w="12700">
            <a:solidFill>
              <a:srgbClr val="0E2F7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5519928"/>
            <a:ext cx="1417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兩筆帳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331720" y="5497068"/>
            <a:ext cx="0" cy="59436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514600" y="5405628"/>
            <a:ext cx="8991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模型族：用 Gaussian 代混合，O(βₜ)。離散化：用直線代曲線，O(Δt)。步數一少，兩筆都變大。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U1.4 Q2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這是一個方法，不是定律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6219073" cy="3467100"/>
          </a:xfrm>
          <a:prstGeom prst="roundRect">
            <a:avLst>
              <a:gd name="adj" fmla="val 3692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5889889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每一件事都是人挑的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752600"/>
            <a:ext cx="5889889" cy="660654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770888"/>
            <a:ext cx="5743585" cy="6240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Gaussian noise——不是只有這一種破壞方式（U4 會換成 token）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" y="2504694"/>
            <a:ext cx="5889889" cy="403479"/>
          </a:xfrm>
          <a:prstGeom prst="roundRect">
            <a:avLst>
              <a:gd name="adj" fmla="val 1359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4944" y="2522982"/>
            <a:ext cx="5743585" cy="3669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√(1−βₜ) 的縮放——VP 是選擇，VE 也行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" y="2999613"/>
            <a:ext cx="5889889" cy="403479"/>
          </a:xfrm>
          <a:prstGeom prst="roundRect">
            <a:avLst>
              <a:gd name="adj" fmla="val 1359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" y="3017901"/>
            <a:ext cx="5743585" cy="3669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 N(0, I)——因為它好抽，不是因為它必要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" y="3494532"/>
            <a:ext cx="5889889" cy="403479"/>
          </a:xfrm>
          <a:prstGeom prst="roundRect">
            <a:avLst>
              <a:gd name="adj" fmla="val 1359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" y="3512820"/>
            <a:ext cx="5743585" cy="3669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schedule——決定路的速度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50593" y="1234440"/>
            <a:ext cx="4783902" cy="3467100"/>
          </a:xfrm>
          <a:prstGeom prst="roundRect">
            <a:avLst>
              <a:gd name="adj" fmla="val 3692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15185" y="1362456"/>
            <a:ext cx="4454718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這些選擇的代價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96897" y="1752600"/>
            <a:ext cx="4491294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起點只能是 Gaussian；路徑被 ᾱₜ 綁死；配對是獨立抽的。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這三件事是一起來的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——U2 從「能不能只換其中一樣」開始。</a:t>
            </a:r>
            <a:endParaRPr lang="en-US" sz="1900" dirty="0"/>
          </a:p>
        </p:txBody>
      </p:sp>
      <p:pic>
        <p:nvPicPr>
          <p:cNvPr id="16" name="Image 0" descr="/tmp/claude-0/-home-claude/c4ae4d00-ecec-599d-99af-5b416eb8503d/scratchpad/build/w2media/bo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0548" y="2872740"/>
            <a:ext cx="3943992" cy="155448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U1.4 〈這是一個方法，不是定律〉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U1.5 實作：先在淺水區把每件事看清楚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3815334"/>
          </a:xfrm>
          <a:prstGeom prst="roundRect">
            <a:avLst>
              <a:gd name="adj" fmla="val 3580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為什麼是 2D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23027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有標準答案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：資料點有限，pₜ 是混合 Gaussian——真實的 score、posterior mean 全部精確算得出來，網路學得好不好不用猜。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看得見。跑得快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：幾秒就能重跑。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3815334"/>
          </a:xfrm>
          <a:prstGeom prst="roundRect">
            <a:avLst>
              <a:gd name="adj" fmla="val 3580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設定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72330" y="1752600"/>
            <a:ext cx="3247034" cy="660654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45482" y="1770888"/>
            <a:ext cx="3100730" cy="6240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make_moons，n = 2000，噪聲 0.05，標準化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72330" y="2504694"/>
            <a:ext cx="3247034" cy="660654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45482" y="2522982"/>
            <a:ext cx="3100730" cy="6240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MLP 三層寬 128，輸入 (xₜ, t)，sinusoidal t embedding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472330" y="3256788"/>
            <a:ext cx="3247034" cy="660654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45482" y="3275076"/>
            <a:ext cx="3100730" cy="6240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 = 1000，linear β₁ = 10⁻⁴ → β_T = 0.02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454042" y="4008882"/>
            <a:ext cx="3283610" cy="7665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notebook：notes/notebooks/diffusion-models-applications/dma-w3-lab.ipynb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58277" y="1234440"/>
            <a:ext cx="3576218" cy="3815334"/>
          </a:xfrm>
          <a:prstGeom prst="roundRect">
            <a:avLst>
              <a:gd name="adj" fmla="val 3580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要產出的三張圖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04581" y="1752600"/>
            <a:ext cx="3283610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 a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score field：模型 vs 真值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 b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三種 parametrization 的換算與誤差對 t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 c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DDPM 與 DDIM 的軌跡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U1.5 §1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1：q_sample ＋ 五行 loop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949440" cy="3063240"/>
          </a:xfrm>
          <a:prstGeom prst="roundRect">
            <a:avLst>
              <a:gd name="adj" fmla="val 3582"/>
            </a:avLst>
          </a:prstGeom>
          <a:solidFill>
            <a:srgbClr val="161F28"/>
          </a:solidFill>
          <a:ln w="12700">
            <a:solidFill>
              <a:srgbClr val="161F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65836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q_sample(x0, t, eps):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ab = alpha_bar[t][:, None]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28A"/>
                </a:solidFill>
                <a:highlight>
                  <a:srgbClr val="3A2E1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ab.sqrt() * x0 + (1 - ab).sqrt() * eps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step in range(n_steps):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x0  = sample_data(B)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  = torch.randint(1, T + 1, (B,))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eps = torch.randn_like(x0)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xt  = q_sample(x0, t, eps)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28A"/>
                </a:solidFill>
                <a:highlight>
                  <a:srgbClr val="3A2E1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 = ((model(xt, t) - eps) ** 2).mean()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loss.backward(); opt.step(); opt.zero_grad()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1280160"/>
            <a:ext cx="4053535" cy="3063240"/>
          </a:xfrm>
          <a:prstGeom prst="roundRect">
            <a:avLst>
              <a:gd name="adj" fmla="val 3582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18120" y="1408176"/>
            <a:ext cx="377921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會看到的事情是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99832" y="1740408"/>
            <a:ext cx="3815791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loss 掉到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0.3 左右就停住不動了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——而且離 0 很遠。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799832" y="2542032"/>
            <a:ext cx="3815791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先寫下你的猜測：把網路加寬、學習率調一調、多訓十倍步數，它會掉下去嗎？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U1.5 步驟 1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loss 停住、而且離 0 很遠，</a:t>
            </a:r>
            <a:endParaRPr lang="en-US" sz="30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是哪裡寫錯了嗎？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Q1：加寬、調 lr、多訓十倍——這樣做 loss 會掉下去嗎？</a:t>
            </a:r>
            <a:endParaRPr lang="en-US" sz="15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不會，一點都不會：那是理論地板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9494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mnt/user-data/uploads/site/src/content/notes/research-areas/diffusion-models-and-their-applications/week-3/imgs/w-3-5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705" y="1389888"/>
            <a:ext cx="6596429" cy="37124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280160"/>
            <a:ext cx="4053535" cy="1874520"/>
          </a:xfrm>
          <a:prstGeom prst="roundRect">
            <a:avLst>
              <a:gd name="adj" fmla="val 585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18120" y="1389888"/>
            <a:ext cx="377921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地板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818120" y="1712976"/>
            <a:ext cx="3779215" cy="470113"/>
          </a:xfrm>
          <a:prstGeom prst="roundRect">
            <a:avLst>
              <a:gd name="adj" fmla="val 155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8" name="Image 1" descr="/tmp/claude-0/-home-claude/c4ae4d00-ecec-599d-99af-5b416eb8503d/scratchpad/build/math/0177feebc3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0636" y="1811701"/>
            <a:ext cx="2054182" cy="27266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99832" y="2274529"/>
            <a:ext cx="3815791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最佳解是 𝔼[ε|xₜ] 而不是抽到的那個 ε；剩下的是條件變異數。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它是所有 t 平均出來的，不是模型學不動。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680960" y="3337560"/>
            <a:ext cx="4053535" cy="1874520"/>
          </a:xfrm>
          <a:prstGeom prst="roundRect">
            <a:avLst>
              <a:gd name="adj" fmla="val 585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818120" y="3447288"/>
            <a:ext cx="377921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讀法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799832" y="3770376"/>
            <a:ext cx="3815791" cy="9180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下界隨 t 變：t 小 ≈ 0、t 大 ≈ 1，平均起來 ≈ 0.3。實作建議：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t 分箱畫 loss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，看出哪一段 t 沒學好。</a:t>
            </a:r>
            <a:endParaRPr lang="en-US" sz="1680" dirty="0"/>
          </a:p>
        </p:txBody>
      </p:sp>
      <p:sp>
        <p:nvSpPr>
          <p:cNvPr id="13" name="Shape 9"/>
          <p:cNvSpPr/>
          <p:nvPr/>
        </p:nvSpPr>
        <p:spPr>
          <a:xfrm>
            <a:off x="457200" y="5349240"/>
            <a:ext cx="11277295" cy="1051560"/>
          </a:xfrm>
          <a:prstGeom prst="roundRect">
            <a:avLst>
              <a:gd name="adj" fmla="val 869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94360" y="5422392"/>
            <a:ext cx="11002975" cy="9052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該看的不是 loss 停在多少，而是它隨 t 長什麼形狀。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imgs/w-3-5-1.png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 a、圖 b：三種 parametrization 真的等價嗎？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 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t ∈ {50, 300, 700, 950} 疊模型的 −ε_θ/σₜ 與 `exact_score`。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資料密集處吻合、低密度角落偏差大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——偏差的後果在圖 c。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 b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72330" y="1752600"/>
            <a:ext cx="3247034" cy="619244"/>
          </a:xfrm>
          <a:prstGeom prst="roundRect">
            <a:avLst>
              <a:gd name="adj" fmla="val 1181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9" name="Image 0" descr="/tmp/claude-0/-home-claude/c4ae4d00-ecec-599d-99af-5b416eb8503d/scratchpad/build/math/216529e0f42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3770" y="1859241"/>
            <a:ext cx="3064154" cy="40596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454042" y="2463284"/>
            <a:ext cx="328361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不重訓，直接從 ε_θ 換算另兩種；反解回 ε̂ 只差浮點誤差（≲10⁻⁶）。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8158277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會看到的事情是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304581" y="1752600"/>
            <a:ext cx="3283610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x̂₀ 的誤差在 t 大時被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1/√ᾱₜ 放大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（除以一個趨近 0 的數）；v 兩端都不退化——這就是 v-prediction 存在的理由。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U1.5 步驟 2–3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4：ddim_step——一支函數，η 切換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949440" cy="2377440"/>
          </a:xfrm>
          <a:prstGeom prst="roundRect">
            <a:avLst>
              <a:gd name="adj" fmla="val 4615"/>
            </a:avLst>
          </a:prstGeom>
          <a:solidFill>
            <a:srgbClr val="161F28"/>
          </a:solidFill>
          <a:ln w="12700">
            <a:solidFill>
              <a:srgbClr val="161F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6583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ddim_step(xt, t, s, eta):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eps    = model(xt, t)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x0_hat = (xt - sig[t] * eps) / ab[t].sqrt()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28A"/>
                </a:solidFill>
                <a:highlight>
                  <a:srgbClr val="3A2E1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sigma_s = eta * ((1 - ab[s]) / (1 - ab[t]) * (1 - ab[t] / ab[s])).sqrt()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dir_xt  = (1 - ab[s] - sigma_s**2).sqrt() * eps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ab[s].sqrt() * x0_hat + dir_xt + sigma_s * torch.randn_like(xt)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eta = 0 -&gt; DDIM ; eta = 1 with s = t-1 -&gt; DDPM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1280160"/>
            <a:ext cx="4053535" cy="2377440"/>
          </a:xfrm>
          <a:prstGeom prst="roundRect">
            <a:avLst>
              <a:gd name="adj" fmla="val 4615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18120" y="1408176"/>
            <a:ext cx="377921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 c：軌跡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99832" y="1740408"/>
            <a:ext cx="3815791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 個起點、步數 {10, 50, 1000}。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DDIM 10 步的軌跡是彎的、終點落在月牙外側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；1000 步收斂了，但軌跡仍然是彎的。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99832" y="2609088"/>
            <a:ext cx="3815791" cy="5425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 score 有誤差了：帶噪聲的取樣器（η&gt;0）能把偏離的樣本拉回。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99832" y="3243072"/>
            <a:ext cx="3815791" cy="5425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用精確的 score 看不到加噪聲的好處——那個好處是拿來對付網路誤差的。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U1.5 步驟 4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作業（U1）</a:t>
            </a:r>
            <a:endParaRPr lang="en-US" sz="320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949440"/>
                <a:gridCol w="368503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題目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要看什麼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 W₂ 量 DDPM vs DDIM 在步數 {10, 50, 200} 的終點與資料的距離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哪一個掉得慢、差多少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把 loss 乘上 1/SNR(t) 重訓（等價於 x₀-prediction 的加權）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分箱 loss 的形狀怎麼變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換 cosine schedule 重跑圖 a、圖 c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低密度區偏差、軌跡彎度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把 make_moons 換成兩個重疊程度可調的 Gaussian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重疊越多，t 大時 x̂₀ 有多糊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303520"/>
            <a:ext cx="11277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先寫下你的猜測，再跑出來對。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U1.5 作業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消化一下</a:t>
            </a:r>
            <a:endParaRPr lang="en-US" sz="320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920240"/>
                <a:gridCol w="2286000"/>
                <a:gridCol w="2286000"/>
                <a:gridCol w="149047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題目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xₜ = √ᾱₜ x₀ + σₜ ε 裡的 ε 是誰？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t 步加進去的 εₜ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前 t 步噪聲合併重新命名的單一 N(0,I)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變異數為 σₜ² 的噪聲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 x₀ 相關的噪聲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 很大時 x̂₀ 看起來很模糊，這代表？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網路沒訓好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學習率太大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正確答案：後驗平均本來就是很多圖的平均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要換 ε-prediction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 很大時 score field 長什麼樣？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≈ 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指向最近的資料點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≈ −x，整片指向原點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隨機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哪一句不對？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DDPM 與 DDIM 共用同一個 ε_θ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PF-ODE 與 reverse SDE 邊際相同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邊際相同，所以任意步數品質相同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DDIM 可以跳步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這個單元把「生成」翻成了 denoising 回歸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6219073" cy="4012692"/>
          </a:xfrm>
          <a:prstGeom prst="roundRect">
            <a:avLst>
              <a:gd name="adj" fmla="val 3190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5889889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走過的路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5926465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自己定路徑（forward process）→ closed form 一步抽 xₜ → 條件化讓目標算得出（conditional trick）→ 五行 MSE → denoiser 就是 score（Tweedie）→ DDPM／DDIM 兩種取樣器，是 reverse SDE／PF-ODE 的一階離散。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950593" y="1234440"/>
            <a:ext cx="4783902" cy="4012692"/>
          </a:xfrm>
          <a:prstGeom prst="roundRect">
            <a:avLst>
              <a:gd name="adj" fmla="val 3190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15185" y="1362456"/>
            <a:ext cx="4454718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留下來的兩個問題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096897" y="1752600"/>
            <a:ext cx="4491294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forward process 一定要是 Gaussian 嗎？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DDIM 的軌跡為什麼是彎的？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endParaRPr lang="en-US" sz="1900" dirty="0"/>
          </a:p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下一個單元從第一個問題開始：能不能只換套餐裡的一樣？</a:t>
            </a:r>
            <a:endParaRPr lang="en-US" sz="1900" dirty="0"/>
          </a:p>
        </p:txBody>
      </p:sp>
      <p:pic>
        <p:nvPicPr>
          <p:cNvPr id="9" name="Image 0" descr="/tmp/claude-0/-home-claude/c4ae4d00-ecec-599d-99af-5b416eb8503d/scratchpad/build/w2media/bo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6548" y="3509772"/>
            <a:ext cx="3711992" cy="14630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Bridge → U2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課程叮嚀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下次上課前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先讀 U2（Flow Matching）六篇，並複習 U1.2 的 conditional trick——U2.2 會用同一招。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作業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54042" y="1752600"/>
            <a:ext cx="328361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作業一預計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5（10/08）上課前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截止；候選題目 A／B／C 在 U2 結束後公布。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158277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NTU COOL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04581" y="1752600"/>
            <a:ext cx="3283610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教材有錯或有問題，直接在 NTU COOL 上討論。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U1 Diffusion Models</dc:title>
  <dc:subject>PptxGenJS Presentation</dc:subject>
  <dc:creator>Shih-Hsin Wang</dc:creator>
  <cp:lastModifiedBy>Shih-Hsin Wang</cp:lastModifiedBy>
  <cp:revision>1</cp:revision>
  <dcterms:created xsi:type="dcterms:W3CDTF">2026-09-20T16:58:48Z</dcterms:created>
  <dcterms:modified xsi:type="dcterms:W3CDTF">2026-09-20T16:58:48Z</dcterms:modified>
</cp:coreProperties>
</file>